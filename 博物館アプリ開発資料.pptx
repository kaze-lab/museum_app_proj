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74" r:id="rId15"/>
    <p:sldId id="275" r:id="rId16"/>
    <p:sldId id="277" r:id="rId17"/>
    <p:sldId id="288" r:id="rId18"/>
    <p:sldId id="289" r:id="rId19"/>
    <p:sldId id="278" r:id="rId20"/>
    <p:sldId id="290" r:id="rId21"/>
    <p:sldId id="291" r:id="rId22"/>
    <p:sldId id="292" r:id="rId23"/>
    <p:sldId id="293" r:id="rId24"/>
    <p:sldId id="294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70" r:id="rId35"/>
    <p:sldId id="269" r:id="rId36"/>
    <p:sldId id="272" r:id="rId37"/>
    <p:sldId id="271" r:id="rId38"/>
    <p:sldId id="273" r:id="rId3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12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B667F7-8C51-4ECC-C79A-A465FD0B95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6FC248C-2408-8C6B-07EB-4DEA96FC43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FA9356-ADF8-B0D6-CA95-9B7AF4BF8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547BF-B246-4931-BA6A-A54CF43DA30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C3B522-3D55-99EC-E86E-EE859829B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1E6DDE-CC96-038B-DA3C-31631746D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AC49-C807-4AA1-BD1F-64401B76F7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2565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A98C71-2646-5FDC-ADEF-E3BA00008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072603-17DD-7532-2B28-B6ADF3764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6C2315-047C-0350-0552-8D63FC705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547BF-B246-4931-BA6A-A54CF43DA30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1042F4-60DA-B38E-8EB1-1033EC079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9CFEE1-3010-82DA-6FB5-61A56AFA9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AC49-C807-4AA1-BD1F-64401B76F7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1441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63062A-366E-8397-7EFC-B3F5B9924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4C8CAB7-04D9-2DF1-7E9D-7E7010669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366341-C679-F7C4-A3E3-403952448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547BF-B246-4931-BA6A-A54CF43DA30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272607-1343-EEE7-BF95-765F39035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926281-5753-193D-B8C0-1C7CB4C43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AC49-C807-4AA1-BD1F-64401B76F7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6429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E20190-A15D-59C8-5032-098CA12E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595B52-414C-5749-8D30-954EA60463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A264A36-40CE-C776-971A-EEC6023B74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A610B2E-5644-C1CB-6216-B2C7710FC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547BF-B246-4931-BA6A-A54CF43DA30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E52959B-D304-A683-81C4-01E044FB3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CF90A73-0336-B817-BF01-64CAF5513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AC49-C807-4AA1-BD1F-64401B76F7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0546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9977F7-6809-C1C9-8ED8-7885A3F75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A492F9C-5AC1-D820-EE1C-0E00FF028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6655A8E-C0AB-68F7-49EE-EAAC13A04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1F35EF0-7C06-8C33-F3EC-0B3AE93687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8BF96CD-84FA-D2B5-0FDA-50ECDF6126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9F5AD96-EBB5-E309-822E-3DD6EDCC0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547BF-B246-4931-BA6A-A54CF43DA30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9F5764F-3EC0-999B-744F-D1BB6E1F0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DE02806-B8F7-6D44-58D9-AE1338B0D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AC49-C807-4AA1-BD1F-64401B76F7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795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86385E-8F55-2786-D3E6-5A0B8439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E4611ED-A55E-2E82-F336-49C30B6A0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547BF-B246-4931-BA6A-A54CF43DA30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8651D71-312D-59E6-26F6-9647FDAB3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E6B570A-11E3-1F28-26EB-2CC01978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AC49-C807-4AA1-BD1F-64401B76F7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3575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9603D9E-32D9-10D2-48B9-DA0C6CD19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547BF-B246-4931-BA6A-A54CF43DA30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9B288F3-27F5-9BEA-D79E-AC20CD12B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E7C8D9-3EFE-091A-8F03-9B22A9BFA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AC49-C807-4AA1-BD1F-64401B76F7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9523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57D72C-23CD-AF4E-8241-06FD2F339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B1E3DA-43DA-108B-642D-CB3C19198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D821288-38A7-CE41-1473-3EA168EA6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55A9B11-C0F4-2190-EF87-ECDC4F2DB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547BF-B246-4931-BA6A-A54CF43DA30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65A7CCB-1706-A173-C9EA-12D4DFF09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21FCFB-85D6-8F50-7FE5-BE1CB6592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AC49-C807-4AA1-BD1F-64401B76F7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4416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4095EA-A95A-1FF5-05A9-1A25CA7C5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AF750E-AD96-CC17-8E0D-035A8D3D2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7B0B9E7-FEB6-CDBE-743A-D96196C664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78028D4-F10D-AE59-893C-16C9085B7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547BF-B246-4931-BA6A-A54CF43DA30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755474C-6C3A-FF4B-465D-1AD75AEBD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1F98F68-1690-5EEE-0FF1-4CC9A2266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AC49-C807-4AA1-BD1F-64401B76F7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2167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7BF77F-FBA9-E689-8F09-1C70857E4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250DCDD-0307-DF31-8628-2FC50D56FA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156C0F-2F38-373D-C1DF-0DA7797C8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547BF-B246-4931-BA6A-A54CF43DA30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C7559F-4322-5430-E95D-4497333DD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A442D9-71A7-18F4-4C2E-BE96F429F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AC49-C807-4AA1-BD1F-64401B76F7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6548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2428A84-4A29-888B-3547-1DC558E3C5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981D10B-AE3B-F6EE-07E5-749658DB1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7B6F4B-2C05-9FE4-C58F-15059CB7E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547BF-B246-4931-BA6A-A54CF43DA30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9933FC-B7EE-AFC1-0D98-C7CB1FC51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3AD541-E160-9CB1-EAE2-C1E26CE5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AC49-C807-4AA1-BD1F-64401B76F7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8464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5F0D0AB-FB09-FF42-9CAF-5B071DF0E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EBFB23-79CE-07E7-C4E3-24E5EF508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75FAB6-5280-B42A-4B10-FACAD2D9E0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2547BF-B246-4931-BA6A-A54CF43DA30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DC89E34-71B8-CE2F-7160-E45A35F6AE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70F0B5-FCC4-6D02-CA8E-3AADE193C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8DAC49-C807-4AA1-BD1F-64401B76F7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2604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96D806-1FE6-5A69-4682-0FC3C54EFE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展示物案内アプリ</a:t>
            </a:r>
            <a:br>
              <a:rPr kumimoji="1" lang="en-US" altLang="ja-JP" dirty="0"/>
            </a:br>
            <a:r>
              <a:rPr kumimoji="1" lang="ja-JP" altLang="en-US" dirty="0"/>
              <a:t>開発手順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FE7DA8C-FDEC-662A-6D96-48D447D1B2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72680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7D512312-5284-DEEB-8821-C8484A9804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458773"/>
              </p:ext>
            </p:extLst>
          </p:nvPr>
        </p:nvGraphicFramePr>
        <p:xfrm>
          <a:off x="377687" y="729605"/>
          <a:ext cx="894742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5878">
                  <a:extLst>
                    <a:ext uri="{9D8B030D-6E8A-4147-A177-3AD203B41FA5}">
                      <a16:colId xmlns:a16="http://schemas.microsoft.com/office/drawing/2014/main" val="3464719412"/>
                    </a:ext>
                  </a:extLst>
                </a:gridCol>
                <a:gridCol w="3199288">
                  <a:extLst>
                    <a:ext uri="{9D8B030D-6E8A-4147-A177-3AD203B41FA5}">
                      <a16:colId xmlns:a16="http://schemas.microsoft.com/office/drawing/2014/main" val="1884703668"/>
                    </a:ext>
                  </a:extLst>
                </a:gridCol>
                <a:gridCol w="1377311">
                  <a:extLst>
                    <a:ext uri="{9D8B030D-6E8A-4147-A177-3AD203B41FA5}">
                      <a16:colId xmlns:a16="http://schemas.microsoft.com/office/drawing/2014/main" val="1947461120"/>
                    </a:ext>
                  </a:extLst>
                </a:gridCol>
                <a:gridCol w="2064947">
                  <a:extLst>
                    <a:ext uri="{9D8B030D-6E8A-4147-A177-3AD203B41FA5}">
                      <a16:colId xmlns:a16="http://schemas.microsoft.com/office/drawing/2014/main" val="285166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ページ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URL</a:t>
                      </a:r>
                      <a:r>
                        <a:rPr kumimoji="1" lang="ja-JP" altLang="en-US" sz="1200" dirty="0"/>
                        <a:t>一覧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244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スパーバイザーログイン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sz="1200" dirty="0"/>
                        <a:t>https://41mono.net/museum/sv/login.php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175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384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815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87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04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6793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D14747F-BF1E-B9CA-DCCD-DF80667154EA}"/>
              </a:ext>
            </a:extLst>
          </p:cNvPr>
          <p:cNvSpPr txBox="1"/>
          <p:nvPr/>
        </p:nvSpPr>
        <p:spPr>
          <a:xfrm>
            <a:off x="673375" y="2092043"/>
            <a:ext cx="1085601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400" dirty="0"/>
              <a:t>「エックスサーバーでの</a:t>
            </a:r>
            <a:r>
              <a:rPr lang="en-US" altLang="ja-JP" sz="4400" dirty="0"/>
              <a:t>DB</a:t>
            </a:r>
            <a:r>
              <a:rPr lang="ja-JP" altLang="en-US" sz="4400" dirty="0"/>
              <a:t>作成」</a:t>
            </a:r>
            <a:r>
              <a:rPr lang="ja-JP" altLang="en-US" sz="4400" b="1" dirty="0"/>
              <a:t>から</a:t>
            </a:r>
            <a:r>
              <a:rPr lang="ja-JP" altLang="en-US" sz="4400" dirty="0"/>
              <a:t>「スーパーバイザー（</a:t>
            </a:r>
            <a:r>
              <a:rPr lang="en-US" altLang="ja-JP" sz="4400" dirty="0"/>
              <a:t>SV</a:t>
            </a:r>
            <a:r>
              <a:rPr lang="ja-JP" altLang="en-US" sz="4400" dirty="0"/>
              <a:t>）管理画面のベース」まで</a:t>
            </a:r>
          </a:p>
        </p:txBody>
      </p:sp>
    </p:spTree>
    <p:extLst>
      <p:ext uri="{BB962C8B-B14F-4D97-AF65-F5344CB8AC3E}">
        <p14:creationId xmlns:p14="http://schemas.microsoft.com/office/powerpoint/2010/main" val="3479358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4F152-80D4-1CE0-FFB6-72B9B6390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2D0B3B1-6275-AE02-0E2F-567BE0A86E7E}"/>
              </a:ext>
            </a:extLst>
          </p:cNvPr>
          <p:cNvSpPr txBox="1"/>
          <p:nvPr/>
        </p:nvSpPr>
        <p:spPr>
          <a:xfrm>
            <a:off x="255932" y="283121"/>
            <a:ext cx="11293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/>
              <a:t>エックスサーバーで</a:t>
            </a:r>
            <a:r>
              <a:rPr lang="en-US" altLang="ja-JP" b="1" dirty="0"/>
              <a:t>MySQL</a:t>
            </a:r>
            <a:r>
              <a:rPr lang="ja-JP" altLang="en-US" b="1" dirty="0"/>
              <a:t>データベースを作る</a:t>
            </a:r>
            <a:endParaRPr lang="ja-JP" altLang="en-US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26283326-978B-55AA-AE60-EBB90D7B5EF5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01DFA8B-0F5C-DC39-A3C5-899AF1D93374}"/>
              </a:ext>
            </a:extLst>
          </p:cNvPr>
          <p:cNvSpPr txBox="1"/>
          <p:nvPr/>
        </p:nvSpPr>
        <p:spPr>
          <a:xfrm>
            <a:off x="524288" y="1007167"/>
            <a:ext cx="1102498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dirty="0"/>
              <a:t>エックスサーバーの「サーバーパネル」にログインして、以下の作業を行ってください。</a:t>
            </a:r>
          </a:p>
          <a:p>
            <a:pPr>
              <a:buFont typeface="+mj-lt"/>
              <a:buAutoNum type="arabicPeriod"/>
            </a:pPr>
            <a:r>
              <a:rPr lang="en-US" altLang="ja-JP" b="1" dirty="0"/>
              <a:t>MySQL</a:t>
            </a:r>
            <a:r>
              <a:rPr lang="ja-JP" altLang="en-US" b="1" dirty="0"/>
              <a:t>設定 </a:t>
            </a:r>
            <a:r>
              <a:rPr lang="en-US" altLang="ja-JP" b="1" dirty="0"/>
              <a:t>&gt; MySQL</a:t>
            </a:r>
            <a:r>
              <a:rPr lang="ja-JP" altLang="en-US" b="1" dirty="0"/>
              <a:t>追加</a:t>
            </a:r>
            <a:endParaRPr lang="ja-JP" altLang="en-US" dirty="0"/>
          </a:p>
          <a:p>
            <a:pPr marL="742950" lvl="1" indent="-285750">
              <a:buFont typeface="+mj-lt"/>
              <a:buAutoNum type="arabicPeriod"/>
            </a:pPr>
            <a:r>
              <a:rPr lang="ja-JP" altLang="en-US" dirty="0"/>
              <a:t>データベース名：（あなたの</a:t>
            </a:r>
            <a:r>
              <a:rPr lang="en-US" altLang="ja-JP" dirty="0"/>
              <a:t>ID</a:t>
            </a:r>
            <a:r>
              <a:rPr lang="ja-JP" altLang="en-US" dirty="0"/>
              <a:t>）</a:t>
            </a:r>
            <a:r>
              <a:rPr lang="en-US" altLang="ja-JP" dirty="0"/>
              <a:t>_</a:t>
            </a:r>
            <a:r>
              <a:rPr lang="en-US" altLang="ja-JP" dirty="0" err="1"/>
              <a:t>museum_db</a:t>
            </a:r>
            <a:r>
              <a:rPr lang="ja-JP" altLang="en-US" dirty="0"/>
              <a:t>（例：</a:t>
            </a:r>
            <a:r>
              <a:rPr lang="en-US" altLang="ja-JP" dirty="0"/>
              <a:t>xs1234_museum_db</a:t>
            </a:r>
            <a:r>
              <a:rPr lang="ja-JP" altLang="en-US" dirty="0"/>
              <a:t>）</a:t>
            </a:r>
          </a:p>
          <a:p>
            <a:pPr>
              <a:buFont typeface="+mj-lt"/>
              <a:buAutoNum type="arabicPeriod"/>
            </a:pPr>
            <a:r>
              <a:rPr lang="en-US" altLang="ja-JP" b="1" dirty="0"/>
              <a:t>MySQL</a:t>
            </a:r>
            <a:r>
              <a:rPr lang="ja-JP" altLang="en-US" b="1" dirty="0"/>
              <a:t>設定 </a:t>
            </a:r>
            <a:r>
              <a:rPr lang="en-US" altLang="ja-JP" b="1" dirty="0"/>
              <a:t>&gt; MySQL</a:t>
            </a:r>
            <a:r>
              <a:rPr lang="ja-JP" altLang="en-US" b="1" dirty="0"/>
              <a:t>ユーザ追加</a:t>
            </a:r>
            <a:endParaRPr lang="ja-JP" altLang="en-US" dirty="0"/>
          </a:p>
          <a:p>
            <a:pPr marL="742950" lvl="1" indent="-285750">
              <a:buFont typeface="+mj-lt"/>
              <a:buAutoNum type="arabicPeriod"/>
            </a:pPr>
            <a:r>
              <a:rPr lang="ja-JP" altLang="en-US" dirty="0"/>
              <a:t>ユーザ</a:t>
            </a:r>
            <a:r>
              <a:rPr lang="en-US" altLang="ja-JP" dirty="0"/>
              <a:t>ID</a:t>
            </a:r>
            <a:r>
              <a:rPr lang="ja-JP" altLang="en-US" dirty="0"/>
              <a:t>：（あなたの</a:t>
            </a:r>
            <a:r>
              <a:rPr lang="en-US" altLang="ja-JP" dirty="0"/>
              <a:t>ID</a:t>
            </a:r>
            <a:r>
              <a:rPr lang="ja-JP" altLang="en-US" dirty="0"/>
              <a:t>）</a:t>
            </a:r>
            <a:r>
              <a:rPr lang="en-US" altLang="ja-JP" dirty="0"/>
              <a:t>_admin</a:t>
            </a:r>
          </a:p>
          <a:p>
            <a:pPr marL="742950" lvl="1" indent="-285750">
              <a:buFont typeface="+mj-lt"/>
              <a:buAutoNum type="arabicPeriod"/>
            </a:pPr>
            <a:r>
              <a:rPr lang="ja-JP" altLang="en-US" dirty="0"/>
              <a:t>パスワード：任意のパスワード（メモしておいてください）</a:t>
            </a:r>
          </a:p>
          <a:p>
            <a:pPr>
              <a:buFont typeface="+mj-lt"/>
              <a:buAutoNum type="arabicPeriod"/>
            </a:pPr>
            <a:r>
              <a:rPr lang="en-US" altLang="ja-JP" b="1" dirty="0"/>
              <a:t>MySQL</a:t>
            </a:r>
            <a:r>
              <a:rPr lang="ja-JP" altLang="en-US" b="1" dirty="0"/>
              <a:t>設定 </a:t>
            </a:r>
            <a:r>
              <a:rPr lang="en-US" altLang="ja-JP" b="1" dirty="0"/>
              <a:t>&gt; MySQL</a:t>
            </a:r>
            <a:r>
              <a:rPr lang="ja-JP" altLang="en-US" b="1" dirty="0"/>
              <a:t>一覧</a:t>
            </a:r>
            <a:endParaRPr lang="ja-JP" altLang="en-US" dirty="0"/>
          </a:p>
          <a:p>
            <a:pPr marL="742950" lvl="1" indent="-285750">
              <a:buFont typeface="+mj-lt"/>
              <a:buAutoNum type="arabicPeriod"/>
            </a:pPr>
            <a:r>
              <a:rPr lang="ja-JP" altLang="en-US" dirty="0"/>
              <a:t>追加したデータベースに、追加したユーザを「追加（アクセス権所有ユーザ）」として紐付けます。</a:t>
            </a:r>
          </a:p>
          <a:p>
            <a:pPr>
              <a:buFont typeface="+mj-lt"/>
              <a:buAutoNum type="arabicPeriod"/>
            </a:pPr>
            <a:r>
              <a:rPr lang="ja-JP" altLang="en-US" b="1" dirty="0"/>
              <a:t>ホスト名の確認</a:t>
            </a:r>
            <a:endParaRPr lang="ja-JP" altLang="en-US" dirty="0"/>
          </a:p>
          <a:p>
            <a:pPr marL="742950" lvl="1" indent="-285750">
              <a:buFont typeface="+mj-lt"/>
              <a:buAutoNum type="arabicPeriod"/>
            </a:pPr>
            <a:r>
              <a:rPr lang="ja-JP" altLang="en-US" dirty="0"/>
              <a:t>同じ画面の下の方にある「</a:t>
            </a:r>
            <a:r>
              <a:rPr lang="en-US" altLang="ja-JP" dirty="0"/>
              <a:t>MySQL</a:t>
            </a:r>
            <a:r>
              <a:rPr lang="ja-JP" altLang="en-US" dirty="0"/>
              <a:t>ホスト名」（例：</a:t>
            </a:r>
            <a:r>
              <a:rPr lang="en-US" altLang="ja-JP" dirty="0"/>
              <a:t>mysql123.xserver.jp</a:t>
            </a:r>
            <a:r>
              <a:rPr lang="ja-JP" altLang="en-US" dirty="0"/>
              <a:t>）をメモします。</a:t>
            </a:r>
          </a:p>
        </p:txBody>
      </p:sp>
    </p:spTree>
    <p:extLst>
      <p:ext uri="{BB962C8B-B14F-4D97-AF65-F5344CB8AC3E}">
        <p14:creationId xmlns:p14="http://schemas.microsoft.com/office/powerpoint/2010/main" val="2468986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F84D0-E49A-15B0-6CFC-E520521C7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4532148-7842-2EBD-848D-62FEB02EE8A9}"/>
              </a:ext>
            </a:extLst>
          </p:cNvPr>
          <p:cNvSpPr txBox="1"/>
          <p:nvPr/>
        </p:nvSpPr>
        <p:spPr>
          <a:xfrm>
            <a:off x="255932" y="283121"/>
            <a:ext cx="11293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/>
              <a:t>エックスサーバーで</a:t>
            </a:r>
            <a:r>
              <a:rPr lang="en-US" altLang="ja-JP" b="1" dirty="0"/>
              <a:t>MySQL</a:t>
            </a:r>
            <a:r>
              <a:rPr lang="ja-JP" altLang="en-US" b="1" dirty="0"/>
              <a:t>データベースを作る</a:t>
            </a:r>
            <a:endParaRPr lang="ja-JP" altLang="en-US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C7080829-5F86-8FAC-1750-696D16B3998E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5055E28-287F-89A4-7141-B065BBF1397A}"/>
              </a:ext>
            </a:extLst>
          </p:cNvPr>
          <p:cNvSpPr txBox="1"/>
          <p:nvPr/>
        </p:nvSpPr>
        <p:spPr>
          <a:xfrm>
            <a:off x="524288" y="1007167"/>
            <a:ext cx="110249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dirty="0"/>
              <a:t>エックスサーバーの「サーバーパネル」にログインして、以下の作業を行ってください。</a:t>
            </a:r>
          </a:p>
          <a:p>
            <a:pPr>
              <a:buFont typeface="+mj-lt"/>
              <a:buAutoNum type="arabicPeriod"/>
            </a:pPr>
            <a:r>
              <a:rPr lang="en-US" altLang="ja-JP" b="1" dirty="0"/>
              <a:t>MySQL</a:t>
            </a:r>
            <a:r>
              <a:rPr lang="ja-JP" altLang="en-US" b="1" dirty="0"/>
              <a:t>設定 </a:t>
            </a:r>
            <a:r>
              <a:rPr lang="en-US" altLang="ja-JP" b="1" dirty="0"/>
              <a:t>&gt; MySQL</a:t>
            </a:r>
            <a:r>
              <a:rPr lang="ja-JP" altLang="en-US" b="1" dirty="0"/>
              <a:t>追加</a:t>
            </a:r>
            <a:endParaRPr lang="ja-JP" altLang="en-US" dirty="0"/>
          </a:p>
          <a:p>
            <a:pPr marL="742950" lvl="1" indent="-285750">
              <a:buFont typeface="+mj-lt"/>
              <a:buAutoNum type="arabicPeriod"/>
            </a:pPr>
            <a:r>
              <a:rPr lang="ja-JP" altLang="en-US" dirty="0"/>
              <a:t>データベース名：</a:t>
            </a:r>
            <a:r>
              <a:rPr lang="en-US" altLang="ja-JP" dirty="0" err="1"/>
              <a:t>windworks_museumapp</a:t>
            </a:r>
            <a:endParaRPr lang="ja-JP" altLang="en-US" dirty="0"/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31388B1D-9A51-7819-159C-89D0542C2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35" y="2182289"/>
            <a:ext cx="2466667" cy="1866667"/>
          </a:xfrm>
          <a:prstGeom prst="rect">
            <a:avLst/>
          </a:prstGeom>
        </p:spPr>
      </p:pic>
      <p:pic>
        <p:nvPicPr>
          <p:cNvPr id="8" name="図 7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4289E192-BA2F-20B1-396B-7598ECE48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404" y="2282288"/>
            <a:ext cx="2838095" cy="1666667"/>
          </a:xfrm>
          <a:prstGeom prst="rect">
            <a:avLst/>
          </a:prstGeom>
        </p:spPr>
      </p:pic>
      <p:sp>
        <p:nvSpPr>
          <p:cNvPr id="9" name="楕円 8">
            <a:extLst>
              <a:ext uri="{FF2B5EF4-FFF2-40B4-BE49-F238E27FC236}">
                <a16:creationId xmlns:a16="http://schemas.microsoft.com/office/drawing/2014/main" id="{98082C8E-A29D-11D1-849F-9A65A08E9D58}"/>
              </a:ext>
            </a:extLst>
          </p:cNvPr>
          <p:cNvSpPr/>
          <p:nvPr/>
        </p:nvSpPr>
        <p:spPr>
          <a:xfrm>
            <a:off x="409934" y="2713383"/>
            <a:ext cx="1329413" cy="2981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8FE82A88-D58B-713E-59F0-7A3FF4042EB6}"/>
              </a:ext>
            </a:extLst>
          </p:cNvPr>
          <p:cNvCxnSpPr/>
          <p:nvPr/>
        </p:nvCxnSpPr>
        <p:spPr>
          <a:xfrm>
            <a:off x="3110948" y="3150704"/>
            <a:ext cx="4174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楕円 11">
            <a:extLst>
              <a:ext uri="{FF2B5EF4-FFF2-40B4-BE49-F238E27FC236}">
                <a16:creationId xmlns:a16="http://schemas.microsoft.com/office/drawing/2014/main" id="{E8748677-7E96-925B-CB46-5FFB9CE17A3E}"/>
              </a:ext>
            </a:extLst>
          </p:cNvPr>
          <p:cNvSpPr/>
          <p:nvPr/>
        </p:nvSpPr>
        <p:spPr>
          <a:xfrm>
            <a:off x="4766587" y="3448878"/>
            <a:ext cx="1329413" cy="2981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3E716630-17A2-E979-436C-FFC323F6272F}"/>
              </a:ext>
            </a:extLst>
          </p:cNvPr>
          <p:cNvCxnSpPr/>
          <p:nvPr/>
        </p:nvCxnSpPr>
        <p:spPr>
          <a:xfrm>
            <a:off x="6771861" y="3372764"/>
            <a:ext cx="4174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図 16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06F352C6-F41F-5053-F5CE-833DF47E07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9666" y="2282288"/>
            <a:ext cx="3952381" cy="21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586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2D56E-7417-FE99-96D1-6A2259962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図 17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1F0CB370-4C2C-0F44-F513-3A8456886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902" y="2122770"/>
            <a:ext cx="7028571" cy="2314286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BC3880D-BAE3-1712-A971-69E41D653D02}"/>
              </a:ext>
            </a:extLst>
          </p:cNvPr>
          <p:cNvSpPr txBox="1"/>
          <p:nvPr/>
        </p:nvSpPr>
        <p:spPr>
          <a:xfrm>
            <a:off x="255932" y="283121"/>
            <a:ext cx="11293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/>
              <a:t>エックスサーバーで</a:t>
            </a:r>
            <a:r>
              <a:rPr lang="en-US" altLang="ja-JP" b="1" dirty="0"/>
              <a:t>MySQL</a:t>
            </a:r>
            <a:r>
              <a:rPr lang="ja-JP" altLang="en-US" b="1" dirty="0"/>
              <a:t>データベースを作る</a:t>
            </a:r>
            <a:endParaRPr lang="ja-JP" altLang="en-US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E3C018E-8B33-613B-3D9E-BB34CA8789BD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CB2D0D5-40BD-97C9-BBF7-97059497C00A}"/>
              </a:ext>
            </a:extLst>
          </p:cNvPr>
          <p:cNvSpPr txBox="1"/>
          <p:nvPr/>
        </p:nvSpPr>
        <p:spPr>
          <a:xfrm>
            <a:off x="270841" y="938673"/>
            <a:ext cx="48478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/>
              <a:t>MySQL</a:t>
            </a:r>
            <a:r>
              <a:rPr lang="ja-JP" altLang="en-US" b="1" dirty="0"/>
              <a:t>設定 </a:t>
            </a:r>
            <a:r>
              <a:rPr lang="en-US" altLang="ja-JP" b="1" dirty="0"/>
              <a:t>&gt; MySQL</a:t>
            </a:r>
            <a:r>
              <a:rPr lang="ja-JP" altLang="en-US" b="1" dirty="0"/>
              <a:t>ユーザ追加</a:t>
            </a:r>
            <a:endParaRPr lang="ja-JP" altLang="en-US" dirty="0"/>
          </a:p>
          <a:p>
            <a:pPr marL="742950" lvl="1" indent="-285750">
              <a:buFont typeface="+mj-lt"/>
              <a:buAutoNum type="arabicPeriod"/>
            </a:pPr>
            <a:r>
              <a:rPr lang="ja-JP" altLang="en-US" dirty="0"/>
              <a:t>ユーザ</a:t>
            </a:r>
            <a:r>
              <a:rPr lang="en-US" altLang="ja-JP" dirty="0"/>
              <a:t>ID</a:t>
            </a:r>
            <a:r>
              <a:rPr lang="ja-JP" altLang="en-US" dirty="0"/>
              <a:t>：</a:t>
            </a:r>
            <a:r>
              <a:rPr lang="en-US" altLang="ja-JP" dirty="0" err="1"/>
              <a:t>windworks_admin</a:t>
            </a:r>
            <a:endParaRPr lang="en-US" altLang="ja-JP" dirty="0"/>
          </a:p>
          <a:p>
            <a:pPr marL="742950" lvl="1" indent="-285750">
              <a:buFont typeface="+mj-lt"/>
              <a:buAutoNum type="arabicPeriod"/>
            </a:pPr>
            <a:r>
              <a:rPr lang="ja-JP" altLang="en-US" dirty="0"/>
              <a:t>パスワード：</a:t>
            </a: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8825F507-5FB7-20F6-37CD-C26B57A90FB5}"/>
              </a:ext>
            </a:extLst>
          </p:cNvPr>
          <p:cNvSpPr/>
          <p:nvPr/>
        </p:nvSpPr>
        <p:spPr>
          <a:xfrm>
            <a:off x="4867635" y="2240377"/>
            <a:ext cx="1329413" cy="2981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吹き出し: 四角形 18">
            <a:extLst>
              <a:ext uri="{FF2B5EF4-FFF2-40B4-BE49-F238E27FC236}">
                <a16:creationId xmlns:a16="http://schemas.microsoft.com/office/drawing/2014/main" id="{660DC7A9-42A9-1619-6BBD-878C383C0C57}"/>
              </a:ext>
            </a:extLst>
          </p:cNvPr>
          <p:cNvSpPr/>
          <p:nvPr/>
        </p:nvSpPr>
        <p:spPr>
          <a:xfrm>
            <a:off x="2966210" y="4880112"/>
            <a:ext cx="6461676" cy="1550505"/>
          </a:xfrm>
          <a:prstGeom prst="wedgeRectCallout">
            <a:avLst>
              <a:gd name="adj1" fmla="val -92261"/>
              <a:gd name="adj2" fmla="val -541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MySQL</a:t>
            </a:r>
            <a:r>
              <a:rPr kumimoji="1" lang="ja-JP" altLang="en-US" dirty="0">
                <a:solidFill>
                  <a:schemeClr val="tx1"/>
                </a:solidFill>
              </a:rPr>
              <a:t>ユーザーは博物館用というわけでは無く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基本的に他の</a:t>
            </a:r>
            <a:r>
              <a:rPr kumimoji="1" lang="en-US" altLang="ja-JP" dirty="0">
                <a:solidFill>
                  <a:schemeClr val="tx1"/>
                </a:solidFill>
              </a:rPr>
              <a:t>DB</a:t>
            </a:r>
            <a:r>
              <a:rPr kumimoji="1" lang="ja-JP" altLang="en-US" dirty="0">
                <a:solidFill>
                  <a:schemeClr val="tx1"/>
                </a:solidFill>
              </a:rPr>
              <a:t>用の</a:t>
            </a:r>
            <a:r>
              <a:rPr kumimoji="1" lang="en-US" altLang="ja-JP" dirty="0">
                <a:solidFill>
                  <a:schemeClr val="tx1"/>
                </a:solidFill>
              </a:rPr>
              <a:t>MySQL</a:t>
            </a:r>
            <a:r>
              <a:rPr kumimoji="1" lang="ja-JP" altLang="en-US" dirty="0">
                <a:solidFill>
                  <a:schemeClr val="tx1"/>
                </a:solidFill>
              </a:rPr>
              <a:t>もこのユーザーを使う</a:t>
            </a:r>
          </a:p>
        </p:txBody>
      </p:sp>
    </p:spTree>
    <p:extLst>
      <p:ext uri="{BB962C8B-B14F-4D97-AF65-F5344CB8AC3E}">
        <p14:creationId xmlns:p14="http://schemas.microsoft.com/office/powerpoint/2010/main" val="1893854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BEDE5-6E80-2BD4-F1AA-3FD4A8548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FCB6181-7B2B-A3EB-AD5B-FAC53FBE8AC5}"/>
              </a:ext>
            </a:extLst>
          </p:cNvPr>
          <p:cNvSpPr txBox="1"/>
          <p:nvPr/>
        </p:nvSpPr>
        <p:spPr>
          <a:xfrm>
            <a:off x="255932" y="283121"/>
            <a:ext cx="11293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/>
              <a:t>エックスサーバーで</a:t>
            </a:r>
            <a:r>
              <a:rPr lang="en-US" altLang="ja-JP" b="1" dirty="0"/>
              <a:t>MySQL</a:t>
            </a:r>
            <a:r>
              <a:rPr lang="ja-JP" altLang="en-US" b="1" dirty="0"/>
              <a:t>データベースを作る</a:t>
            </a:r>
            <a:endParaRPr lang="ja-JP" altLang="en-US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312289F0-A9C4-C6CC-B6BB-AFC7939CAB51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A9C9525-5516-E6DF-A32C-84742D90D7B4}"/>
              </a:ext>
            </a:extLst>
          </p:cNvPr>
          <p:cNvSpPr txBox="1"/>
          <p:nvPr/>
        </p:nvSpPr>
        <p:spPr>
          <a:xfrm>
            <a:off x="270840" y="938673"/>
            <a:ext cx="107019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/>
              <a:t>MySQL</a:t>
            </a:r>
            <a:r>
              <a:rPr lang="ja-JP" altLang="en-US" b="1" dirty="0"/>
              <a:t>設定 </a:t>
            </a:r>
            <a:r>
              <a:rPr lang="en-US" altLang="ja-JP" b="1" dirty="0"/>
              <a:t>&gt; MySQL</a:t>
            </a:r>
            <a:r>
              <a:rPr lang="ja-JP" altLang="en-US" b="1" dirty="0"/>
              <a:t>一覧</a:t>
            </a:r>
            <a:endParaRPr lang="ja-JP" altLang="en-US" dirty="0"/>
          </a:p>
          <a:p>
            <a:pPr marL="742950" lvl="1" indent="-285750">
              <a:buFont typeface="+mj-lt"/>
              <a:buAutoNum type="arabicPeriod"/>
            </a:pPr>
            <a:r>
              <a:rPr lang="ja-JP" altLang="en-US" dirty="0"/>
              <a:t>追加したデータベースに、追加したユーザを「追加（アクセス権所有ユーザ）」として紐付けます。</a:t>
            </a:r>
          </a:p>
          <a:p>
            <a:pPr marL="742950" lvl="1" indent="-285750">
              <a:buFont typeface="+mj-lt"/>
              <a:buAutoNum type="arabicPeriod"/>
            </a:pPr>
            <a:endParaRPr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28BD34B6-5D02-DFF6-14A9-147547ED5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94" y="2093728"/>
            <a:ext cx="6961905" cy="457143"/>
          </a:xfrm>
          <a:prstGeom prst="rect">
            <a:avLst/>
          </a:prstGeom>
        </p:spPr>
      </p:pic>
      <p:pic>
        <p:nvPicPr>
          <p:cNvPr id="10" name="図 9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EAD02CAC-0304-EC6E-E85C-1E8116BD4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673" y="2471387"/>
            <a:ext cx="2361905" cy="1657143"/>
          </a:xfrm>
          <a:prstGeom prst="rect">
            <a:avLst/>
          </a:prstGeom>
        </p:spPr>
      </p:pic>
      <p:sp>
        <p:nvSpPr>
          <p:cNvPr id="14" name="楕円 13">
            <a:extLst>
              <a:ext uri="{FF2B5EF4-FFF2-40B4-BE49-F238E27FC236}">
                <a16:creationId xmlns:a16="http://schemas.microsoft.com/office/drawing/2014/main" id="{1B41C0BE-C802-36CD-A60A-CEA0A0CC7DC7}"/>
              </a:ext>
            </a:extLst>
          </p:cNvPr>
          <p:cNvSpPr/>
          <p:nvPr/>
        </p:nvSpPr>
        <p:spPr>
          <a:xfrm>
            <a:off x="4159672" y="2139002"/>
            <a:ext cx="1936327" cy="2981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74E520FF-4030-9E3E-D49E-A7881D17F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165" y="5200492"/>
            <a:ext cx="6923809" cy="790476"/>
          </a:xfrm>
          <a:prstGeom prst="rect">
            <a:avLst/>
          </a:prstGeom>
        </p:spPr>
      </p:pic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148CEB5E-C4D1-1789-BC6A-173328D5DFD1}"/>
              </a:ext>
            </a:extLst>
          </p:cNvPr>
          <p:cNvCxnSpPr>
            <a:cxnSpLocks/>
          </p:cNvCxnSpPr>
          <p:nvPr/>
        </p:nvCxnSpPr>
        <p:spPr>
          <a:xfrm>
            <a:off x="3747052" y="4788623"/>
            <a:ext cx="0" cy="469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楕円 17">
            <a:extLst>
              <a:ext uri="{FF2B5EF4-FFF2-40B4-BE49-F238E27FC236}">
                <a16:creationId xmlns:a16="http://schemas.microsoft.com/office/drawing/2014/main" id="{0EF92EA6-D60F-BB8A-33A4-BE0A68A345DD}"/>
              </a:ext>
            </a:extLst>
          </p:cNvPr>
          <p:cNvSpPr/>
          <p:nvPr/>
        </p:nvSpPr>
        <p:spPr>
          <a:xfrm>
            <a:off x="3081129" y="5475297"/>
            <a:ext cx="1311967" cy="2981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7814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2D7CE-BB8F-A8FF-1A18-FCDD6B95A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261D79E-1879-9B0C-13F8-7BD5063CA0C1}"/>
              </a:ext>
            </a:extLst>
          </p:cNvPr>
          <p:cNvSpPr txBox="1"/>
          <p:nvPr/>
        </p:nvSpPr>
        <p:spPr>
          <a:xfrm>
            <a:off x="255932" y="283121"/>
            <a:ext cx="11293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/>
              <a:t>エックスサーバーで</a:t>
            </a:r>
            <a:r>
              <a:rPr lang="en-US" altLang="ja-JP" b="1" dirty="0"/>
              <a:t>MySQL</a:t>
            </a:r>
            <a:r>
              <a:rPr lang="ja-JP" altLang="en-US" b="1" dirty="0"/>
              <a:t>データベースを作る</a:t>
            </a:r>
            <a:endParaRPr lang="ja-JP" altLang="en-US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45068F8-7446-754C-FB07-97BE7180E19C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42A0398-89D7-ACAE-C321-BFEF65C80763}"/>
              </a:ext>
            </a:extLst>
          </p:cNvPr>
          <p:cNvSpPr txBox="1"/>
          <p:nvPr/>
        </p:nvSpPr>
        <p:spPr>
          <a:xfrm>
            <a:off x="270840" y="938673"/>
            <a:ext cx="107019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/>
              <a:t>ホスト名の確認</a:t>
            </a:r>
            <a:endParaRPr lang="ja-JP" altLang="en-US" dirty="0"/>
          </a:p>
          <a:p>
            <a:pPr marL="742950" lvl="1" indent="-285750">
              <a:buFont typeface="+mj-lt"/>
              <a:buAutoNum type="arabicPeriod"/>
            </a:pPr>
            <a:r>
              <a:rPr lang="ja-JP" altLang="en-US" dirty="0"/>
              <a:t>同じ画面の下の方にある「</a:t>
            </a:r>
            <a:r>
              <a:rPr lang="en-US" altLang="ja-JP" dirty="0"/>
              <a:t>MySQL</a:t>
            </a:r>
            <a:r>
              <a:rPr lang="ja-JP" altLang="en-US" dirty="0"/>
              <a:t>ホスト名」（例：</a:t>
            </a:r>
            <a:r>
              <a:rPr lang="en-US" altLang="ja-JP" dirty="0"/>
              <a:t>mysql123.xserver.jp</a:t>
            </a:r>
            <a:r>
              <a:rPr lang="ja-JP" altLang="en-US" dirty="0"/>
              <a:t>）をメモします。</a:t>
            </a:r>
          </a:p>
          <a:p>
            <a:pPr marL="742950" lvl="1" indent="-285750">
              <a:buFont typeface="+mj-lt"/>
              <a:buAutoNum type="arabicPeriod"/>
            </a:pPr>
            <a:endParaRPr lang="ja-JP" altLang="en-US" dirty="0"/>
          </a:p>
        </p:txBody>
      </p:sp>
      <p:pic>
        <p:nvPicPr>
          <p:cNvPr id="3" name="図 2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06E473C2-7BCF-4C46-C99A-B3D0D8B43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182" y="1862003"/>
            <a:ext cx="7200000" cy="25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210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E8094-98A9-814D-3346-879AED7F9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EFBAABE-6AFE-D051-7912-6D03FDD59E42}"/>
              </a:ext>
            </a:extLst>
          </p:cNvPr>
          <p:cNvSpPr txBox="1"/>
          <p:nvPr/>
        </p:nvSpPr>
        <p:spPr>
          <a:xfrm>
            <a:off x="255932" y="283121"/>
            <a:ext cx="11293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/>
              <a:t>サーバーのフォルダ構成（案）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3B3DA0E2-534E-FE12-2505-38237B720A46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AF647F9-2257-698A-8443-805651E8B102}"/>
              </a:ext>
            </a:extLst>
          </p:cNvPr>
          <p:cNvSpPr txBox="1"/>
          <p:nvPr/>
        </p:nvSpPr>
        <p:spPr>
          <a:xfrm>
            <a:off x="951672" y="2229032"/>
            <a:ext cx="99714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 err="1"/>
              <a:t>public_html</a:t>
            </a:r>
            <a:r>
              <a:rPr lang="en-US" altLang="ja-JP" dirty="0"/>
              <a:t>/</a:t>
            </a:r>
          </a:p>
          <a:p>
            <a:r>
              <a:rPr lang="en-US" altLang="ja-JP" dirty="0"/>
              <a:t>  ├── </a:t>
            </a:r>
            <a:r>
              <a:rPr lang="en-US" altLang="ja-JP" dirty="0" err="1"/>
              <a:t>index.php</a:t>
            </a:r>
            <a:r>
              <a:rPr lang="en-US" altLang="ja-JP" dirty="0"/>
              <a:t>          (</a:t>
            </a:r>
            <a:r>
              <a:rPr lang="ja-JP" altLang="en-US" dirty="0"/>
              <a:t>利用者用アプリ：</a:t>
            </a:r>
            <a:r>
              <a:rPr lang="en-US" altLang="ja-JP" dirty="0"/>
              <a:t>QR</a:t>
            </a:r>
            <a:r>
              <a:rPr lang="ja-JP" altLang="en-US" dirty="0"/>
              <a:t>読み取り後の表示画面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  ├── assets/            (</a:t>
            </a:r>
            <a:r>
              <a:rPr lang="ja-JP" altLang="en-US" dirty="0"/>
              <a:t>画像や</a:t>
            </a:r>
            <a:r>
              <a:rPr lang="en-US" altLang="ja-JP" dirty="0"/>
              <a:t>CSS</a:t>
            </a:r>
            <a:r>
              <a:rPr lang="ja-JP" altLang="en-US" dirty="0"/>
              <a:t>、</a:t>
            </a:r>
            <a:r>
              <a:rPr lang="en-US" altLang="ja-JP" dirty="0"/>
              <a:t>JS)</a:t>
            </a:r>
          </a:p>
          <a:p>
            <a:r>
              <a:rPr lang="en-US" altLang="ja-JP" dirty="0"/>
              <a:t>  │     └── uploads/     (</a:t>
            </a:r>
            <a:r>
              <a:rPr lang="ja-JP" altLang="en-US" dirty="0"/>
              <a:t>展示物画像の保存先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  ├── common/</a:t>
            </a:r>
          </a:p>
          <a:p>
            <a:r>
              <a:rPr lang="en-US" altLang="ja-JP" dirty="0"/>
              <a:t>  │     └── </a:t>
            </a:r>
            <a:r>
              <a:rPr lang="en-US" altLang="ja-JP" dirty="0" err="1"/>
              <a:t>db_inc.php</a:t>
            </a:r>
            <a:r>
              <a:rPr lang="en-US" altLang="ja-JP" dirty="0"/>
              <a:t>   (DB</a:t>
            </a:r>
            <a:r>
              <a:rPr lang="ja-JP" altLang="en-US" dirty="0"/>
              <a:t>接続設定：共通ファイル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  ├── </a:t>
            </a:r>
            <a:r>
              <a:rPr lang="en-US" altLang="ja-JP" dirty="0" err="1"/>
              <a:t>sv</a:t>
            </a:r>
            <a:r>
              <a:rPr lang="en-US" altLang="ja-JP" dirty="0"/>
              <a:t>/                (</a:t>
            </a:r>
            <a:r>
              <a:rPr lang="ja-JP" altLang="en-US" dirty="0"/>
              <a:t>スーパーバイザー用管理画面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  │     ├── </a:t>
            </a:r>
            <a:r>
              <a:rPr lang="en-US" altLang="ja-JP" dirty="0" err="1"/>
              <a:t>login.php</a:t>
            </a:r>
            <a:endParaRPr lang="en-US" altLang="ja-JP" dirty="0"/>
          </a:p>
          <a:p>
            <a:r>
              <a:rPr lang="en-US" altLang="ja-JP" dirty="0"/>
              <a:t>  │     ├── </a:t>
            </a:r>
            <a:r>
              <a:rPr lang="en-US" altLang="ja-JP" dirty="0" err="1"/>
              <a:t>index.php</a:t>
            </a:r>
            <a:r>
              <a:rPr lang="en-US" altLang="ja-JP" dirty="0"/>
              <a:t>    (</a:t>
            </a:r>
            <a:r>
              <a:rPr lang="ja-JP" altLang="en-US" dirty="0"/>
              <a:t>博物館一覧・削除・修正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  │     └── </a:t>
            </a:r>
            <a:r>
              <a:rPr lang="en-US" altLang="ja-JP" dirty="0" err="1"/>
              <a:t>add.php</a:t>
            </a:r>
            <a:r>
              <a:rPr lang="en-US" altLang="ja-JP" dirty="0"/>
              <a:t>      (</a:t>
            </a:r>
            <a:r>
              <a:rPr lang="ja-JP" altLang="en-US" dirty="0"/>
              <a:t>博物館の新規登録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  └── admin/             (</a:t>
            </a:r>
            <a:r>
              <a:rPr lang="ja-JP" altLang="en-US" dirty="0"/>
              <a:t>各博物館の管理者用画面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        ├── </a:t>
            </a:r>
            <a:r>
              <a:rPr lang="en-US" altLang="ja-JP" dirty="0" err="1"/>
              <a:t>login.php</a:t>
            </a:r>
            <a:endParaRPr lang="en-US" altLang="ja-JP" dirty="0"/>
          </a:p>
          <a:p>
            <a:r>
              <a:rPr lang="en-US" altLang="ja-JP" dirty="0"/>
              <a:t>        └── ...</a:t>
            </a:r>
            <a:endParaRPr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1005209-8340-E8B3-588E-E88D912B68C6}"/>
              </a:ext>
            </a:extLst>
          </p:cNvPr>
          <p:cNvSpPr txBox="1"/>
          <p:nvPr/>
        </p:nvSpPr>
        <p:spPr>
          <a:xfrm>
            <a:off x="395079" y="1066116"/>
            <a:ext cx="11233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dirty="0"/>
              <a:t>エックスサーバーの </a:t>
            </a:r>
            <a:r>
              <a:rPr lang="en-US" altLang="ja-JP" dirty="0" err="1"/>
              <a:t>public_html</a:t>
            </a:r>
            <a:r>
              <a:rPr lang="en-US" altLang="ja-JP" dirty="0"/>
              <a:t> </a:t>
            </a:r>
            <a:r>
              <a:rPr lang="ja-JP" altLang="en-US" dirty="0"/>
              <a:t>フォルダ内に、以下のように配置するのが管理しやすいです。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383D23D4-20B2-DF61-4BD2-659386BA72D6}"/>
              </a:ext>
            </a:extLst>
          </p:cNvPr>
          <p:cNvCxnSpPr/>
          <p:nvPr/>
        </p:nvCxnSpPr>
        <p:spPr>
          <a:xfrm>
            <a:off x="626165" y="1948070"/>
            <a:ext cx="9740348" cy="41346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4547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642F0-9510-8653-29A2-8B6A83FF9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69CAD2B-76B2-A15D-087C-299823B577E4}"/>
              </a:ext>
            </a:extLst>
          </p:cNvPr>
          <p:cNvSpPr txBox="1"/>
          <p:nvPr/>
        </p:nvSpPr>
        <p:spPr>
          <a:xfrm>
            <a:off x="255932" y="283121"/>
            <a:ext cx="11293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/>
              <a:t>データベースのテーブル作成（</a:t>
            </a:r>
            <a:r>
              <a:rPr lang="en-US" altLang="ja-JP" b="1" dirty="0"/>
              <a:t>SQL</a:t>
            </a:r>
            <a:r>
              <a:rPr lang="ja-JP" altLang="en-US" b="1" dirty="0"/>
              <a:t>）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661E0B0B-8E98-218D-8C3C-865529E54F6E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A0D263D-34C9-B05C-4B8D-9F00C4051822}"/>
              </a:ext>
            </a:extLst>
          </p:cNvPr>
          <p:cNvSpPr txBox="1"/>
          <p:nvPr/>
        </p:nvSpPr>
        <p:spPr>
          <a:xfrm>
            <a:off x="6798364" y="6464613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D:\dev\public_lib\museum_app\DB_SQL.txt</a:t>
            </a:r>
            <a:endParaRPr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2515990-A45C-40EC-DA1D-E567A4827EA5}"/>
              </a:ext>
            </a:extLst>
          </p:cNvPr>
          <p:cNvSpPr txBox="1"/>
          <p:nvPr/>
        </p:nvSpPr>
        <p:spPr>
          <a:xfrm>
            <a:off x="99391" y="955412"/>
            <a:ext cx="11370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phpMyAdmin</a:t>
            </a:r>
            <a:r>
              <a:rPr lang="ja-JP" altLang="en-US" dirty="0"/>
              <a:t>（サーバーパネルからログイン可能）を開き、以下の</a:t>
            </a:r>
            <a:r>
              <a:rPr lang="en-US" altLang="ja-JP" dirty="0"/>
              <a:t>SQL</a:t>
            </a:r>
            <a:r>
              <a:rPr lang="ja-JP" altLang="en-US" dirty="0"/>
              <a:t>を実行してテーブルを作成します。</a:t>
            </a:r>
          </a:p>
        </p:txBody>
      </p:sp>
      <p:pic>
        <p:nvPicPr>
          <p:cNvPr id="2" name="図 1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FDFAB3FF-8F38-5F98-B089-559FA6549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905" y="1849559"/>
            <a:ext cx="2428571" cy="1819048"/>
          </a:xfrm>
          <a:prstGeom prst="rect">
            <a:avLst/>
          </a:prstGeom>
        </p:spPr>
      </p:pic>
      <p:sp>
        <p:nvSpPr>
          <p:cNvPr id="3" name="楕円 2">
            <a:extLst>
              <a:ext uri="{FF2B5EF4-FFF2-40B4-BE49-F238E27FC236}">
                <a16:creationId xmlns:a16="http://schemas.microsoft.com/office/drawing/2014/main" id="{32BB7B87-EAFF-EF61-D1E0-285AFEF9B276}"/>
              </a:ext>
            </a:extLst>
          </p:cNvPr>
          <p:cNvSpPr/>
          <p:nvPr/>
        </p:nvSpPr>
        <p:spPr>
          <a:xfrm>
            <a:off x="1094905" y="3297885"/>
            <a:ext cx="1936327" cy="2981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AB466CF-8909-53F7-4C7D-6039A1379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7480" y="1869437"/>
            <a:ext cx="563548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ログン画面が出たら、先ほど「MySQLユーザ追加」で作った </a:t>
            </a: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「ユーザID」</a:t>
            </a: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と </a:t>
            </a: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「パスワード」</a:t>
            </a: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を入力してログインします。</a:t>
            </a:r>
          </a:p>
        </p:txBody>
      </p:sp>
      <p:pic>
        <p:nvPicPr>
          <p:cNvPr id="7" name="図 6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ABDB53C7-CEE2-5A69-B3E7-3150FB5CD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42" y="4931197"/>
            <a:ext cx="6380952" cy="1171429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A99DB4-7599-80F0-7C90-CA1BB2265CF3}"/>
              </a:ext>
            </a:extLst>
          </p:cNvPr>
          <p:cNvSpPr txBox="1"/>
          <p:nvPr/>
        </p:nvSpPr>
        <p:spPr>
          <a:xfrm>
            <a:off x="981490" y="4269594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画面上部のメニューにある 「</a:t>
            </a:r>
            <a:r>
              <a:rPr lang="en-US" altLang="ja-JP" dirty="0"/>
              <a:t>SQL</a:t>
            </a:r>
            <a:r>
              <a:rPr lang="ja-JP" altLang="en-US" dirty="0"/>
              <a:t>」 というタブをクリックします。</a:t>
            </a: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4902A444-C1B3-61FB-2C56-B1ADFE21A418}"/>
              </a:ext>
            </a:extLst>
          </p:cNvPr>
          <p:cNvSpPr/>
          <p:nvPr/>
        </p:nvSpPr>
        <p:spPr>
          <a:xfrm>
            <a:off x="3791723" y="5246653"/>
            <a:ext cx="989000" cy="2981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310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4DF4F7A1-4F79-4828-BD32-FE233A7C7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235" y="949093"/>
            <a:ext cx="2428571" cy="1819048"/>
          </a:xfrm>
          <a:prstGeom prst="rect">
            <a:avLst/>
          </a:prstGeom>
        </p:spPr>
      </p:pic>
      <p:sp>
        <p:nvSpPr>
          <p:cNvPr id="6" name="楕円 5">
            <a:extLst>
              <a:ext uri="{FF2B5EF4-FFF2-40B4-BE49-F238E27FC236}">
                <a16:creationId xmlns:a16="http://schemas.microsoft.com/office/drawing/2014/main" id="{58ABA6E9-6C2B-4EDD-4857-903BA43C8501}"/>
              </a:ext>
            </a:extLst>
          </p:cNvPr>
          <p:cNvSpPr/>
          <p:nvPr/>
        </p:nvSpPr>
        <p:spPr>
          <a:xfrm>
            <a:off x="1204235" y="2397419"/>
            <a:ext cx="1936327" cy="2981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651FCE6-E795-392B-44C0-18F291CA8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6810" y="968971"/>
            <a:ext cx="563548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ログン画面が出たら、先ほど「MySQLユーザ追加」で作った </a:t>
            </a: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「ユーザID」</a:t>
            </a: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と </a:t>
            </a: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「パスワード」</a:t>
            </a: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を入力してログインします。</a:t>
            </a:r>
          </a:p>
        </p:txBody>
      </p:sp>
      <p:pic>
        <p:nvPicPr>
          <p:cNvPr id="11" name="図 10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B8D02BA4-BEA1-B1EE-783D-9C224B629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72" y="4030731"/>
            <a:ext cx="6380952" cy="1171429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FE03A3D-AC10-C67C-8F55-EF05DD897F8B}"/>
              </a:ext>
            </a:extLst>
          </p:cNvPr>
          <p:cNvSpPr txBox="1"/>
          <p:nvPr/>
        </p:nvSpPr>
        <p:spPr>
          <a:xfrm>
            <a:off x="1090820" y="3369128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画面上部のメニューにある 「</a:t>
            </a:r>
            <a:r>
              <a:rPr lang="en-US" altLang="ja-JP" dirty="0"/>
              <a:t>SQL</a:t>
            </a:r>
            <a:r>
              <a:rPr lang="ja-JP" altLang="en-US" dirty="0"/>
              <a:t>」 というタブをクリックします。</a:t>
            </a: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29C60277-7B4B-2443-F711-EFE1E7C8BB85}"/>
              </a:ext>
            </a:extLst>
          </p:cNvPr>
          <p:cNvSpPr/>
          <p:nvPr/>
        </p:nvSpPr>
        <p:spPr>
          <a:xfrm>
            <a:off x="3901053" y="4346187"/>
            <a:ext cx="989000" cy="2981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DC3F5AF0-7F02-D6D7-6C18-1E60B1BE8176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2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966B3CB4-64A1-78BD-7AD4-99040DAB1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86" y="1082871"/>
            <a:ext cx="6580952" cy="2028571"/>
          </a:xfrm>
          <a:prstGeom prst="rect">
            <a:avLst/>
          </a:prstGeom>
        </p:spPr>
      </p:pic>
      <p:sp>
        <p:nvSpPr>
          <p:cNvPr id="4" name="楕円 3">
            <a:extLst>
              <a:ext uri="{FF2B5EF4-FFF2-40B4-BE49-F238E27FC236}">
                <a16:creationId xmlns:a16="http://schemas.microsoft.com/office/drawing/2014/main" id="{72A16D95-E642-7E30-3539-16B0568E3229}"/>
              </a:ext>
            </a:extLst>
          </p:cNvPr>
          <p:cNvSpPr/>
          <p:nvPr/>
        </p:nvSpPr>
        <p:spPr>
          <a:xfrm>
            <a:off x="686075" y="2384898"/>
            <a:ext cx="1927917" cy="2981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CAEF9E45-CE15-6372-764E-26E7DC6DF39E}"/>
              </a:ext>
            </a:extLst>
          </p:cNvPr>
          <p:cNvSpPr/>
          <p:nvPr/>
        </p:nvSpPr>
        <p:spPr>
          <a:xfrm>
            <a:off x="3164232" y="1314785"/>
            <a:ext cx="1119534" cy="2981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8DF1B7E-3593-D2B3-9C86-F57D53174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977" y="5407353"/>
            <a:ext cx="11828571" cy="628571"/>
          </a:xfrm>
          <a:prstGeom prst="rect">
            <a:avLst/>
          </a:prstGeom>
        </p:spPr>
      </p:pic>
      <p:sp>
        <p:nvSpPr>
          <p:cNvPr id="10" name="楕円 9">
            <a:extLst>
              <a:ext uri="{FF2B5EF4-FFF2-40B4-BE49-F238E27FC236}">
                <a16:creationId xmlns:a16="http://schemas.microsoft.com/office/drawing/2014/main" id="{D6BA7816-644E-A5F2-C483-374F8AF6ADF2}"/>
              </a:ext>
            </a:extLst>
          </p:cNvPr>
          <p:cNvSpPr/>
          <p:nvPr/>
        </p:nvSpPr>
        <p:spPr>
          <a:xfrm>
            <a:off x="10724094" y="5572551"/>
            <a:ext cx="1119534" cy="2981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 descr="グラフィカル ユーザー インターフェイス, 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33586977-074E-B9D4-A64B-E519117FD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3976" y="2219727"/>
            <a:ext cx="4995989" cy="2580867"/>
          </a:xfrm>
          <a:prstGeom prst="rect">
            <a:avLst/>
          </a:prstGeom>
        </p:spPr>
      </p:pic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F03B96B7-62B8-97FD-7AF0-E3AF73F26107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3494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38173D2-DD42-46A1-D950-268A19E0A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156" y="779634"/>
            <a:ext cx="4673601" cy="2328156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1D30945-4612-39D2-85C6-F333C5481F79}"/>
              </a:ext>
            </a:extLst>
          </p:cNvPr>
          <p:cNvSpPr txBox="1"/>
          <p:nvPr/>
        </p:nvSpPr>
        <p:spPr>
          <a:xfrm>
            <a:off x="1081156" y="362190"/>
            <a:ext cx="1490869" cy="377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成功</a:t>
            </a:r>
          </a:p>
        </p:txBody>
      </p:sp>
      <p:pic>
        <p:nvPicPr>
          <p:cNvPr id="6" name="図 5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6D417402-B375-74F0-6EDA-843523118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156" y="3505334"/>
            <a:ext cx="9800000" cy="2990476"/>
          </a:xfrm>
          <a:prstGeom prst="rect">
            <a:avLst/>
          </a:prstGeom>
        </p:spPr>
      </p:pic>
      <p:sp>
        <p:nvSpPr>
          <p:cNvPr id="7" name="楕円 6">
            <a:extLst>
              <a:ext uri="{FF2B5EF4-FFF2-40B4-BE49-F238E27FC236}">
                <a16:creationId xmlns:a16="http://schemas.microsoft.com/office/drawing/2014/main" id="{2C092310-8DC4-172E-8670-93B1956CD238}"/>
              </a:ext>
            </a:extLst>
          </p:cNvPr>
          <p:cNvSpPr/>
          <p:nvPr/>
        </p:nvSpPr>
        <p:spPr>
          <a:xfrm>
            <a:off x="1081156" y="3700176"/>
            <a:ext cx="697948" cy="2981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355FE8BB-4D02-23DC-CF16-D75B3C569421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532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EA484B99-6DF7-0779-74C4-C91993E889A0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78BE219-0D7B-8737-9EFF-A7890345266B}"/>
              </a:ext>
            </a:extLst>
          </p:cNvPr>
          <p:cNvSpPr txBox="1"/>
          <p:nvPr/>
        </p:nvSpPr>
        <p:spPr>
          <a:xfrm>
            <a:off x="616226" y="258418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スーパバイザー管理画面の作成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A74BF43-D027-E49D-29DD-17390E4A02CD}"/>
              </a:ext>
            </a:extLst>
          </p:cNvPr>
          <p:cNvSpPr txBox="1"/>
          <p:nvPr/>
        </p:nvSpPr>
        <p:spPr>
          <a:xfrm>
            <a:off x="616226" y="1226691"/>
            <a:ext cx="985961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スーパーバイザー管理テーブル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ja-JP" dirty="0"/>
              <a:t>SV</a:t>
            </a:r>
            <a:r>
              <a:rPr lang="ja-JP" altLang="en-US" dirty="0"/>
              <a:t>のログイン情報と、認証コード（</a:t>
            </a:r>
            <a:r>
              <a:rPr lang="en-US" altLang="ja-JP" dirty="0"/>
              <a:t>9</a:t>
            </a:r>
            <a:r>
              <a:rPr lang="ja-JP" altLang="en-US" dirty="0"/>
              <a:t>ページ）を管理するためのテーブルを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ja-JP" dirty="0"/>
              <a:t>D:\dev\public_lib\museum_app\DB</a:t>
            </a:r>
            <a:r>
              <a:rPr lang="ja-JP" altLang="en-US" dirty="0"/>
              <a:t>用</a:t>
            </a:r>
            <a:r>
              <a:rPr lang="en-US" altLang="ja-JP" dirty="0"/>
              <a:t>SQL\</a:t>
            </a:r>
            <a:r>
              <a:rPr lang="en-US" altLang="ja-JP" dirty="0" err="1"/>
              <a:t>sv.sql</a:t>
            </a:r>
            <a:endParaRPr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ja-JP" altLang="en-US" b="1" dirty="0"/>
              <a:t>ログイン画面（</a:t>
            </a:r>
            <a:r>
              <a:rPr lang="en-US" altLang="ja-JP" b="1" dirty="0"/>
              <a:t>8</a:t>
            </a:r>
            <a:r>
              <a:rPr lang="ja-JP" altLang="en-US" b="1" dirty="0"/>
              <a:t>ページ）の実装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nn-NO" altLang="ja-JP" dirty="0"/>
              <a:t>D:\dev\public_lib\museum_app\museum_sv\log_in.php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ja-JP" altLang="en-US" b="1" dirty="0"/>
              <a:t>認証コード入力画面（</a:t>
            </a:r>
            <a:r>
              <a:rPr lang="en-US" altLang="ja-JP" b="1" dirty="0"/>
              <a:t>9</a:t>
            </a:r>
            <a:r>
              <a:rPr lang="ja-JP" altLang="en-US" b="1" dirty="0"/>
              <a:t>ページ）の実装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ja-JP" dirty="0"/>
              <a:t>D:\dev\public_lib\museum_app\museum_sv\auth.php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endParaRPr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ja-JP" altLang="en-US" b="1" dirty="0"/>
              <a:t>最初の</a:t>
            </a:r>
            <a:r>
              <a:rPr lang="en-US" altLang="ja-JP" b="1" dirty="0"/>
              <a:t>SV</a:t>
            </a:r>
            <a:r>
              <a:rPr lang="ja-JP" altLang="en-US" b="1" dirty="0"/>
              <a:t>アカウントを</a:t>
            </a:r>
            <a:r>
              <a:rPr lang="en-US" altLang="ja-JP" b="1" dirty="0"/>
              <a:t>DB</a:t>
            </a:r>
            <a:r>
              <a:rPr lang="ja-JP" altLang="en-US" b="1" dirty="0"/>
              <a:t>に作る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ja-JP" dirty="0"/>
              <a:t>D:\dev\public_lib\museum_app\DB</a:t>
            </a:r>
            <a:r>
              <a:rPr lang="ja-JP" altLang="en-US" dirty="0"/>
              <a:t>用</a:t>
            </a:r>
            <a:r>
              <a:rPr lang="en-US" altLang="ja-JP" dirty="0"/>
              <a:t>SQL\</a:t>
            </a:r>
            <a:r>
              <a:rPr lang="en-US" altLang="ja-JP" dirty="0" err="1"/>
              <a:t>make_sv_user.sql</a:t>
            </a:r>
            <a:endParaRPr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85894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A2DA9029-ADB6-4A12-DDE9-066A6FC339D1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1EED5BF-1A96-09C4-6DA7-FBD4582A31CF}"/>
              </a:ext>
            </a:extLst>
          </p:cNvPr>
          <p:cNvSpPr txBox="1"/>
          <p:nvPr/>
        </p:nvSpPr>
        <p:spPr>
          <a:xfrm>
            <a:off x="1081156" y="362190"/>
            <a:ext cx="7337287" cy="377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2</a:t>
            </a:r>
            <a:r>
              <a:rPr kumimoji="1" lang="ja-JP" altLang="en-US" dirty="0"/>
              <a:t>段階認証用のコードのありか</a:t>
            </a:r>
          </a:p>
        </p:txBody>
      </p:sp>
      <p:pic>
        <p:nvPicPr>
          <p:cNvPr id="5" name="図 4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05082A4C-8388-3B26-62C3-6FEF0A4E8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65" y="917257"/>
            <a:ext cx="8600000" cy="2638095"/>
          </a:xfrm>
          <a:prstGeom prst="rect">
            <a:avLst/>
          </a:prstGeom>
        </p:spPr>
      </p:pic>
      <p:sp>
        <p:nvSpPr>
          <p:cNvPr id="6" name="楕円 5">
            <a:extLst>
              <a:ext uri="{FF2B5EF4-FFF2-40B4-BE49-F238E27FC236}">
                <a16:creationId xmlns:a16="http://schemas.microsoft.com/office/drawing/2014/main" id="{FA9FBD74-3EE4-E98E-265F-2CD9E8120011}"/>
              </a:ext>
            </a:extLst>
          </p:cNvPr>
          <p:cNvSpPr/>
          <p:nvPr/>
        </p:nvSpPr>
        <p:spPr>
          <a:xfrm>
            <a:off x="2637459" y="3257178"/>
            <a:ext cx="1119534" cy="2981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C8ABCB9-9810-9883-1BD6-9180D641D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69" y="4498136"/>
            <a:ext cx="9809524" cy="942857"/>
          </a:xfrm>
          <a:prstGeom prst="rect">
            <a:avLst/>
          </a:prstGeom>
        </p:spPr>
      </p:pic>
      <p:sp>
        <p:nvSpPr>
          <p:cNvPr id="9" name="楕円 8">
            <a:extLst>
              <a:ext uri="{FF2B5EF4-FFF2-40B4-BE49-F238E27FC236}">
                <a16:creationId xmlns:a16="http://schemas.microsoft.com/office/drawing/2014/main" id="{C2D558F0-BD5A-8765-6CD6-51A2713D1919}"/>
              </a:ext>
            </a:extLst>
          </p:cNvPr>
          <p:cNvSpPr/>
          <p:nvPr/>
        </p:nvSpPr>
        <p:spPr>
          <a:xfrm>
            <a:off x="8594311" y="4969564"/>
            <a:ext cx="1119534" cy="2981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7025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C13F22DD-0323-88AC-BC1F-B7FBB04BAA98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03900DA-E55E-8E70-779A-BB45A3CB65D3}"/>
              </a:ext>
            </a:extLst>
          </p:cNvPr>
          <p:cNvSpPr txBox="1"/>
          <p:nvPr/>
        </p:nvSpPr>
        <p:spPr>
          <a:xfrm>
            <a:off x="496957" y="327991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スーパーパイザーログイン画面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350687E-D580-AF5C-2498-DCFB89C3483E}"/>
              </a:ext>
            </a:extLst>
          </p:cNvPr>
          <p:cNvSpPr txBox="1"/>
          <p:nvPr/>
        </p:nvSpPr>
        <p:spPr>
          <a:xfrm>
            <a:off x="623680" y="1125789"/>
            <a:ext cx="99714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 err="1"/>
              <a:t>public_html</a:t>
            </a:r>
            <a:r>
              <a:rPr lang="en-US" altLang="ja-JP" dirty="0"/>
              <a:t>/</a:t>
            </a:r>
          </a:p>
          <a:p>
            <a:r>
              <a:rPr lang="en-US" altLang="ja-JP" dirty="0"/>
              <a:t>   |----- museum   (</a:t>
            </a:r>
            <a:r>
              <a:rPr lang="ja-JP" altLang="en-US" dirty="0"/>
              <a:t>博物館アプリ</a:t>
            </a:r>
            <a:r>
              <a:rPr lang="en-US" altLang="ja-JP" dirty="0"/>
              <a:t>)</a:t>
            </a:r>
          </a:p>
          <a:p>
            <a:r>
              <a:rPr lang="ja-JP" altLang="en-US" dirty="0"/>
              <a:t>　　　　</a:t>
            </a:r>
            <a:r>
              <a:rPr lang="en-US" altLang="ja-JP" dirty="0"/>
              <a:t>|----- </a:t>
            </a:r>
            <a:r>
              <a:rPr lang="en-US" altLang="ja-JP" dirty="0" err="1"/>
              <a:t>sv</a:t>
            </a:r>
            <a:r>
              <a:rPr lang="en-US" altLang="ja-JP" dirty="0"/>
              <a:t>   </a:t>
            </a:r>
            <a:r>
              <a:rPr lang="ja-JP" altLang="en-US" dirty="0"/>
              <a:t>（スーパバイザー用管理画面）　</a:t>
            </a:r>
            <a:endParaRPr lang="en-US" altLang="ja-JP" dirty="0"/>
          </a:p>
          <a:p>
            <a:r>
              <a:rPr lang="en-US" altLang="ja-JP" dirty="0"/>
              <a:t>	</a:t>
            </a:r>
            <a:r>
              <a:rPr lang="ja-JP" altLang="en-US" dirty="0"/>
              <a:t>　　　</a:t>
            </a:r>
            <a:r>
              <a:rPr lang="en-US" altLang="ja-JP" dirty="0"/>
              <a:t>|---- </a:t>
            </a:r>
            <a:r>
              <a:rPr lang="en-US" altLang="ja-JP" dirty="0" err="1"/>
              <a:t>login.php</a:t>
            </a:r>
            <a:r>
              <a:rPr lang="en-US" altLang="ja-JP" dirty="0"/>
              <a:t>  </a:t>
            </a:r>
            <a:r>
              <a:rPr lang="ja-JP" altLang="en-US" dirty="0"/>
              <a:t>ログイン画面</a:t>
            </a:r>
            <a:endParaRPr lang="en-US" altLang="ja-JP" dirty="0"/>
          </a:p>
          <a:p>
            <a:r>
              <a:rPr lang="en-US" altLang="ja-JP" dirty="0"/>
              <a:t>  </a:t>
            </a:r>
            <a:endParaRPr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B0657BE-0751-BB0D-8C60-DE814A19FE69}"/>
              </a:ext>
            </a:extLst>
          </p:cNvPr>
          <p:cNvSpPr txBox="1"/>
          <p:nvPr/>
        </p:nvSpPr>
        <p:spPr>
          <a:xfrm>
            <a:off x="3121701" y="2418451"/>
            <a:ext cx="77311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altLang="ja-JP" dirty="0"/>
              <a:t>D:\dev\public_lib\museum_app\museum_sv\index.php</a:t>
            </a:r>
            <a:endParaRPr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4692E40-76E7-423C-455C-A66229F32FEC}"/>
              </a:ext>
            </a:extLst>
          </p:cNvPr>
          <p:cNvSpPr txBox="1"/>
          <p:nvPr/>
        </p:nvSpPr>
        <p:spPr>
          <a:xfrm>
            <a:off x="2056030" y="3244334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dirty="0"/>
              <a:t>https://41mono.net/museum/sv/login.php</a:t>
            </a:r>
            <a:endParaRPr kumimoji="1" lang="ja-JP" altLang="en-US" sz="18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214F897-B74B-8472-F2CB-4CCD09F5A542}"/>
              </a:ext>
            </a:extLst>
          </p:cNvPr>
          <p:cNvSpPr txBox="1"/>
          <p:nvPr/>
        </p:nvSpPr>
        <p:spPr>
          <a:xfrm>
            <a:off x="496957" y="3244334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ログイン</a:t>
            </a:r>
            <a:r>
              <a:rPr kumimoji="1" lang="en-US" altLang="ja-JP" dirty="0"/>
              <a:t>URL:</a:t>
            </a:r>
          </a:p>
        </p:txBody>
      </p:sp>
      <p:pic>
        <p:nvPicPr>
          <p:cNvPr id="11" name="図 10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46A8D7FD-555F-BCFA-D4F8-3A682A028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033" y="3501816"/>
            <a:ext cx="3038144" cy="294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195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C6EC7-777A-9428-EF60-EC7103835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E242F11-1A5D-6ACD-BBF8-F19C7897EB0C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5EBB1C6-B5A2-3411-B599-439CBA932983}"/>
              </a:ext>
            </a:extLst>
          </p:cNvPr>
          <p:cNvSpPr txBox="1"/>
          <p:nvPr/>
        </p:nvSpPr>
        <p:spPr>
          <a:xfrm>
            <a:off x="496957" y="327991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</a:t>
            </a:r>
            <a:r>
              <a:rPr kumimoji="1" lang="ja-JP" altLang="en-US" dirty="0"/>
              <a:t>段階認証の実装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0E982A8-597C-36C9-F234-DC7E35C8F158}"/>
              </a:ext>
            </a:extLst>
          </p:cNvPr>
          <p:cNvSpPr txBox="1"/>
          <p:nvPr/>
        </p:nvSpPr>
        <p:spPr>
          <a:xfrm>
            <a:off x="496957" y="1052023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b="1" dirty="0"/>
              <a:t>1. </a:t>
            </a:r>
            <a:r>
              <a:rPr lang="ja-JP" altLang="en-US" b="1" dirty="0"/>
              <a:t>準備：送信元メールアドレスの作成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746DB85-7C4F-2806-D0BD-0F30590176A1}"/>
              </a:ext>
            </a:extLst>
          </p:cNvPr>
          <p:cNvSpPr txBox="1"/>
          <p:nvPr/>
        </p:nvSpPr>
        <p:spPr>
          <a:xfrm>
            <a:off x="753255" y="1718003"/>
            <a:ext cx="100846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dirty="0"/>
              <a:t>エックスサーバーの管理パネルで、送信元となるメールアドレス（例：</a:t>
            </a:r>
            <a:r>
              <a:rPr lang="en-US" altLang="ja-JP" dirty="0"/>
              <a:t>info@41mono.net </a:t>
            </a:r>
            <a:r>
              <a:rPr lang="ja-JP" altLang="en-US" dirty="0"/>
              <a:t>など）を一つ作成しておいてください。これがないと、メールが迷惑メール判定されたり、送信エラーになったりすることがあります。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F9E2C26-016D-BC23-6341-1CF1DF793452}"/>
              </a:ext>
            </a:extLst>
          </p:cNvPr>
          <p:cNvSpPr txBox="1"/>
          <p:nvPr/>
        </p:nvSpPr>
        <p:spPr>
          <a:xfrm>
            <a:off x="6590457" y="2641333"/>
            <a:ext cx="30700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送信元アドレス</a:t>
            </a:r>
            <a:endParaRPr lang="en-US" altLang="ja-JP" dirty="0"/>
          </a:p>
          <a:p>
            <a:r>
              <a:rPr lang="en-US" altLang="ja-JP" dirty="0"/>
              <a:t>info_museum@41mono.net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06610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6D5D8-4C67-EC70-9B4D-5F7C01A35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BDAC98F2-2F71-9187-06EC-88A77E86BCB3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8BF2508-D5E7-E53C-B2D3-6CF29AE8E7F5}"/>
              </a:ext>
            </a:extLst>
          </p:cNvPr>
          <p:cNvSpPr txBox="1"/>
          <p:nvPr/>
        </p:nvSpPr>
        <p:spPr>
          <a:xfrm>
            <a:off x="496957" y="327991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</a:t>
            </a:r>
            <a:r>
              <a:rPr kumimoji="1" lang="ja-JP" altLang="en-US" dirty="0"/>
              <a:t>段階認証の実装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B6F592B-AD91-99FD-E194-F65E6DAF4847}"/>
              </a:ext>
            </a:extLst>
          </p:cNvPr>
          <p:cNvSpPr txBox="1"/>
          <p:nvPr/>
        </p:nvSpPr>
        <p:spPr>
          <a:xfrm>
            <a:off x="378501" y="1101219"/>
            <a:ext cx="112238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b="1" dirty="0"/>
              <a:t>1</a:t>
            </a:r>
            <a:r>
              <a:rPr lang="ja-JP" altLang="en-US" b="1" dirty="0"/>
              <a:t>）受信用メールアドレスの書き換え（重要）</a:t>
            </a:r>
          </a:p>
          <a:p>
            <a:pPr>
              <a:buNone/>
            </a:pPr>
            <a:r>
              <a:rPr lang="ja-JP" altLang="en-US" dirty="0"/>
              <a:t>現在、データベースにはテスト用の </a:t>
            </a:r>
            <a:r>
              <a:rPr lang="en-US" altLang="ja-JP" dirty="0"/>
              <a:t>abc@xyz.com </a:t>
            </a:r>
            <a:r>
              <a:rPr lang="ja-JP" altLang="en-US" dirty="0"/>
              <a:t>が登録されています。これではメールが届かないので、</a:t>
            </a:r>
            <a:r>
              <a:rPr lang="ja-JP" altLang="en-US" b="1" dirty="0"/>
              <a:t>あなた自身のメールアドレス</a:t>
            </a:r>
            <a:r>
              <a:rPr lang="ja-JP" altLang="en-US" dirty="0"/>
              <a:t>に書き換えます。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7FEF97F-CC09-3661-8A52-54081A7A50F4}"/>
              </a:ext>
            </a:extLst>
          </p:cNvPr>
          <p:cNvSpPr txBox="1"/>
          <p:nvPr/>
        </p:nvSpPr>
        <p:spPr>
          <a:xfrm>
            <a:off x="1742605" y="2146942"/>
            <a:ext cx="98597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altLang="ja-JP" b="1" dirty="0"/>
              <a:t>phpMyAdmin</a:t>
            </a:r>
            <a:r>
              <a:rPr lang="ja-JP" altLang="en-US" dirty="0"/>
              <a:t> を開きます。</a:t>
            </a:r>
          </a:p>
          <a:p>
            <a:pPr>
              <a:buFont typeface="+mj-lt"/>
              <a:buAutoNum type="arabicPeriod"/>
            </a:pPr>
            <a:r>
              <a:rPr lang="en-US" altLang="ja-JP" dirty="0"/>
              <a:t>supervisors </a:t>
            </a:r>
            <a:r>
              <a:rPr lang="ja-JP" altLang="en-US" dirty="0"/>
              <a:t>テーブルの「表示」タブをクリックします。</a:t>
            </a:r>
          </a:p>
          <a:p>
            <a:pPr>
              <a:buFont typeface="+mj-lt"/>
              <a:buAutoNum type="arabicPeriod"/>
            </a:pPr>
            <a:r>
              <a:rPr lang="en-US" altLang="ja-JP" dirty="0"/>
              <a:t>abc@xyz.com </a:t>
            </a:r>
            <a:r>
              <a:rPr lang="ja-JP" altLang="en-US" dirty="0"/>
              <a:t>の横にある「編集」を押し、</a:t>
            </a:r>
            <a:r>
              <a:rPr lang="ja-JP" altLang="en-US" b="1" dirty="0"/>
              <a:t>あなたが今メールを確認できる実際のアドレス</a:t>
            </a:r>
            <a:r>
              <a:rPr lang="ja-JP" altLang="en-US" dirty="0"/>
              <a:t>に書き換えて「実行」します。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2BB3C18-43AE-6697-3BB2-A2DFAC4CD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01" y="4023928"/>
            <a:ext cx="11809524" cy="809524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CABA4F9-A372-81C4-F771-BF417090B21F}"/>
              </a:ext>
            </a:extLst>
          </p:cNvPr>
          <p:cNvSpPr txBox="1"/>
          <p:nvPr/>
        </p:nvSpPr>
        <p:spPr>
          <a:xfrm>
            <a:off x="689548" y="5561351"/>
            <a:ext cx="10283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パスワードは</a:t>
            </a:r>
            <a:r>
              <a:rPr kumimoji="1" lang="en-US" altLang="ja-JP" dirty="0" err="1"/>
              <a:t>museum_pass</a:t>
            </a:r>
            <a:r>
              <a:rPr kumimoji="1" lang="ja-JP" altLang="en-US" dirty="0"/>
              <a:t>のハッシュ値</a:t>
            </a:r>
          </a:p>
        </p:txBody>
      </p:sp>
    </p:spTree>
    <p:extLst>
      <p:ext uri="{BB962C8B-B14F-4D97-AF65-F5344CB8AC3E}">
        <p14:creationId xmlns:p14="http://schemas.microsoft.com/office/powerpoint/2010/main" val="2839277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5962DF96-678D-9891-8F21-6ECDAF21EFA9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9F2834B-0A0D-5769-02EA-B1C318F45D09}"/>
              </a:ext>
            </a:extLst>
          </p:cNvPr>
          <p:cNvSpPr txBox="1"/>
          <p:nvPr/>
        </p:nvSpPr>
        <p:spPr>
          <a:xfrm>
            <a:off x="423472" y="227564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dirty="0"/>
              <a:t>ハッシュデータ生成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CFBA80F-FBB0-98B4-266C-3C3E017C8D2E}"/>
              </a:ext>
            </a:extLst>
          </p:cNvPr>
          <p:cNvSpPr txBox="1"/>
          <p:nvPr/>
        </p:nvSpPr>
        <p:spPr>
          <a:xfrm>
            <a:off x="779489" y="1101857"/>
            <a:ext cx="962368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&lt;?</a:t>
            </a:r>
            <a:r>
              <a:rPr lang="en-US" altLang="ja-JP" dirty="0" err="1"/>
              <a:t>php</a:t>
            </a:r>
            <a:endParaRPr lang="en-US" altLang="ja-JP" dirty="0"/>
          </a:p>
          <a:p>
            <a:r>
              <a:rPr lang="en-US" altLang="ja-JP" dirty="0"/>
              <a:t>// </a:t>
            </a:r>
            <a:r>
              <a:rPr lang="ja-JP" altLang="en-US" dirty="0"/>
              <a:t>ここに暗号化したいパスワードを入力</a:t>
            </a:r>
          </a:p>
          <a:p>
            <a:r>
              <a:rPr lang="en-US" altLang="ja-JP" dirty="0"/>
              <a:t>$</a:t>
            </a:r>
            <a:r>
              <a:rPr lang="en-US" altLang="ja-JP" dirty="0" err="1"/>
              <a:t>password_to_hash</a:t>
            </a:r>
            <a:r>
              <a:rPr lang="en-US" altLang="ja-JP" dirty="0"/>
              <a:t> = '</a:t>
            </a:r>
            <a:r>
              <a:rPr lang="en-US" altLang="ja-JP" dirty="0" err="1"/>
              <a:t>museum_pass</a:t>
            </a:r>
            <a:r>
              <a:rPr lang="en-US" altLang="ja-JP" dirty="0"/>
              <a:t>';</a:t>
            </a:r>
          </a:p>
          <a:p>
            <a:endParaRPr lang="en-US" altLang="ja-JP" dirty="0"/>
          </a:p>
          <a:p>
            <a:r>
              <a:rPr lang="en-US" altLang="ja-JP" dirty="0"/>
              <a:t>// </a:t>
            </a:r>
            <a:r>
              <a:rPr lang="ja-JP" altLang="en-US" dirty="0"/>
              <a:t>ハッシュ値を生成して表示</a:t>
            </a:r>
          </a:p>
          <a:p>
            <a:r>
              <a:rPr lang="en-US" altLang="ja-JP" dirty="0"/>
              <a:t>echo </a:t>
            </a:r>
            <a:r>
              <a:rPr lang="en-US" altLang="ja-JP" dirty="0" err="1"/>
              <a:t>password_hash</a:t>
            </a:r>
            <a:r>
              <a:rPr lang="en-US" altLang="ja-JP" dirty="0"/>
              <a:t>($</a:t>
            </a:r>
            <a:r>
              <a:rPr lang="en-US" altLang="ja-JP" dirty="0" err="1"/>
              <a:t>password_to_hash</a:t>
            </a:r>
            <a:r>
              <a:rPr lang="en-US" altLang="ja-JP" dirty="0"/>
              <a:t>, PASSWORD_DEFAULT);</a:t>
            </a:r>
          </a:p>
          <a:p>
            <a:r>
              <a:rPr lang="en-US" altLang="ja-JP" dirty="0"/>
              <a:t>?&gt;</a:t>
            </a:r>
            <a:endParaRPr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443BD07-30B7-87E0-FBFB-A53C784D4EC0}"/>
              </a:ext>
            </a:extLst>
          </p:cNvPr>
          <p:cNvSpPr txBox="1"/>
          <p:nvPr/>
        </p:nvSpPr>
        <p:spPr>
          <a:xfrm>
            <a:off x="423471" y="3410262"/>
            <a:ext cx="101296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D:\dev\public_lib\museum_app\museum_sv\generate_hash.php</a:t>
            </a:r>
            <a:endParaRPr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529B317-63B4-7AE3-7119-6D12E4F1EEB7}"/>
              </a:ext>
            </a:extLst>
          </p:cNvPr>
          <p:cNvSpPr txBox="1"/>
          <p:nvPr/>
        </p:nvSpPr>
        <p:spPr>
          <a:xfrm>
            <a:off x="228600" y="4488997"/>
            <a:ext cx="11047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ブラウザで </a:t>
            </a:r>
            <a:r>
              <a:rPr lang="en-US" altLang="ja-JP" dirty="0"/>
              <a:t>https://41mono.net/museum/generate_hash.php </a:t>
            </a:r>
            <a:r>
              <a:rPr lang="ja-JP" altLang="en-US" dirty="0"/>
              <a:t>にアクセスし、表示</a:t>
            </a:r>
            <a:r>
              <a:rPr lang="ja-JP" altLang="en-US"/>
              <a:t>されたがハッシュ値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5042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09709-5CD6-F6D9-690F-E440149C4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BF394C04-A697-0620-1455-FA7BADE18AF1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0FA1528-9EC2-7168-F5BA-79A7DA195074}"/>
              </a:ext>
            </a:extLst>
          </p:cNvPr>
          <p:cNvSpPr txBox="1"/>
          <p:nvPr/>
        </p:nvSpPr>
        <p:spPr>
          <a:xfrm>
            <a:off x="496957" y="327991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初回ログイン時のパスワード強制変更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E8F69A6-8B08-98AC-ADFD-3147AF601631}"/>
              </a:ext>
            </a:extLst>
          </p:cNvPr>
          <p:cNvSpPr txBox="1"/>
          <p:nvPr/>
        </p:nvSpPr>
        <p:spPr>
          <a:xfrm>
            <a:off x="496956" y="981298"/>
            <a:ext cx="106857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b="1" dirty="0"/>
              <a:t>ステップ</a:t>
            </a:r>
            <a:r>
              <a:rPr lang="en-US" altLang="ja-JP" b="1" dirty="0"/>
              <a:t>1</a:t>
            </a:r>
            <a:r>
              <a:rPr lang="ja-JP" altLang="en-US" b="1" dirty="0"/>
              <a:t>：データベースの更新</a:t>
            </a:r>
          </a:p>
          <a:p>
            <a:pPr>
              <a:buNone/>
            </a:pPr>
            <a:r>
              <a:rPr lang="ja-JP" altLang="en-US" dirty="0"/>
              <a:t>まず、スーパーバイザーが「初回ログインかどうか」を判別するための列（カラム）を追加します。</a:t>
            </a:r>
            <a:r>
              <a:rPr lang="en-US" altLang="ja-JP" dirty="0"/>
              <a:t>phpMyAdmin</a:t>
            </a:r>
            <a:r>
              <a:rPr lang="ja-JP" altLang="en-US" dirty="0"/>
              <a:t>の「</a:t>
            </a:r>
            <a:r>
              <a:rPr lang="en-US" altLang="ja-JP" dirty="0"/>
              <a:t>SQL</a:t>
            </a:r>
            <a:r>
              <a:rPr lang="ja-JP" altLang="en-US" dirty="0"/>
              <a:t>」タブで以下を実行してください。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D2A9E2E-9016-7040-C8F6-89F263FB3B89}"/>
              </a:ext>
            </a:extLst>
          </p:cNvPr>
          <p:cNvSpPr txBox="1"/>
          <p:nvPr/>
        </p:nvSpPr>
        <p:spPr>
          <a:xfrm>
            <a:off x="1068049" y="2505670"/>
            <a:ext cx="101146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-- </a:t>
            </a:r>
            <a:r>
              <a:rPr lang="ja-JP" altLang="en-US" dirty="0"/>
              <a:t>初回ログインフラグを追加（</a:t>
            </a:r>
            <a:r>
              <a:rPr lang="en-US" altLang="ja-JP" dirty="0"/>
              <a:t>1:</a:t>
            </a:r>
            <a:r>
              <a:rPr lang="ja-JP" altLang="en-US" dirty="0"/>
              <a:t>初回</a:t>
            </a:r>
            <a:r>
              <a:rPr lang="en-US" altLang="ja-JP" dirty="0"/>
              <a:t>, 0:</a:t>
            </a:r>
            <a:r>
              <a:rPr lang="ja-JP" altLang="en-US" dirty="0"/>
              <a:t>変更済み）</a:t>
            </a:r>
          </a:p>
          <a:p>
            <a:r>
              <a:rPr lang="en-US" altLang="ja-JP" dirty="0"/>
              <a:t>ALTER TABLE supervisors ADD COLUMN </a:t>
            </a:r>
            <a:r>
              <a:rPr lang="en-US" altLang="ja-JP" dirty="0" err="1"/>
              <a:t>is_first_login</a:t>
            </a:r>
            <a:r>
              <a:rPr lang="en-US" altLang="ja-JP" dirty="0"/>
              <a:t> TINYINT(1) DEFAULT 1;</a:t>
            </a:r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A9F7755-48BA-041B-C2B6-72A232DBDB7C}"/>
              </a:ext>
            </a:extLst>
          </p:cNvPr>
          <p:cNvSpPr txBox="1"/>
          <p:nvPr/>
        </p:nvSpPr>
        <p:spPr>
          <a:xfrm>
            <a:off x="839449" y="4527030"/>
            <a:ext cx="10685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SQL</a:t>
            </a:r>
            <a:r>
              <a:rPr kumimoji="1" lang="ja-JP" altLang="en-US" dirty="0"/>
              <a:t>を利用しなくても</a:t>
            </a:r>
            <a:r>
              <a:rPr kumimoji="1" lang="en-US" altLang="ja-JP" dirty="0"/>
              <a:t>php</a:t>
            </a:r>
            <a:r>
              <a:rPr lang="en-US" altLang="ja-JP" dirty="0"/>
              <a:t>MyAdmin</a:t>
            </a:r>
            <a:r>
              <a:rPr lang="ja-JP" altLang="en-US" dirty="0"/>
              <a:t>でも可能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655287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9323-404B-53D6-AC6A-7E096822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3765FB1B-75E4-7263-8D78-93CAB951672D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ED3194C-5C83-C14D-7F4F-0AC4314C5D01}"/>
              </a:ext>
            </a:extLst>
          </p:cNvPr>
          <p:cNvSpPr txBox="1"/>
          <p:nvPr/>
        </p:nvSpPr>
        <p:spPr>
          <a:xfrm>
            <a:off x="496957" y="327991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初回ログイン時のパスワード強制変更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73B5A90-82A4-4BA3-9067-474255C2C8B5}"/>
              </a:ext>
            </a:extLst>
          </p:cNvPr>
          <p:cNvSpPr txBox="1"/>
          <p:nvPr/>
        </p:nvSpPr>
        <p:spPr>
          <a:xfrm>
            <a:off x="783236" y="1119797"/>
            <a:ext cx="10924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認証に成功した後、いきなり一覧（</a:t>
            </a:r>
            <a:r>
              <a:rPr lang="en-US" altLang="ja-JP" dirty="0" err="1"/>
              <a:t>index.php</a:t>
            </a:r>
            <a:r>
              <a:rPr lang="ja-JP" altLang="en-US" dirty="0"/>
              <a:t>）に行くのではなく、フラグを見て「初回ならアカウント設定画面へ」「そうでなければ一覧へ」と振り分けます。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DC0F347-79B9-9454-F838-DE781ACC2A50}"/>
              </a:ext>
            </a:extLst>
          </p:cNvPr>
          <p:cNvSpPr txBox="1"/>
          <p:nvPr/>
        </p:nvSpPr>
        <p:spPr>
          <a:xfrm>
            <a:off x="1997439" y="2130550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D:\dev\public_lib\museum_app\museum_sv\auth.php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589672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89C4B-9DA8-E675-AEA9-D9523DE07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5B30A5C0-6BE7-E693-F986-934742ADB825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AE2F6C0-3CA9-E2B4-B87C-E72EAEF4679B}"/>
              </a:ext>
            </a:extLst>
          </p:cNvPr>
          <p:cNvSpPr txBox="1"/>
          <p:nvPr/>
        </p:nvSpPr>
        <p:spPr>
          <a:xfrm>
            <a:off x="496957" y="327991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初回ログイン時のパスワード強制変更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12DFBFC-69B5-16F0-00ED-43BAF28B6A22}"/>
              </a:ext>
            </a:extLst>
          </p:cNvPr>
          <p:cNvSpPr txBox="1"/>
          <p:nvPr/>
        </p:nvSpPr>
        <p:spPr>
          <a:xfrm>
            <a:off x="783236" y="1176170"/>
            <a:ext cx="107142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dirty="0"/>
              <a:t>仕様書</a:t>
            </a:r>
            <a:r>
              <a:rPr lang="en-US" altLang="ja-JP" dirty="0"/>
              <a:t>12〜13</a:t>
            </a:r>
            <a:r>
              <a:rPr lang="ja-JP" altLang="en-US" dirty="0"/>
              <a:t>ページに基づき、</a:t>
            </a:r>
            <a:r>
              <a:rPr lang="ja-JP" altLang="en-US" b="1" dirty="0"/>
              <a:t>「現在のパスワード」を確認した上で新しいパスワードを設定する</a:t>
            </a:r>
            <a:r>
              <a:rPr lang="ja-JP" altLang="en-US" dirty="0"/>
              <a:t>画面を作成します。初回ログイン時は「中止」ボタンを隠すなどの制御も入れています。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477167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BD8F6-FFBA-DC3C-8DD9-8CD6CD2A5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6A7D9064-8453-10EB-3D10-A9B5A22A9895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614F079-EC8F-DC5F-ADD6-D8397D176F2D}"/>
              </a:ext>
            </a:extLst>
          </p:cNvPr>
          <p:cNvSpPr txBox="1"/>
          <p:nvPr/>
        </p:nvSpPr>
        <p:spPr>
          <a:xfrm>
            <a:off x="496957" y="327991"/>
            <a:ext cx="4419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Supervisors</a:t>
            </a:r>
            <a:r>
              <a:rPr lang="ja-JP" altLang="en-US" dirty="0"/>
              <a:t>のデータベースリセット</a:t>
            </a:r>
            <a:r>
              <a:rPr lang="en-US" altLang="ja-JP" dirty="0"/>
              <a:t>SQL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F00CC0F-F4C2-4F7D-9877-057B14D50657}"/>
              </a:ext>
            </a:extLst>
          </p:cNvPr>
          <p:cNvSpPr txBox="1"/>
          <p:nvPr/>
        </p:nvSpPr>
        <p:spPr>
          <a:xfrm>
            <a:off x="738266" y="1374630"/>
            <a:ext cx="109840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dirty="0"/>
              <a:t>Chrome</a:t>
            </a:r>
            <a:r>
              <a:rPr lang="ja-JP" altLang="en-US" dirty="0"/>
              <a:t>の警告が出ないように、初期パスワードを </a:t>
            </a:r>
            <a:r>
              <a:rPr lang="en-US" altLang="ja-JP" b="1" dirty="0" err="1"/>
              <a:t>museum_pass</a:t>
            </a:r>
            <a:r>
              <a:rPr lang="ja-JP" altLang="en-US" dirty="0"/>
              <a:t> に設定し、</a:t>
            </a:r>
            <a:r>
              <a:rPr lang="en-US" altLang="ja-JP" dirty="0"/>
              <a:t>email</a:t>
            </a:r>
            <a:r>
              <a:rPr lang="ja-JP" altLang="en-US" dirty="0"/>
              <a:t>アドレスも設定しかつ初回ログインフラグをリセットする</a:t>
            </a:r>
            <a:r>
              <a:rPr lang="en-US" altLang="ja-JP" dirty="0"/>
              <a:t>SQL</a:t>
            </a:r>
            <a:endParaRPr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D8D39A4-93A8-5B7D-1531-11CB48387FB7}"/>
              </a:ext>
            </a:extLst>
          </p:cNvPr>
          <p:cNvSpPr txBox="1"/>
          <p:nvPr/>
        </p:nvSpPr>
        <p:spPr>
          <a:xfrm>
            <a:off x="993098" y="2263276"/>
            <a:ext cx="100246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UPDATE supervisors </a:t>
            </a:r>
          </a:p>
          <a:p>
            <a:r>
              <a:rPr lang="en-US" altLang="ja-JP" dirty="0"/>
              <a:t>SET </a:t>
            </a:r>
            <a:r>
              <a:rPr lang="en-US" altLang="ja-JP" dirty="0" err="1"/>
              <a:t>is_first_login</a:t>
            </a:r>
            <a:r>
              <a:rPr lang="en-US" altLang="ja-JP" dirty="0"/>
              <a:t> = 1, </a:t>
            </a:r>
          </a:p>
          <a:p>
            <a:r>
              <a:rPr lang="en-US" altLang="ja-JP" dirty="0"/>
              <a:t>    password = '$2y$10$gT5qjyPwPGWarfD4U/dQpuHLnJ2shUVqzwjCBxLxp5hPZFTrvqdLG' </a:t>
            </a:r>
          </a:p>
          <a:p>
            <a:r>
              <a:rPr lang="en-US" altLang="ja-JP" dirty="0"/>
              <a:t>WHERE email = 'museum@41mono.net';</a:t>
            </a:r>
            <a:endParaRPr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4FB450E-9078-741E-DD33-21509120A6A7}"/>
              </a:ext>
            </a:extLst>
          </p:cNvPr>
          <p:cNvSpPr txBox="1"/>
          <p:nvPr/>
        </p:nvSpPr>
        <p:spPr>
          <a:xfrm>
            <a:off x="1233566" y="4031478"/>
            <a:ext cx="9724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D:\dev\public_lib\museum_app\museum_sv\UPDATE_supervisors.txt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5751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47BEC-A9A8-6B0D-0E3F-F6C39A046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35D6770F-2778-59BF-3D79-94FA424A94FF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1A813D4-7C76-F468-D8B3-A7C182061031}"/>
              </a:ext>
            </a:extLst>
          </p:cNvPr>
          <p:cNvSpPr txBox="1"/>
          <p:nvPr/>
        </p:nvSpPr>
        <p:spPr>
          <a:xfrm>
            <a:off x="496957" y="327991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パスワード変更画面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F6764EA-2F5F-8869-1674-C23191F2E1A0}"/>
              </a:ext>
            </a:extLst>
          </p:cNvPr>
          <p:cNvSpPr txBox="1"/>
          <p:nvPr/>
        </p:nvSpPr>
        <p:spPr>
          <a:xfrm>
            <a:off x="4991748" y="1516717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D:\dev\public_lib\museum_app\museum_sv\auth.php</a:t>
            </a:r>
            <a:endParaRPr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181B863-3877-A5BE-9111-B19DF0AB9174}"/>
              </a:ext>
            </a:extLst>
          </p:cNvPr>
          <p:cNvSpPr txBox="1"/>
          <p:nvPr/>
        </p:nvSpPr>
        <p:spPr>
          <a:xfrm>
            <a:off x="5861154" y="3072984"/>
            <a:ext cx="4931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パスワード</a:t>
            </a:r>
            <a:endParaRPr kumimoji="1" lang="en-US" altLang="ja-JP" dirty="0"/>
          </a:p>
          <a:p>
            <a:r>
              <a:rPr lang="en-US" altLang="ja-JP" dirty="0"/>
              <a:t>museum_PASS_001</a:t>
            </a:r>
            <a:endParaRPr kumimoji="1" lang="ja-JP" altLang="en-US" dirty="0"/>
          </a:p>
        </p:txBody>
      </p:sp>
      <p:pic>
        <p:nvPicPr>
          <p:cNvPr id="13" name="図 12" descr="グラフィカル ユーザー インターフェイス, テキスト, アプリケーション, チャットまたはテキスト メッセージ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3AD77CD0-4C74-5DC1-2E4E-56DE22272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752" y="1128233"/>
            <a:ext cx="3264048" cy="51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7260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F3892-5E36-CBB7-0B68-7FEF5EB2C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245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D9DC9-E596-E1C4-FFC9-B87EAC340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40922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4D427-3DFC-5E22-DB6F-53C06FF7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4591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D7C8B-7A26-069D-0F8D-B7BC02C9C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64933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242ED-C764-9A2D-E9AC-C6AFF8227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70054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8F18-B515-BA99-942B-5515D1377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69433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9C857-365B-1946-EF23-7293F9B7F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50438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8E79B-BFA7-CE7F-3889-2F2E7E52E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88744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0E8A9-DAA9-ED74-C871-F457E1630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97875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91096674-7B5B-4D60-8930-032E07D8DC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402806"/>
              </p:ext>
            </p:extLst>
          </p:nvPr>
        </p:nvGraphicFramePr>
        <p:xfrm>
          <a:off x="2941981" y="1969531"/>
          <a:ext cx="3674166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083">
                  <a:extLst>
                    <a:ext uri="{9D8B030D-6E8A-4147-A177-3AD203B41FA5}">
                      <a16:colId xmlns:a16="http://schemas.microsoft.com/office/drawing/2014/main" val="2563546956"/>
                    </a:ext>
                  </a:extLst>
                </a:gridCol>
                <a:gridCol w="1837083">
                  <a:extLst>
                    <a:ext uri="{9D8B030D-6E8A-4147-A177-3AD203B41FA5}">
                      <a16:colId xmlns:a16="http://schemas.microsoft.com/office/drawing/2014/main" val="3501910315"/>
                    </a:ext>
                  </a:extLst>
                </a:gridCol>
              </a:tblGrid>
              <a:tr h="163444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博物館名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博物館コード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91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○○博物館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0001</a:t>
                      </a:r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44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××</a:t>
                      </a:r>
                      <a:r>
                        <a:rPr kumimoji="1" lang="ja-JP" altLang="en-US" sz="1800" dirty="0"/>
                        <a:t>博物館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0002</a:t>
                      </a:r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19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8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231825"/>
                  </a:ext>
                </a:extLst>
              </a:tr>
            </a:tbl>
          </a:graphicData>
        </a:graphic>
      </p:graphicFrame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0409388-7B51-FDB5-54F1-DA9E7C911053}"/>
              </a:ext>
            </a:extLst>
          </p:cNvPr>
          <p:cNvSpPr/>
          <p:nvPr/>
        </p:nvSpPr>
        <p:spPr>
          <a:xfrm>
            <a:off x="2996646" y="4681330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新規登録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234790E-3B55-7B81-CE80-A6361552C99D}"/>
              </a:ext>
            </a:extLst>
          </p:cNvPr>
          <p:cNvSpPr/>
          <p:nvPr/>
        </p:nvSpPr>
        <p:spPr>
          <a:xfrm>
            <a:off x="4232411" y="4681330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削除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D6E912B-9B32-0050-DB2E-A2465454AF25}"/>
              </a:ext>
            </a:extLst>
          </p:cNvPr>
          <p:cNvSpPr/>
          <p:nvPr/>
        </p:nvSpPr>
        <p:spPr>
          <a:xfrm>
            <a:off x="5567568" y="4681330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修正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E297BBC-7F4D-4352-7358-CB2EFC4D0901}"/>
              </a:ext>
            </a:extLst>
          </p:cNvPr>
          <p:cNvSpPr txBox="1"/>
          <p:nvPr/>
        </p:nvSpPr>
        <p:spPr>
          <a:xfrm>
            <a:off x="762828" y="709856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「全体表示（一覧）画面」</a:t>
            </a:r>
            <a:r>
              <a:rPr lang="ja-JP" altLang="en-US" dirty="0"/>
              <a:t>作成</a:t>
            </a:r>
          </a:p>
        </p:txBody>
      </p:sp>
    </p:spTree>
    <p:extLst>
      <p:ext uri="{BB962C8B-B14F-4D97-AF65-F5344CB8AC3E}">
        <p14:creationId xmlns:p14="http://schemas.microsoft.com/office/powerpoint/2010/main" val="3368274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0DB12-BDDF-3AE1-3D1A-8A51F5371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5656500-7C81-CD71-448A-6B6DEEB0E810}"/>
              </a:ext>
            </a:extLst>
          </p:cNvPr>
          <p:cNvSpPr txBox="1"/>
          <p:nvPr/>
        </p:nvSpPr>
        <p:spPr>
          <a:xfrm>
            <a:off x="255932" y="283121"/>
            <a:ext cx="11293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/>
              <a:t>1. DB</a:t>
            </a:r>
            <a:r>
              <a:rPr lang="ja-JP" altLang="en-US" b="1" dirty="0"/>
              <a:t>接続設定ファイル </a:t>
            </a:r>
            <a:r>
              <a:rPr lang="en-US" altLang="ja-JP" b="1" dirty="0"/>
              <a:t>(common/</a:t>
            </a:r>
            <a:r>
              <a:rPr lang="en-US" altLang="ja-JP" b="1" dirty="0" err="1"/>
              <a:t>db_inc.php</a:t>
            </a:r>
            <a:r>
              <a:rPr lang="en-US" altLang="ja-JP" b="1" dirty="0"/>
              <a:t>)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18AD292C-B908-9202-7A6A-8FBC0013DB02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F250CDF-27D5-9BC3-6FDC-1D5CC5893BDC}"/>
              </a:ext>
            </a:extLst>
          </p:cNvPr>
          <p:cNvSpPr txBox="1"/>
          <p:nvPr/>
        </p:nvSpPr>
        <p:spPr>
          <a:xfrm>
            <a:off x="924340" y="1480942"/>
            <a:ext cx="718847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1050" dirty="0" err="1">
                <a:latin typeface="Courier New" panose="02070309020205020404" pitchFamily="49" charset="0"/>
              </a:rPr>
              <a:t>public_html</a:t>
            </a:r>
            <a:r>
              <a:rPr lang="en-US" altLang="ja-JP" sz="1050" dirty="0">
                <a:latin typeface="Courier New" panose="02070309020205020404" pitchFamily="49" charset="0"/>
              </a:rPr>
              <a:t>/</a:t>
            </a:r>
          </a:p>
          <a:p>
            <a:pPr>
              <a:buNone/>
            </a:pPr>
            <a:r>
              <a:rPr lang="en-US" altLang="ja-JP" sz="1050" dirty="0">
                <a:latin typeface="Courier New" panose="02070309020205020404" pitchFamily="49" charset="0"/>
              </a:rPr>
              <a:t>  ├── </a:t>
            </a:r>
            <a:r>
              <a:rPr lang="en-US" altLang="ja-JP" sz="1050" dirty="0" err="1">
                <a:latin typeface="Courier New" panose="02070309020205020404" pitchFamily="49" charset="0"/>
              </a:rPr>
              <a:t>junrei</a:t>
            </a:r>
            <a:r>
              <a:rPr lang="en-US" altLang="ja-JP" sz="1050" dirty="0">
                <a:latin typeface="Courier New" panose="02070309020205020404" pitchFamily="49" charset="0"/>
              </a:rPr>
              <a:t>/            (</a:t>
            </a:r>
            <a:r>
              <a:rPr lang="ja-JP" altLang="en-US" sz="1050" dirty="0">
                <a:latin typeface="Courier New" panose="02070309020205020404" pitchFamily="49" charset="0"/>
              </a:rPr>
              <a:t>既存の聖地巡礼アプリ</a:t>
            </a:r>
            <a:r>
              <a:rPr lang="en-US" altLang="ja-JP" sz="1050" dirty="0"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altLang="ja-JP" sz="1050" dirty="0">
                <a:latin typeface="Courier New" panose="02070309020205020404" pitchFamily="49" charset="0"/>
              </a:rPr>
              <a:t>  │     └── ...</a:t>
            </a:r>
          </a:p>
          <a:p>
            <a:pPr>
              <a:buNone/>
            </a:pPr>
            <a:r>
              <a:rPr lang="en-US" altLang="ja-JP" sz="1050" dirty="0">
                <a:latin typeface="Courier New" panose="02070309020205020404" pitchFamily="49" charset="0"/>
              </a:rPr>
              <a:t>  └── museum/            (</a:t>
            </a:r>
            <a:r>
              <a:rPr lang="ja-JP" altLang="en-US" sz="1050" dirty="0">
                <a:latin typeface="Courier New" panose="02070309020205020404" pitchFamily="49" charset="0"/>
              </a:rPr>
              <a:t>今回の博物館アプリ：ここを新規作成</a:t>
            </a:r>
            <a:r>
              <a:rPr lang="en-US" altLang="ja-JP" sz="1050" dirty="0"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altLang="ja-JP" sz="1050" dirty="0">
                <a:latin typeface="Courier New" panose="02070309020205020404" pitchFamily="49" charset="0"/>
              </a:rPr>
              <a:t>        ├── common/      (DB</a:t>
            </a:r>
            <a:r>
              <a:rPr lang="ja-JP" altLang="en-US" sz="1050" dirty="0">
                <a:latin typeface="Courier New" panose="02070309020205020404" pitchFamily="49" charset="0"/>
              </a:rPr>
              <a:t>設定ファイルを入れる</a:t>
            </a:r>
            <a:r>
              <a:rPr lang="en-US" altLang="ja-JP" sz="1050" dirty="0"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altLang="ja-JP" sz="1050" dirty="0">
                <a:latin typeface="Courier New" panose="02070309020205020404" pitchFamily="49" charset="0"/>
              </a:rPr>
              <a:t>        │     └── </a:t>
            </a:r>
            <a:r>
              <a:rPr lang="en-US" altLang="ja-JP" sz="1050" dirty="0" err="1">
                <a:latin typeface="Courier New" panose="02070309020205020404" pitchFamily="49" charset="0"/>
              </a:rPr>
              <a:t>db_inc.php</a:t>
            </a:r>
            <a:endParaRPr lang="en-US" altLang="ja-JP" sz="105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ja-JP" sz="1050" dirty="0">
                <a:latin typeface="Courier New" panose="02070309020205020404" pitchFamily="49" charset="0"/>
              </a:rPr>
              <a:t>        ├── </a:t>
            </a:r>
            <a:r>
              <a:rPr lang="en-US" altLang="ja-JP" sz="1050" dirty="0" err="1">
                <a:latin typeface="Courier New" panose="02070309020205020404" pitchFamily="49" charset="0"/>
              </a:rPr>
              <a:t>sv</a:t>
            </a:r>
            <a:r>
              <a:rPr lang="en-US" altLang="ja-JP" sz="1050" dirty="0">
                <a:latin typeface="Courier New" panose="02070309020205020404" pitchFamily="49" charset="0"/>
              </a:rPr>
              <a:t>/          (</a:t>
            </a:r>
            <a:r>
              <a:rPr lang="ja-JP" altLang="en-US" sz="1050" dirty="0">
                <a:latin typeface="Courier New" panose="02070309020205020404" pitchFamily="49" charset="0"/>
              </a:rPr>
              <a:t>スーパーバイザー用：博物館の登録など</a:t>
            </a:r>
            <a:r>
              <a:rPr lang="en-US" altLang="ja-JP" sz="1050" dirty="0"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altLang="ja-JP" sz="1050" dirty="0">
                <a:latin typeface="Courier New" panose="02070309020205020404" pitchFamily="49" charset="0"/>
              </a:rPr>
              <a:t>        │     ├── </a:t>
            </a:r>
            <a:r>
              <a:rPr lang="en-US" altLang="ja-JP" sz="1050" dirty="0" err="1">
                <a:latin typeface="Courier New" panose="02070309020205020404" pitchFamily="49" charset="0"/>
              </a:rPr>
              <a:t>index.php</a:t>
            </a:r>
            <a:endParaRPr lang="en-US" altLang="ja-JP" sz="105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ja-JP" sz="1050" dirty="0">
                <a:latin typeface="Courier New" panose="02070309020205020404" pitchFamily="49" charset="0"/>
              </a:rPr>
              <a:t>        │     └── </a:t>
            </a:r>
            <a:r>
              <a:rPr lang="en-US" altLang="ja-JP" sz="1050" dirty="0" err="1">
                <a:latin typeface="Courier New" panose="02070309020205020404" pitchFamily="49" charset="0"/>
              </a:rPr>
              <a:t>add.php</a:t>
            </a:r>
            <a:endParaRPr lang="en-US" altLang="ja-JP" sz="105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ja-JP" sz="1050" dirty="0">
                <a:latin typeface="Courier New" panose="02070309020205020404" pitchFamily="49" charset="0"/>
              </a:rPr>
              <a:t>        ├── admin/       (</a:t>
            </a:r>
            <a:r>
              <a:rPr lang="ja-JP" altLang="en-US" sz="1050" dirty="0">
                <a:latin typeface="Courier New" panose="02070309020205020404" pitchFamily="49" charset="0"/>
              </a:rPr>
              <a:t>各博物館の管理者用：展示物の登録など</a:t>
            </a:r>
            <a:r>
              <a:rPr lang="en-US" altLang="ja-JP" sz="1050" dirty="0"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altLang="ja-JP" sz="1050" dirty="0">
                <a:latin typeface="Courier New" panose="02070309020205020404" pitchFamily="49" charset="0"/>
              </a:rPr>
              <a:t>        │     └── ...</a:t>
            </a:r>
          </a:p>
          <a:p>
            <a:pPr>
              <a:buNone/>
            </a:pPr>
            <a:r>
              <a:rPr lang="en-US" altLang="ja-JP" sz="1050" dirty="0">
                <a:latin typeface="Courier New" panose="02070309020205020404" pitchFamily="49" charset="0"/>
              </a:rPr>
              <a:t>        └── </a:t>
            </a:r>
            <a:r>
              <a:rPr lang="en-US" altLang="ja-JP" sz="1050" dirty="0" err="1">
                <a:latin typeface="Courier New" panose="02070309020205020404" pitchFamily="49" charset="0"/>
              </a:rPr>
              <a:t>index.php</a:t>
            </a:r>
            <a:r>
              <a:rPr lang="en-US" altLang="ja-JP" sz="1050" dirty="0">
                <a:latin typeface="Courier New" panose="02070309020205020404" pitchFamily="49" charset="0"/>
              </a:rPr>
              <a:t>    (</a:t>
            </a:r>
            <a:r>
              <a:rPr lang="ja-JP" altLang="en-US" sz="1050" dirty="0">
                <a:latin typeface="Courier New" panose="02070309020205020404" pitchFamily="49" charset="0"/>
              </a:rPr>
              <a:t>利用者用：</a:t>
            </a:r>
            <a:r>
              <a:rPr lang="en-US" altLang="ja-JP" sz="1050" dirty="0">
                <a:latin typeface="Courier New" panose="02070309020205020404" pitchFamily="49" charset="0"/>
              </a:rPr>
              <a:t>QR</a:t>
            </a:r>
            <a:r>
              <a:rPr lang="ja-JP" altLang="en-US" sz="1050" dirty="0">
                <a:latin typeface="Courier New" panose="02070309020205020404" pitchFamily="49" charset="0"/>
              </a:rPr>
              <a:t>を読み取った時の表示画面</a:t>
            </a:r>
            <a:r>
              <a:rPr lang="en-US" altLang="ja-JP" sz="1050" dirty="0"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573C5F4-9A8B-64C5-B75C-7F2BB3035F69}"/>
              </a:ext>
            </a:extLst>
          </p:cNvPr>
          <p:cNvSpPr txBox="1"/>
          <p:nvPr/>
        </p:nvSpPr>
        <p:spPr>
          <a:xfrm>
            <a:off x="437322" y="933492"/>
            <a:ext cx="509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フォルダ構成</a:t>
            </a:r>
          </a:p>
        </p:txBody>
      </p:sp>
    </p:spTree>
    <p:extLst>
      <p:ext uri="{BB962C8B-B14F-4D97-AF65-F5344CB8AC3E}">
        <p14:creationId xmlns:p14="http://schemas.microsoft.com/office/powerpoint/2010/main" val="30750154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7AA4B17-27B2-72C3-40AB-D12A62B66B90}"/>
              </a:ext>
            </a:extLst>
          </p:cNvPr>
          <p:cNvSpPr txBox="1"/>
          <p:nvPr/>
        </p:nvSpPr>
        <p:spPr>
          <a:xfrm>
            <a:off x="832402" y="774726"/>
            <a:ext cx="609765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ja-JP" altLang="en-US" sz="1600" dirty="0"/>
          </a:p>
          <a:p>
            <a:r>
              <a:rPr lang="ja-JP" altLang="en-US" sz="1600" dirty="0"/>
              <a:t>以下の手順で、今すぐ作成しましょう。</a:t>
            </a:r>
          </a:p>
          <a:p>
            <a:r>
              <a:rPr lang="en-US" altLang="ja-JP" sz="1600" dirty="0"/>
              <a:t>1. </a:t>
            </a:r>
            <a:r>
              <a:rPr lang="ja-JP" altLang="en-US" sz="1600" dirty="0"/>
              <a:t>ファイルを作成する場所</a:t>
            </a:r>
          </a:p>
          <a:p>
            <a:endParaRPr lang="ja-JP" altLang="en-US" sz="1600" dirty="0"/>
          </a:p>
          <a:p>
            <a:r>
              <a:rPr lang="ja-JP" altLang="en-US" sz="1600" dirty="0"/>
              <a:t>エックスサーバーのファイルマネージャで、以下の場所に移動してください。</a:t>
            </a:r>
          </a:p>
          <a:p>
            <a:r>
              <a:rPr lang="en-US" altLang="ja-JP" sz="1600" dirty="0" err="1"/>
              <a:t>public_html</a:t>
            </a:r>
            <a:r>
              <a:rPr lang="en-US" altLang="ja-JP" sz="1600" dirty="0"/>
              <a:t>/museum/ </a:t>
            </a:r>
            <a:r>
              <a:rPr lang="ja-JP" altLang="en-US" sz="1600" dirty="0"/>
              <a:t>の中にある </a:t>
            </a:r>
            <a:r>
              <a:rPr lang="en-US" altLang="ja-JP" sz="1600" dirty="0"/>
              <a:t>common </a:t>
            </a:r>
            <a:r>
              <a:rPr lang="ja-JP" altLang="en-US" sz="1600" dirty="0"/>
              <a:t>フォルダの中です。</a:t>
            </a:r>
          </a:p>
          <a:p>
            <a:r>
              <a:rPr lang="en-US" altLang="ja-JP" sz="1600" dirty="0"/>
              <a:t>2. </a:t>
            </a:r>
            <a:r>
              <a:rPr lang="ja-JP" altLang="en-US" sz="1600" dirty="0"/>
              <a:t>ファイル名</a:t>
            </a:r>
          </a:p>
          <a:p>
            <a:endParaRPr lang="ja-JP" altLang="en-US" sz="1600" dirty="0"/>
          </a:p>
          <a:p>
            <a:r>
              <a:rPr lang="en-US" altLang="ja-JP" sz="1600" dirty="0" err="1"/>
              <a:t>db_inc.php</a:t>
            </a:r>
            <a:endParaRPr lang="en-US" altLang="ja-JP" sz="1600" dirty="0"/>
          </a:p>
          <a:p>
            <a:r>
              <a:rPr lang="ja-JP" altLang="en-US" sz="1600" dirty="0"/>
              <a:t>（すべて小文字です）</a:t>
            </a:r>
          </a:p>
          <a:p>
            <a:r>
              <a:rPr lang="en-US" altLang="ja-JP" sz="1600" dirty="0"/>
              <a:t>3. </a:t>
            </a:r>
            <a:r>
              <a:rPr lang="ja-JP" altLang="en-US" sz="1600" dirty="0"/>
              <a:t>書き込む内容（全文）</a:t>
            </a:r>
          </a:p>
          <a:p>
            <a:endParaRPr lang="ja-JP" altLang="en-US" sz="1600" dirty="0"/>
          </a:p>
          <a:p>
            <a:r>
              <a:rPr lang="ja-JP" altLang="en-US" sz="1600" dirty="0"/>
              <a:t>以下のコードをコピーして貼り付けてください。</a:t>
            </a:r>
            <a:r>
              <a:rPr lang="en-US" altLang="ja-JP" sz="1600" dirty="0"/>
              <a:t>※ XXX </a:t>
            </a:r>
            <a:r>
              <a:rPr lang="ja-JP" altLang="en-US" sz="1600" dirty="0"/>
              <a:t>の部分は、あなたがエックスサーバーのパネルで作成した情報に書き換えてください。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6440843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DD2021E-26D2-7D81-5C61-44089FA6D2C0}"/>
              </a:ext>
            </a:extLst>
          </p:cNvPr>
          <p:cNvSpPr txBox="1"/>
          <p:nvPr/>
        </p:nvSpPr>
        <p:spPr>
          <a:xfrm>
            <a:off x="762828" y="1118058"/>
            <a:ext cx="609765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/>
              <a:t>&lt;?</a:t>
            </a:r>
            <a:r>
              <a:rPr lang="en-US" altLang="ja-JP" sz="1000" dirty="0" err="1"/>
              <a:t>php</a:t>
            </a:r>
            <a:endParaRPr lang="en-US" altLang="ja-JP" sz="1000" dirty="0"/>
          </a:p>
          <a:p>
            <a:r>
              <a:rPr lang="en-US" altLang="ja-JP" sz="1000" dirty="0"/>
              <a:t>/**</a:t>
            </a:r>
          </a:p>
          <a:p>
            <a:r>
              <a:rPr lang="en-US" altLang="ja-JP" sz="1000" dirty="0"/>
              <a:t> * </a:t>
            </a:r>
            <a:r>
              <a:rPr lang="ja-JP" altLang="en-US" sz="1000" dirty="0"/>
              <a:t>データベース接続設定ファイル </a:t>
            </a:r>
            <a:r>
              <a:rPr lang="en-US" altLang="ja-JP" sz="1000" dirty="0"/>
              <a:t>(</a:t>
            </a:r>
            <a:r>
              <a:rPr lang="en-US" altLang="ja-JP" sz="1000" dirty="0" err="1"/>
              <a:t>db_inc.php</a:t>
            </a:r>
            <a:r>
              <a:rPr lang="en-US" altLang="ja-JP" sz="1000" dirty="0"/>
              <a:t>)</a:t>
            </a:r>
          </a:p>
          <a:p>
            <a:r>
              <a:rPr lang="en-US" altLang="ja-JP" sz="1000" dirty="0"/>
              <a:t> * </a:t>
            </a:r>
            <a:r>
              <a:rPr lang="ja-JP" altLang="en-US" sz="1000" dirty="0"/>
              <a:t>このファイルは他のプログラムから読み込まれて使われます</a:t>
            </a:r>
          </a:p>
          <a:p>
            <a:r>
              <a:rPr lang="ja-JP" altLang="en-US" sz="1000" dirty="0"/>
              <a:t> *</a:t>
            </a:r>
            <a:r>
              <a:rPr lang="en-US" altLang="ja-JP" sz="1000" dirty="0"/>
              <a:t>/</a:t>
            </a:r>
          </a:p>
          <a:p>
            <a:endParaRPr lang="en-US" altLang="ja-JP" sz="1000" dirty="0"/>
          </a:p>
          <a:p>
            <a:r>
              <a:rPr lang="en-US" altLang="ja-JP" sz="1000" dirty="0"/>
              <a:t>// --- </a:t>
            </a:r>
            <a:r>
              <a:rPr lang="ja-JP" altLang="en-US" sz="1000" dirty="0"/>
              <a:t>ここを自分のエックスサーバーの情報に書き換えてください </a:t>
            </a:r>
            <a:r>
              <a:rPr lang="en-US" altLang="ja-JP" sz="1000" dirty="0"/>
              <a:t>---</a:t>
            </a:r>
          </a:p>
          <a:p>
            <a:r>
              <a:rPr lang="en-US" altLang="ja-JP" sz="1000" dirty="0"/>
              <a:t>$host = 'mysqlXXX.xserver.jp'; // MySQL</a:t>
            </a:r>
            <a:r>
              <a:rPr lang="ja-JP" altLang="en-US" sz="1000" dirty="0"/>
              <a:t>ホスト名</a:t>
            </a:r>
          </a:p>
          <a:p>
            <a:r>
              <a:rPr lang="en-US" altLang="ja-JP" sz="1000" dirty="0"/>
              <a:t>$</a:t>
            </a:r>
            <a:r>
              <a:rPr lang="en-US" altLang="ja-JP" sz="1000" dirty="0" err="1"/>
              <a:t>dbname</a:t>
            </a:r>
            <a:r>
              <a:rPr lang="en-US" altLang="ja-JP" sz="1000" dirty="0"/>
              <a:t> = '</a:t>
            </a:r>
            <a:r>
              <a:rPr lang="en-US" altLang="ja-JP" sz="1000" dirty="0" err="1"/>
              <a:t>xsXXXX_museum_db</a:t>
            </a:r>
            <a:r>
              <a:rPr lang="en-US" altLang="ja-JP" sz="1000" dirty="0"/>
              <a:t>';  // </a:t>
            </a:r>
            <a:r>
              <a:rPr lang="ja-JP" altLang="en-US" sz="1000" dirty="0"/>
              <a:t>データベース名</a:t>
            </a:r>
          </a:p>
          <a:p>
            <a:r>
              <a:rPr lang="en-US" altLang="ja-JP" sz="1000" dirty="0"/>
              <a:t>$user = '</a:t>
            </a:r>
            <a:r>
              <a:rPr lang="en-US" altLang="ja-JP" sz="1000" dirty="0" err="1"/>
              <a:t>xsXXXX_admin</a:t>
            </a:r>
            <a:r>
              <a:rPr lang="en-US" altLang="ja-JP" sz="1000" dirty="0"/>
              <a:t>';        // </a:t>
            </a:r>
            <a:r>
              <a:rPr lang="ja-JP" altLang="en-US" sz="1000" dirty="0"/>
              <a:t>データベースユーザ名</a:t>
            </a:r>
          </a:p>
          <a:p>
            <a:r>
              <a:rPr lang="en-US" altLang="ja-JP" sz="1000" dirty="0"/>
              <a:t>$pass = '</a:t>
            </a:r>
            <a:r>
              <a:rPr lang="ja-JP" altLang="en-US" sz="1000" dirty="0"/>
              <a:t>あなたのパスワード</a:t>
            </a:r>
            <a:r>
              <a:rPr lang="en-US" altLang="ja-JP" sz="1000" dirty="0"/>
              <a:t>';      // </a:t>
            </a:r>
            <a:r>
              <a:rPr lang="ja-JP" altLang="en-US" sz="1000" dirty="0"/>
              <a:t>データベースパスワード</a:t>
            </a:r>
          </a:p>
          <a:p>
            <a:r>
              <a:rPr lang="en-US" altLang="ja-JP" sz="1000" dirty="0"/>
              <a:t>// -------------------------------------------------------</a:t>
            </a:r>
          </a:p>
          <a:p>
            <a:endParaRPr lang="en-US" altLang="ja-JP" sz="1000" dirty="0"/>
          </a:p>
          <a:p>
            <a:r>
              <a:rPr lang="en-US" altLang="ja-JP" sz="1000" dirty="0"/>
              <a:t>try {</a:t>
            </a:r>
          </a:p>
          <a:p>
            <a:r>
              <a:rPr lang="en-US" altLang="ja-JP" sz="1000" dirty="0"/>
              <a:t>    // </a:t>
            </a:r>
            <a:r>
              <a:rPr lang="ja-JP" altLang="en-US" sz="1000" dirty="0"/>
              <a:t>データベースに接続します</a:t>
            </a:r>
          </a:p>
          <a:p>
            <a:r>
              <a:rPr lang="ja-JP" altLang="en-US" sz="1000" dirty="0"/>
              <a:t>    </a:t>
            </a:r>
            <a:r>
              <a:rPr lang="en-US" altLang="ja-JP" sz="1000" dirty="0"/>
              <a:t>$</a:t>
            </a:r>
            <a:r>
              <a:rPr lang="en-US" altLang="ja-JP" sz="1000" dirty="0" err="1"/>
              <a:t>pdo</a:t>
            </a:r>
            <a:r>
              <a:rPr lang="en-US" altLang="ja-JP" sz="1000" dirty="0"/>
              <a:t> = new PDO("</a:t>
            </a:r>
            <a:r>
              <a:rPr lang="en-US" altLang="ja-JP" sz="1000" dirty="0" err="1"/>
              <a:t>mysql:host</a:t>
            </a:r>
            <a:r>
              <a:rPr lang="en-US" altLang="ja-JP" sz="1000" dirty="0"/>
              <a:t>=$</a:t>
            </a:r>
            <a:r>
              <a:rPr lang="en-US" altLang="ja-JP" sz="1000" dirty="0" err="1"/>
              <a:t>host;dbname</a:t>
            </a:r>
            <a:r>
              <a:rPr lang="en-US" altLang="ja-JP" sz="1000" dirty="0"/>
              <a:t>=$</a:t>
            </a:r>
            <a:r>
              <a:rPr lang="en-US" altLang="ja-JP" sz="1000" dirty="0" err="1"/>
              <a:t>dbname;charset</a:t>
            </a:r>
            <a:r>
              <a:rPr lang="en-US" altLang="ja-JP" sz="1000" dirty="0"/>
              <a:t>=utf8mb4", $user, $pass);</a:t>
            </a:r>
          </a:p>
          <a:p>
            <a:r>
              <a:rPr lang="en-US" altLang="ja-JP" sz="1000" dirty="0"/>
              <a:t>    </a:t>
            </a:r>
          </a:p>
          <a:p>
            <a:r>
              <a:rPr lang="en-US" altLang="ja-JP" sz="1000" dirty="0"/>
              <a:t>    // </a:t>
            </a:r>
            <a:r>
              <a:rPr lang="ja-JP" altLang="en-US" sz="1000" dirty="0"/>
              <a:t>エラーが起きた時に詳細を表示する設定</a:t>
            </a:r>
          </a:p>
          <a:p>
            <a:r>
              <a:rPr lang="ja-JP" altLang="en-US" sz="1000" dirty="0"/>
              <a:t>    </a:t>
            </a:r>
            <a:r>
              <a:rPr lang="en-US" altLang="ja-JP" sz="1000" dirty="0"/>
              <a:t>$</a:t>
            </a:r>
            <a:r>
              <a:rPr lang="en-US" altLang="ja-JP" sz="1000" dirty="0" err="1"/>
              <a:t>pdo</a:t>
            </a:r>
            <a:r>
              <a:rPr lang="en-US" altLang="ja-JP" sz="1000" dirty="0"/>
              <a:t>-&gt;</a:t>
            </a:r>
            <a:r>
              <a:rPr lang="en-US" altLang="ja-JP" sz="1000" dirty="0" err="1"/>
              <a:t>setAttribute</a:t>
            </a:r>
            <a:r>
              <a:rPr lang="en-US" altLang="ja-JP" sz="1000" dirty="0"/>
              <a:t>(PDO::ATTR_ERRMODE, PDO::ERRMODE_EXCEPTION);</a:t>
            </a:r>
          </a:p>
          <a:p>
            <a:r>
              <a:rPr lang="en-US" altLang="ja-JP" sz="1000" dirty="0"/>
              <a:t>    </a:t>
            </a:r>
          </a:p>
          <a:p>
            <a:r>
              <a:rPr lang="en-US" altLang="ja-JP" sz="1000" dirty="0"/>
              <a:t>    // </a:t>
            </a:r>
            <a:r>
              <a:rPr lang="ja-JP" altLang="en-US" sz="1000" dirty="0"/>
              <a:t>データを取得する際の形式を「連想配列」に固定</a:t>
            </a:r>
          </a:p>
          <a:p>
            <a:r>
              <a:rPr lang="ja-JP" altLang="en-US" sz="1000" dirty="0"/>
              <a:t>    </a:t>
            </a:r>
            <a:r>
              <a:rPr lang="en-US" altLang="ja-JP" sz="1000" dirty="0"/>
              <a:t>$</a:t>
            </a:r>
            <a:r>
              <a:rPr lang="en-US" altLang="ja-JP" sz="1000" dirty="0" err="1"/>
              <a:t>pdo</a:t>
            </a:r>
            <a:r>
              <a:rPr lang="en-US" altLang="ja-JP" sz="1000" dirty="0"/>
              <a:t>-&gt;</a:t>
            </a:r>
            <a:r>
              <a:rPr lang="en-US" altLang="ja-JP" sz="1000" dirty="0" err="1"/>
              <a:t>setAttribute</a:t>
            </a:r>
            <a:r>
              <a:rPr lang="en-US" altLang="ja-JP" sz="1000" dirty="0"/>
              <a:t>(PDO::ATTR_DEFAULT_FETCH_MODE, PDO::FETCH_ASSOC);</a:t>
            </a:r>
          </a:p>
          <a:p>
            <a:endParaRPr lang="en-US" altLang="ja-JP" sz="1000" dirty="0"/>
          </a:p>
          <a:p>
            <a:r>
              <a:rPr lang="en-US" altLang="ja-JP" sz="1000" dirty="0"/>
              <a:t>} catch (</a:t>
            </a:r>
            <a:r>
              <a:rPr lang="en-US" altLang="ja-JP" sz="1000" dirty="0" err="1"/>
              <a:t>PDOException</a:t>
            </a:r>
            <a:r>
              <a:rPr lang="en-US" altLang="ja-JP" sz="1000" dirty="0"/>
              <a:t> $e) {</a:t>
            </a:r>
          </a:p>
          <a:p>
            <a:r>
              <a:rPr lang="en-US" altLang="ja-JP" sz="1000" dirty="0"/>
              <a:t>    // </a:t>
            </a:r>
            <a:r>
              <a:rPr lang="ja-JP" altLang="en-US" sz="1000" dirty="0"/>
              <a:t>接続に失敗した場合、エラーを表示して終了します</a:t>
            </a:r>
          </a:p>
          <a:p>
            <a:r>
              <a:rPr lang="ja-JP" altLang="en-US" sz="1000" dirty="0"/>
              <a:t>    </a:t>
            </a:r>
            <a:r>
              <a:rPr lang="en-US" altLang="ja-JP" sz="1000" dirty="0"/>
              <a:t>die("</a:t>
            </a:r>
            <a:r>
              <a:rPr lang="ja-JP" altLang="en-US" sz="1000" dirty="0"/>
              <a:t>データベース接続失敗</a:t>
            </a:r>
            <a:r>
              <a:rPr lang="en-US" altLang="ja-JP" sz="1000" dirty="0"/>
              <a:t>: " . $e-&gt;</a:t>
            </a:r>
            <a:r>
              <a:rPr lang="en-US" altLang="ja-JP" sz="1000" dirty="0" err="1"/>
              <a:t>getMessage</a:t>
            </a:r>
            <a:r>
              <a:rPr lang="en-US" altLang="ja-JP" sz="1000" dirty="0"/>
              <a:t>());</a:t>
            </a:r>
          </a:p>
          <a:p>
            <a:r>
              <a:rPr lang="en-US" altLang="ja-JP" sz="1000" dirty="0"/>
              <a:t>}</a:t>
            </a:r>
            <a:endParaRPr lang="ja-JP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618682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7BAD4F1-3AEC-AE6E-BF37-8A731BBF87B2}"/>
              </a:ext>
            </a:extLst>
          </p:cNvPr>
          <p:cNvSpPr txBox="1"/>
          <p:nvPr/>
        </p:nvSpPr>
        <p:spPr>
          <a:xfrm>
            <a:off x="228600" y="312291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b="1" dirty="0"/>
              <a:t>2. SV</a:t>
            </a:r>
            <a:r>
              <a:rPr lang="ja-JP" altLang="en-US" b="1" dirty="0"/>
              <a:t>全体表示画面 </a:t>
            </a:r>
            <a:r>
              <a:rPr lang="en-US" altLang="ja-JP" b="1" dirty="0"/>
              <a:t>(</a:t>
            </a:r>
            <a:r>
              <a:rPr lang="en-US" altLang="ja-JP" b="1" dirty="0" err="1"/>
              <a:t>sv</a:t>
            </a:r>
            <a:r>
              <a:rPr lang="en-US" altLang="ja-JP" b="1" dirty="0"/>
              <a:t>/</a:t>
            </a:r>
            <a:r>
              <a:rPr lang="en-US" altLang="ja-JP" b="1" dirty="0" err="1"/>
              <a:t>index.php</a:t>
            </a:r>
            <a:r>
              <a:rPr lang="en-US" altLang="ja-JP" b="1" dirty="0"/>
              <a:t>)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3CBD5435-4EB3-31CB-CA15-2C7A887384CF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C040C6D-72BE-9805-1948-35C469D4418B}"/>
              </a:ext>
            </a:extLst>
          </p:cNvPr>
          <p:cNvSpPr txBox="1"/>
          <p:nvPr/>
        </p:nvSpPr>
        <p:spPr>
          <a:xfrm>
            <a:off x="405019" y="1187583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仕様書</a:t>
            </a:r>
            <a:r>
              <a:rPr lang="en-US" altLang="ja-JP" dirty="0"/>
              <a:t>6</a:t>
            </a:r>
            <a:r>
              <a:rPr lang="ja-JP" altLang="en-US" dirty="0"/>
              <a:t>ページ「全体表示では登録済みの全博物館の一覧が表示される」を再現したコードです。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634EF59-6034-CFC3-4C2E-A356133234AA}"/>
              </a:ext>
            </a:extLst>
          </p:cNvPr>
          <p:cNvSpPr txBox="1"/>
          <p:nvPr/>
        </p:nvSpPr>
        <p:spPr>
          <a:xfrm>
            <a:off x="633618" y="1942956"/>
            <a:ext cx="9971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altLang="ja-JP" dirty="0"/>
              <a:t>D:\dev\public_lib\museum_app\museum_sv\index.php</a:t>
            </a:r>
            <a:endParaRPr lang="ja-JP" altLang="en-US" dirty="0"/>
          </a:p>
        </p:txBody>
      </p:sp>
      <p:pic>
        <p:nvPicPr>
          <p:cNvPr id="14" name="図 13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F4471318-58AB-DAA6-7510-D529B8029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149" y="3146608"/>
            <a:ext cx="3152381" cy="25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621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2304</TotalTime>
  <Words>1903</Words>
  <Application>Microsoft Office PowerPoint</Application>
  <PresentationFormat>ワイド画面</PresentationFormat>
  <Paragraphs>188</Paragraphs>
  <Slides>38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38</vt:i4>
      </vt:variant>
    </vt:vector>
  </HeadingPairs>
  <TitlesOfParts>
    <vt:vector size="44" baseType="lpstr">
      <vt:lpstr>游ゴシック</vt:lpstr>
      <vt:lpstr>游ゴシック Light</vt:lpstr>
      <vt:lpstr>Arial</vt:lpstr>
      <vt:lpstr>Courier New</vt:lpstr>
      <vt:lpstr>Wingdings</vt:lpstr>
      <vt:lpstr>Office テーマ</vt:lpstr>
      <vt:lpstr>展示物案内アプリ 開発手順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takayuki matsunaga</dc:creator>
  <cp:lastModifiedBy>takayuki matsunaga</cp:lastModifiedBy>
  <cp:revision>10</cp:revision>
  <dcterms:created xsi:type="dcterms:W3CDTF">2026-01-07T11:30:59Z</dcterms:created>
  <dcterms:modified xsi:type="dcterms:W3CDTF">2026-01-12T07:14:31Z</dcterms:modified>
</cp:coreProperties>
</file>