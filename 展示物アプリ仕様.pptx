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85" r:id="rId7"/>
    <p:sldId id="287" r:id="rId8"/>
    <p:sldId id="288" r:id="rId9"/>
    <p:sldId id="295" r:id="rId10"/>
    <p:sldId id="297" r:id="rId11"/>
    <p:sldId id="298" r:id="rId12"/>
    <p:sldId id="299" r:id="rId13"/>
    <p:sldId id="300" r:id="rId14"/>
    <p:sldId id="301" r:id="rId15"/>
    <p:sldId id="320" r:id="rId16"/>
    <p:sldId id="303" r:id="rId17"/>
    <p:sldId id="307" r:id="rId18"/>
    <p:sldId id="308" r:id="rId19"/>
    <p:sldId id="304" r:id="rId20"/>
    <p:sldId id="305" r:id="rId21"/>
    <p:sldId id="306" r:id="rId22"/>
    <p:sldId id="309" r:id="rId23"/>
    <p:sldId id="310" r:id="rId24"/>
    <p:sldId id="311" r:id="rId25"/>
    <p:sldId id="313" r:id="rId26"/>
    <p:sldId id="312" r:id="rId27"/>
    <p:sldId id="314" r:id="rId28"/>
    <p:sldId id="315" r:id="rId29"/>
    <p:sldId id="316" r:id="rId30"/>
    <p:sldId id="317" r:id="rId31"/>
    <p:sldId id="318" r:id="rId32"/>
    <p:sldId id="319" r:id="rId33"/>
    <p:sldId id="322" r:id="rId34"/>
    <p:sldId id="323" r:id="rId35"/>
    <p:sldId id="324" r:id="rId36"/>
    <p:sldId id="325" r:id="rId37"/>
    <p:sldId id="328" r:id="rId38"/>
    <p:sldId id="329" r:id="rId39"/>
    <p:sldId id="321" r:id="rId40"/>
    <p:sldId id="326" r:id="rId41"/>
    <p:sldId id="327" r:id="rId42"/>
    <p:sldId id="302" r:id="rId43"/>
    <p:sldId id="268" r:id="rId44"/>
    <p:sldId id="273" r:id="rId45"/>
    <p:sldId id="276" r:id="rId46"/>
    <p:sldId id="277" r:id="rId47"/>
    <p:sldId id="284" r:id="rId48"/>
    <p:sldId id="278" r:id="rId49"/>
    <p:sldId id="279" r:id="rId50"/>
    <p:sldId id="280" r:id="rId51"/>
    <p:sldId id="281" r:id="rId52"/>
    <p:sldId id="282" r:id="rId53"/>
    <p:sldId id="283" r:id="rId54"/>
  </p:sldIdLst>
  <p:sldSz cx="12192000" cy="6858000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E9436F-2CAD-F23F-0918-6EE59F3ED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256D4D-0270-FBF2-CCEB-B21B8D2EA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959A09-648A-D69A-562C-C0A0DBC6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8AFA4F-3557-9210-F691-8C6BE9B7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574804-CEBC-8DC1-860C-587545CB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90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57AB91-1C89-59E6-4862-03650FC7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65F893-9B8D-7760-5C2D-F74BA557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6952E8-141B-58F8-FDF0-3AB191A0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0F5A06-A16C-97E6-7135-3596FD95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56AA48-3472-73B3-FA39-AED8DDB3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58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699B4-D681-96ED-85F3-A9C22ED7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A827F9-9400-B1F3-4CBF-7D82C13E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1A7162-DFEE-81AF-A3D7-D1EB01F8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D6DF82-DCCE-1F90-9072-C815440E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9154E7-E425-C3BC-F7D0-B2D5592C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48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D57F6-4CDC-A071-D751-900631B3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F8B84-C988-A7B3-7E41-B8C8B0E15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AF116F-5A88-28FF-2A74-DD959911A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AD17A0-85E0-FF13-B124-19DAEACC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5436CF-7593-CA15-C6F3-EF2030BD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1A1F35-35F2-A2B7-51E1-F690949F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50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90393-AFDE-AF55-32AA-59604CD1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D696D6-7C75-831B-6040-631BD959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75F8A1-F254-24D0-B002-F65AE0AB3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8E3255-8414-AE75-79F1-D73A6D198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8D5859-5AC6-A987-4D88-F30D56B3D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D28E6A-F543-3B76-331A-9D0AC483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BDF50B-E432-974F-E5B7-297D800E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B49E64-1EC0-2B2B-EA1D-DD8D51CD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32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1893F-F700-63ED-C702-0AD734A6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1FC8760-1AF0-E340-0BD2-1B68DB0F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74A591-2C4E-4D89-04A2-EB36C1EB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8CD758-AA16-AB8F-480F-C9A1A487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601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48014F-FCEF-8056-3310-EA9CA568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CF08A5-64AE-1B56-9557-FB2DCB85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13CCC4-957B-AC24-A010-695D3441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63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6EDF4-DFE6-B282-0913-DD1C6757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2AC957-C628-6DEB-3DD4-F1148143C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CF1959-E829-15A1-D82F-B539F64A6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68DFAA-6279-2274-5716-E5DB4AD8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D7F468-CC2B-E4FA-0F0D-A26686A3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58F911-2DD8-C479-EBCD-C1C409A6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68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2009D-6342-C8DD-3251-651A7C90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0EFF52-D598-993A-1DF5-6736BED71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CD27C5-2049-C780-DC47-DBB7A06BC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AD6FCF-E1A9-4468-3ADF-80BA1118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990D3F-941B-1DD2-65BF-205AEF52E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A4042E-60CE-0811-FF37-B2043BB0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77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CD8523-E602-B14E-0466-0A201974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EDE8FA-960F-B2E6-CF8B-AF70E202F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FE48BD-1CF6-A6E2-7200-FFDCC641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204CED-3AFF-E117-9398-D42B7596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CB7FA1-B545-C322-C900-9797B9D7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62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56C22E-296A-2E06-491A-DE4DC3329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E8222A-43C7-B5B5-2888-0450A4C77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F977BE-2ED6-B074-C083-53BF6C9D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D868B3-A0E2-0224-BB00-3DCCE283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BBCB99-CC24-1701-4BAE-3D98D7D0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17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D6A0EF-65D2-BDD0-2982-70AA33FB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9A00E-915B-AB00-D46B-6FA995EF7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A33F8-8E40-0B02-502F-070D3F405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50A6-655A-40A4-943B-9A709E30A8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323FA1-718A-383C-5129-25D1134CA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331510-0614-EA74-2D24-22EE33E1C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68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A3B4C-555F-C05F-8660-5361B7542B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博物館アプリ企画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C43E27B-C69D-2A76-FB5F-99CAB35DE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2026/01/09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514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F074C25-5D8C-E0B3-86B8-E07F9078231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B52376-17C6-F2FF-4942-75BF19E077C4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アプリケーション方針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1DB01D-415F-F95D-F5CE-D13C5B53D9FD}"/>
              </a:ext>
            </a:extLst>
          </p:cNvPr>
          <p:cNvSpPr txBox="1"/>
          <p:nvPr/>
        </p:nvSpPr>
        <p:spPr>
          <a:xfrm>
            <a:off x="616226" y="4403252"/>
            <a:ext cx="11549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サーバーは</a:t>
            </a:r>
            <a:r>
              <a:rPr kumimoji="1" lang="en-US" altLang="ja-JP" dirty="0" err="1"/>
              <a:t>xserver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博物館の展示物と案内内容を簡単に管理できる機能を提供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案内内容の管理は</a:t>
            </a:r>
            <a:r>
              <a:rPr kumimoji="1" lang="en-US" altLang="ja-JP" dirty="0"/>
              <a:t>MySQL DB</a:t>
            </a:r>
            <a:r>
              <a:rPr kumimoji="1" lang="ja-JP" altLang="en-US" dirty="0"/>
              <a:t>で行う</a:t>
            </a:r>
            <a:r>
              <a:rPr lang="en-US" altLang="ja-JP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HTML</a:t>
            </a:r>
            <a:r>
              <a:rPr lang="ja-JP" altLang="en-US" dirty="0"/>
              <a:t>の知識が無くても入力できるように入力用のインターフェースを用意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3AA5321-50B4-949A-5486-6DCF44822D18}"/>
              </a:ext>
            </a:extLst>
          </p:cNvPr>
          <p:cNvSpPr txBox="1"/>
          <p:nvPr/>
        </p:nvSpPr>
        <p:spPr>
          <a:xfrm>
            <a:off x="407504" y="1083365"/>
            <a:ext cx="560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■アプリケーション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7C2E1E-72B6-7147-9323-AC64AE20C2A9}"/>
              </a:ext>
            </a:extLst>
          </p:cNvPr>
          <p:cNvSpPr txBox="1"/>
          <p:nvPr/>
        </p:nvSpPr>
        <p:spPr>
          <a:xfrm>
            <a:off x="530087" y="1531418"/>
            <a:ext cx="115492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一つの博物館アプリ（仮称）で複数の博物館に対応する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アプリケーションはブラウザで行う、</a:t>
            </a:r>
            <a:r>
              <a:rPr kumimoji="1" lang="en-US" altLang="ja-JP" dirty="0"/>
              <a:t>PWA</a:t>
            </a:r>
            <a:r>
              <a:rPr kumimoji="1" lang="ja-JP" altLang="en-US" dirty="0"/>
              <a:t>不要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博物館アプリのトップページで対象博物館を設定できる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QR</a:t>
            </a:r>
            <a:r>
              <a:rPr lang="ja-JP" altLang="en-US" dirty="0"/>
              <a:t>コードを読むことでダイレクトに特定の博物館のトップページに進む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案内は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コードを読むと展示物の紹介を文字と音声で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案内は多言語対応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博物館の館内地図表示</a:t>
            </a:r>
            <a:endParaRPr kumimoji="1"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546B17-5771-F1B1-1F2E-CF92013DF797}"/>
              </a:ext>
            </a:extLst>
          </p:cNvPr>
          <p:cNvSpPr txBox="1"/>
          <p:nvPr/>
        </p:nvSpPr>
        <p:spPr>
          <a:xfrm>
            <a:off x="530087" y="3907307"/>
            <a:ext cx="560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■案内内容の管理</a:t>
            </a:r>
          </a:p>
        </p:txBody>
      </p:sp>
    </p:spTree>
    <p:extLst>
      <p:ext uri="{BB962C8B-B14F-4D97-AF65-F5344CB8AC3E}">
        <p14:creationId xmlns:p14="http://schemas.microsoft.com/office/powerpoint/2010/main" val="133168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DC5C270-0C95-7AD0-3877-B4EFF61B809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71577A-4021-4AF3-8AE8-98BBB0446C6C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画面遷移（利用者）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16CD204-11BE-725A-F2EF-133B704BB4A8}"/>
              </a:ext>
            </a:extLst>
          </p:cNvPr>
          <p:cNvSpPr/>
          <p:nvPr/>
        </p:nvSpPr>
        <p:spPr>
          <a:xfrm>
            <a:off x="834937" y="1406892"/>
            <a:ext cx="1078396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○○博物館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B62A116-0DB9-425D-A572-A25AFB61C7EC}"/>
              </a:ext>
            </a:extLst>
          </p:cNvPr>
          <p:cNvSpPr/>
          <p:nvPr/>
        </p:nvSpPr>
        <p:spPr>
          <a:xfrm>
            <a:off x="834937" y="1798192"/>
            <a:ext cx="1078396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××</a:t>
            </a:r>
            <a:r>
              <a:rPr kumimoji="1" lang="ja-JP" altLang="en-US" sz="1200" dirty="0">
                <a:solidFill>
                  <a:schemeClr val="tx1"/>
                </a:solidFill>
              </a:rPr>
              <a:t>博物館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835FD68-B3DB-BF38-BF2E-1892F45107C2}"/>
              </a:ext>
            </a:extLst>
          </p:cNvPr>
          <p:cNvSpPr/>
          <p:nvPr/>
        </p:nvSpPr>
        <p:spPr>
          <a:xfrm>
            <a:off x="735497" y="1294177"/>
            <a:ext cx="1321904" cy="10017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254587-B090-1CCB-EE31-DC5EB4EBEE6D}"/>
              </a:ext>
            </a:extLst>
          </p:cNvPr>
          <p:cNvSpPr txBox="1"/>
          <p:nvPr/>
        </p:nvSpPr>
        <p:spPr>
          <a:xfrm>
            <a:off x="705679" y="868090"/>
            <a:ext cx="138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博物館選択画面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8EA15D-E23D-B168-08F6-B854C67715D7}"/>
              </a:ext>
            </a:extLst>
          </p:cNvPr>
          <p:cNvSpPr/>
          <p:nvPr/>
        </p:nvSpPr>
        <p:spPr>
          <a:xfrm>
            <a:off x="2877429" y="1294177"/>
            <a:ext cx="1321904" cy="504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540F72F-1C4C-1305-CE3C-DF12F1F80A54}"/>
              </a:ext>
            </a:extLst>
          </p:cNvPr>
          <p:cNvSpPr txBox="1"/>
          <p:nvPr/>
        </p:nvSpPr>
        <p:spPr>
          <a:xfrm>
            <a:off x="2673627" y="942634"/>
            <a:ext cx="2007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○○博物館トップ画面</a:t>
            </a: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1831295B-E33B-B4DC-1F32-614FEC87F46A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1913333" y="1545392"/>
            <a:ext cx="964096" cy="7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QRコード作成【ずっと無料・無制限】／QRのススメ">
            <a:extLst>
              <a:ext uri="{FF2B5EF4-FFF2-40B4-BE49-F238E27FC236}">
                <a16:creationId xmlns:a16="http://schemas.microsoft.com/office/drawing/2014/main" id="{2EA55849-B200-F577-FA21-07508D526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286" y="2487397"/>
            <a:ext cx="443789" cy="41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944A5FB-EEE5-08C2-3264-D376A853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2218" y="2445024"/>
            <a:ext cx="1088230" cy="1088230"/>
          </a:xfrm>
          <a:prstGeom prst="rect">
            <a:avLst/>
          </a:prstGeom>
        </p:spPr>
      </p:pic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35BB434B-76AF-7F8A-D6F3-AB0DF26AC757}"/>
              </a:ext>
            </a:extLst>
          </p:cNvPr>
          <p:cNvCxnSpPr>
            <a:cxnSpLocks/>
            <a:stCxn id="18" idx="1"/>
            <a:endCxn id="13" idx="2"/>
          </p:cNvCxnSpPr>
          <p:nvPr/>
        </p:nvCxnSpPr>
        <p:spPr>
          <a:xfrm flipV="1">
            <a:off x="1610448" y="1798192"/>
            <a:ext cx="1927933" cy="11909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58A4AC-9090-2ED9-8FD3-021EED052282}"/>
              </a:ext>
            </a:extLst>
          </p:cNvPr>
          <p:cNvSpPr txBox="1"/>
          <p:nvPr/>
        </p:nvSpPr>
        <p:spPr>
          <a:xfrm>
            <a:off x="1396448" y="3050374"/>
            <a:ext cx="1838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QR</a:t>
            </a:r>
            <a:r>
              <a:rPr kumimoji="1" lang="ja-JP" altLang="en-US" sz="1200" dirty="0"/>
              <a:t>コードをリードしてダイレクトに対象博物館のトップページ表示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38E0C43-6758-F2F0-2AAA-DCAE50A5D867}"/>
              </a:ext>
            </a:extLst>
          </p:cNvPr>
          <p:cNvSpPr txBox="1"/>
          <p:nvPr/>
        </p:nvSpPr>
        <p:spPr>
          <a:xfrm>
            <a:off x="4979504" y="1153445"/>
            <a:ext cx="2435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■トップページ内容</a:t>
            </a:r>
            <a:endParaRPr kumimoji="1" lang="en-US" altLang="ja-JP" dirty="0"/>
          </a:p>
          <a:p>
            <a:r>
              <a:rPr kumimoji="1" lang="ja-JP" altLang="en-US" dirty="0"/>
              <a:t>以下のリンク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博物館の説明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QR</a:t>
            </a:r>
            <a:r>
              <a:rPr kumimoji="1" lang="ja-JP" altLang="en-US" dirty="0"/>
              <a:t>コードリーダー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D73553B-F9CB-0E19-1231-F7D85239BA92}"/>
              </a:ext>
            </a:extLst>
          </p:cNvPr>
          <p:cNvSpPr txBox="1"/>
          <p:nvPr/>
        </p:nvSpPr>
        <p:spPr>
          <a:xfrm>
            <a:off x="834937" y="46614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■博物館の説明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A17AF0E-29F3-845A-703F-B0A770731AEF}"/>
              </a:ext>
            </a:extLst>
          </p:cNvPr>
          <p:cNvSpPr txBox="1"/>
          <p:nvPr/>
        </p:nvSpPr>
        <p:spPr>
          <a:xfrm>
            <a:off x="1108212" y="5194491"/>
            <a:ext cx="622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簡単な紹介文と画像</a:t>
            </a:r>
          </a:p>
        </p:txBody>
      </p:sp>
    </p:spTree>
    <p:extLst>
      <p:ext uri="{BB962C8B-B14F-4D97-AF65-F5344CB8AC3E}">
        <p14:creationId xmlns:p14="http://schemas.microsoft.com/office/powerpoint/2010/main" val="23046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5F9F-35CD-63BB-0C17-D6F0C79D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6E1EF0D-0BBC-A313-CB1A-1814C352AD0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BAC101-05AC-6711-8E35-FBD5FD62450A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コードリーダから展示物紹介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1B5432-7C5B-D3B3-5264-CCC1A35AFE27}"/>
              </a:ext>
            </a:extLst>
          </p:cNvPr>
          <p:cNvSpPr txBox="1"/>
          <p:nvPr/>
        </p:nvSpPr>
        <p:spPr>
          <a:xfrm>
            <a:off x="556592" y="942634"/>
            <a:ext cx="198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画面イメージ</a:t>
            </a:r>
          </a:p>
        </p:txBody>
      </p:sp>
      <p:pic>
        <p:nvPicPr>
          <p:cNvPr id="6" name="図 5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9DEC15E6-EB60-2B73-FA84-7FD3500B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82" y="1274165"/>
            <a:ext cx="3360695" cy="538505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65383C-7EC4-89E4-ACD6-D2D67AB2B1CB}"/>
              </a:ext>
            </a:extLst>
          </p:cNvPr>
          <p:cNvSpPr txBox="1"/>
          <p:nvPr/>
        </p:nvSpPr>
        <p:spPr>
          <a:xfrm>
            <a:off x="1550505" y="1908313"/>
            <a:ext cx="3399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QR</a:t>
            </a:r>
            <a:r>
              <a:rPr kumimoji="1" lang="ja-JP" altLang="en-US" b="1" dirty="0"/>
              <a:t>コードを読んでください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A1C2295-C173-0F80-A332-C75CF237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066" y="2719716"/>
            <a:ext cx="1978403" cy="1860640"/>
          </a:xfrm>
          <a:prstGeom prst="rect">
            <a:avLst/>
          </a:prstGeom>
        </p:spPr>
      </p:pic>
      <p:pic>
        <p:nvPicPr>
          <p:cNvPr id="21" name="図 20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39B75BAD-1936-9281-BCAA-B50904FA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922" y="1105199"/>
            <a:ext cx="3399123" cy="5446627"/>
          </a:xfrm>
          <a:prstGeom prst="rect">
            <a:avLst/>
          </a:prstGeom>
        </p:spPr>
      </p:pic>
      <p:pic>
        <p:nvPicPr>
          <p:cNvPr id="23" name="図 22" descr="テーブル, 座る, ベッド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C69D530-DF1B-4D97-200B-228B17998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137" y="1979610"/>
            <a:ext cx="2232562" cy="2669962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BCA050-EFD7-369D-2565-BD4F1F03F502}"/>
              </a:ext>
            </a:extLst>
          </p:cNvPr>
          <p:cNvSpPr txBox="1"/>
          <p:nvPr/>
        </p:nvSpPr>
        <p:spPr>
          <a:xfrm>
            <a:off x="7589076" y="5098787"/>
            <a:ext cx="223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FDCC9AA-7B59-08A1-5ADF-33AECEF9CAEE}"/>
              </a:ext>
            </a:extLst>
          </p:cNvPr>
          <p:cNvSpPr txBox="1"/>
          <p:nvPr/>
        </p:nvSpPr>
        <p:spPr>
          <a:xfrm>
            <a:off x="8542844" y="4649572"/>
            <a:ext cx="735495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n>
                  <a:solidFill>
                    <a:schemeClr val="accent1"/>
                  </a:solidFill>
                </a:ln>
              </a:rPr>
              <a:t>音声</a:t>
            </a:r>
          </a:p>
        </p:txBody>
      </p:sp>
      <p:sp>
        <p:nvSpPr>
          <p:cNvPr id="27" name="吹き出し: 四角形 26">
            <a:extLst>
              <a:ext uri="{FF2B5EF4-FFF2-40B4-BE49-F238E27FC236}">
                <a16:creationId xmlns:a16="http://schemas.microsoft.com/office/drawing/2014/main" id="{0841179F-A73D-D7A0-5850-570278C83C5F}"/>
              </a:ext>
            </a:extLst>
          </p:cNvPr>
          <p:cNvSpPr/>
          <p:nvPr/>
        </p:nvSpPr>
        <p:spPr>
          <a:xfrm>
            <a:off x="10367064" y="3406418"/>
            <a:ext cx="1401418" cy="677651"/>
          </a:xfrm>
          <a:prstGeom prst="wedgeRectCallout">
            <a:avLst>
              <a:gd name="adj1" fmla="val -110515"/>
              <a:gd name="adj2" fmla="val 15490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音声再生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D0A2E3E-26E1-0F27-8377-36D5965EA359}"/>
              </a:ext>
            </a:extLst>
          </p:cNvPr>
          <p:cNvSpPr/>
          <p:nvPr/>
        </p:nvSpPr>
        <p:spPr>
          <a:xfrm>
            <a:off x="7141267" y="5818569"/>
            <a:ext cx="11086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戻る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9140CC7F-E329-E2D4-E91F-6249AD989646}"/>
              </a:ext>
            </a:extLst>
          </p:cNvPr>
          <p:cNvCxnSpPr>
            <a:stCxn id="6" idx="3"/>
            <a:endCxn id="21" idx="1"/>
          </p:cNvCxnSpPr>
          <p:nvPr/>
        </p:nvCxnSpPr>
        <p:spPr>
          <a:xfrm flipV="1">
            <a:off x="4758077" y="3828513"/>
            <a:ext cx="1830845" cy="138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1AAC775-F688-A2A2-8DC6-0012ABBC585A}"/>
              </a:ext>
            </a:extLst>
          </p:cNvPr>
          <p:cNvCxnSpPr>
            <a:cxnSpLocks/>
          </p:cNvCxnSpPr>
          <p:nvPr/>
        </p:nvCxnSpPr>
        <p:spPr>
          <a:xfrm flipH="1">
            <a:off x="4808485" y="6003235"/>
            <a:ext cx="23327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1BADCF7-0A54-B2F9-D155-449E7B72FB8F}"/>
              </a:ext>
            </a:extLst>
          </p:cNvPr>
          <p:cNvSpPr/>
          <p:nvPr/>
        </p:nvSpPr>
        <p:spPr>
          <a:xfrm>
            <a:off x="1907665" y="5915366"/>
            <a:ext cx="2097804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トップ画面に戻る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3EAE48-9704-20BE-2E00-EBF26D19A263}"/>
              </a:ext>
            </a:extLst>
          </p:cNvPr>
          <p:cNvSpPr txBox="1"/>
          <p:nvPr/>
        </p:nvSpPr>
        <p:spPr>
          <a:xfrm>
            <a:off x="6967330" y="1520687"/>
            <a:ext cx="24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9161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9A5F-EA38-B909-CB71-06C5141C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5EF8F97-1725-EB81-70FC-BE6CE30B0F17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2E6617-0187-0E9A-2D30-978B81F58C84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管理機能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CE07053-07AA-8E69-8714-0078AE200A66}"/>
              </a:ext>
            </a:extLst>
          </p:cNvPr>
          <p:cNvSpPr txBox="1"/>
          <p:nvPr/>
        </p:nvSpPr>
        <p:spPr>
          <a:xfrm>
            <a:off x="407504" y="1093304"/>
            <a:ext cx="112610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ルート権限者＝</a:t>
            </a:r>
            <a:r>
              <a:rPr kumimoji="1" lang="en-US" altLang="ja-JP" dirty="0" err="1"/>
              <a:t>xserver</a:t>
            </a:r>
            <a:r>
              <a:rPr kumimoji="1" lang="ja-JP" altLang="en-US" dirty="0"/>
              <a:t>の契約者＝１名のみ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ja-JP" dirty="0"/>
              <a:t>DB</a:t>
            </a:r>
            <a:r>
              <a:rPr lang="ja-JP" altLang="en-US" dirty="0"/>
              <a:t>を直接調査できる権限</a:t>
            </a:r>
            <a:endParaRPr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入出力用のインターフェースは無し</a:t>
            </a:r>
            <a:r>
              <a:rPr kumimoji="1" lang="en-US" altLang="ja-JP" dirty="0"/>
              <a:t>=</a:t>
            </a:r>
            <a:r>
              <a:rPr kumimoji="1" lang="en-US" altLang="ja-JP" dirty="0" err="1"/>
              <a:t>xserver</a:t>
            </a:r>
            <a:r>
              <a:rPr kumimoji="1" lang="ja-JP" altLang="en-US" dirty="0"/>
              <a:t>の管理画面を利用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スーパーバイザーを登録／変更／削除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スーパーバイザーパスワードの強制リセット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全体の管理者（スーパーバイザー）の定義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スーパーバイザーは複数可能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ルート権限者が登録できる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スーパーバイザーは</a:t>
            </a:r>
            <a:r>
              <a:rPr lang="en-US" altLang="ja-JP" dirty="0"/>
              <a:t>SQL</a:t>
            </a:r>
            <a:r>
              <a:rPr lang="ja-JP" altLang="en-US" dirty="0"/>
              <a:t>を利用した</a:t>
            </a:r>
            <a:r>
              <a:rPr lang="en-US" altLang="ja-JP" dirty="0"/>
              <a:t>DB</a:t>
            </a:r>
            <a:r>
              <a:rPr lang="ja-JP" altLang="en-US" dirty="0"/>
              <a:t>管理はできない</a:t>
            </a:r>
            <a:endParaRPr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スーパーバイザーパスワードは自身で変更できる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スーパーバイザーの権限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博物館の登録／削除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博物館の管理者の登録／削除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博物館の管理者の権限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展示物の登録（本展示システムから番号が提供される）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以下上記番号に対して以下の情報を付加できる</a:t>
            </a:r>
            <a:endParaRPr kumimoji="1" lang="en-US" altLang="ja-JP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画像／音声／文字</a:t>
            </a:r>
            <a:endParaRPr kumimoji="1" lang="en-US" altLang="ja-JP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音声／文字は多国語対応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登録展示物の削除</a:t>
            </a:r>
            <a:endParaRPr kumimoji="1" lang="en-US" altLang="ja-JP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1" lang="ja-JP" altLang="en-US" dirty="0"/>
              <a:t>管理画面は</a:t>
            </a:r>
            <a:r>
              <a:rPr kumimoji="1" lang="en-US" altLang="ja-JP" dirty="0"/>
              <a:t>PC</a:t>
            </a:r>
            <a:r>
              <a:rPr kumimoji="1" lang="ja-JP" altLang="en-US" dirty="0"/>
              <a:t>前提とする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151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A30E-E40E-F066-54B3-8854A07A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0A79715-C813-8BA2-8F70-B7D2D4A41A4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B4C2C6-6D19-CC6E-372C-0DB41DE54EF0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管理階層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66837A-5D1D-CCA5-2E9A-D1074CD01FA9}"/>
              </a:ext>
            </a:extLst>
          </p:cNvPr>
          <p:cNvSpPr txBox="1"/>
          <p:nvPr/>
        </p:nvSpPr>
        <p:spPr>
          <a:xfrm>
            <a:off x="268068" y="874570"/>
            <a:ext cx="111318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ルート権限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447D6A-25ED-5C5C-3697-14D2E6A24E75}"/>
              </a:ext>
            </a:extLst>
          </p:cNvPr>
          <p:cNvSpPr txBox="1"/>
          <p:nvPr/>
        </p:nvSpPr>
        <p:spPr>
          <a:xfrm>
            <a:off x="1093303" y="1351361"/>
            <a:ext cx="1451401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スーパーバイザ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80B943A-8DB5-7515-3F55-97C6DA974F68}"/>
              </a:ext>
            </a:extLst>
          </p:cNvPr>
          <p:cNvSpPr txBox="1"/>
          <p:nvPr/>
        </p:nvSpPr>
        <p:spPr>
          <a:xfrm>
            <a:off x="2832653" y="1830316"/>
            <a:ext cx="128214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博物館管理者</a:t>
            </a:r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E276C327-A237-F5AE-C26D-734656909C1C}"/>
              </a:ext>
            </a:extLst>
          </p:cNvPr>
          <p:cNvCxnSpPr>
            <a:cxnSpLocks/>
            <a:stCxn id="3" idx="2"/>
            <a:endCxn id="10" idx="1"/>
          </p:cNvCxnSpPr>
          <p:nvPr/>
        </p:nvCxnSpPr>
        <p:spPr>
          <a:xfrm rot="16200000" flipH="1">
            <a:off x="2155600" y="1291763"/>
            <a:ext cx="340456" cy="10136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0459E3A-0D6B-6951-4F9C-3AA5DB636BF6}"/>
              </a:ext>
            </a:extLst>
          </p:cNvPr>
          <p:cNvSpPr txBox="1"/>
          <p:nvPr/>
        </p:nvSpPr>
        <p:spPr>
          <a:xfrm>
            <a:off x="7148036" y="1530593"/>
            <a:ext cx="130051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データ編集者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5F69937-14E4-B421-6D47-D2AF6F6823CB}"/>
              </a:ext>
            </a:extLst>
          </p:cNvPr>
          <p:cNvSpPr txBox="1"/>
          <p:nvPr/>
        </p:nvSpPr>
        <p:spPr>
          <a:xfrm>
            <a:off x="7148036" y="2042457"/>
            <a:ext cx="130051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データ編集者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FE759B-6878-7AD1-4147-D2BBC3157660}"/>
              </a:ext>
            </a:extLst>
          </p:cNvPr>
          <p:cNvSpPr txBox="1"/>
          <p:nvPr/>
        </p:nvSpPr>
        <p:spPr>
          <a:xfrm>
            <a:off x="7148036" y="2554321"/>
            <a:ext cx="130051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データ編集者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10118AD-5403-FBED-8DE0-9D429919295F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4114800" y="1669093"/>
            <a:ext cx="3033236" cy="299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134D50DB-01AE-F116-5A89-C21817D426C8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>
            <a:off x="4114800" y="1968816"/>
            <a:ext cx="3033236" cy="212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C8DA6B2-71ED-62B9-2878-1544FB7B15D1}"/>
              </a:ext>
            </a:extLst>
          </p:cNvPr>
          <p:cNvCxnSpPr>
            <a:cxnSpLocks/>
            <a:stCxn id="10" idx="3"/>
            <a:endCxn id="29" idx="1"/>
          </p:cNvCxnSpPr>
          <p:nvPr/>
        </p:nvCxnSpPr>
        <p:spPr>
          <a:xfrm>
            <a:off x="4114800" y="1968816"/>
            <a:ext cx="3033236" cy="724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FE340D-AAF6-DD2C-A974-3B4072FFF289}"/>
              </a:ext>
            </a:extLst>
          </p:cNvPr>
          <p:cNvSpPr txBox="1"/>
          <p:nvPr/>
        </p:nvSpPr>
        <p:spPr>
          <a:xfrm>
            <a:off x="1400984" y="876770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スーパーバイザーの登録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2474BC4D-ED22-5305-AEB1-D82D670DD2ED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rot="16200000" flipH="1">
            <a:off x="789835" y="1186393"/>
            <a:ext cx="338292" cy="2686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D0C78B0-0397-01F0-EDF9-FE679DCFE14D}"/>
              </a:ext>
            </a:extLst>
          </p:cNvPr>
          <p:cNvSpPr/>
          <p:nvPr/>
        </p:nvSpPr>
        <p:spPr>
          <a:xfrm>
            <a:off x="2664720" y="1621310"/>
            <a:ext cx="2913220" cy="1807690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C6B187D-E632-C411-6FC3-CC24C121555A}"/>
              </a:ext>
            </a:extLst>
          </p:cNvPr>
          <p:cNvSpPr txBox="1"/>
          <p:nvPr/>
        </p:nvSpPr>
        <p:spPr>
          <a:xfrm>
            <a:off x="3640030" y="2519974"/>
            <a:ext cx="128214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博物館管理者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A31CC05-D7BF-DED9-4C0E-164576E717FE}"/>
              </a:ext>
            </a:extLst>
          </p:cNvPr>
          <p:cNvSpPr txBox="1"/>
          <p:nvPr/>
        </p:nvSpPr>
        <p:spPr>
          <a:xfrm>
            <a:off x="3640029" y="2932632"/>
            <a:ext cx="128214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博物館管理者</a:t>
            </a:r>
          </a:p>
        </p:txBody>
      </p:sp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75384D5D-4F25-EFBC-E07E-01127F75A4D9}"/>
              </a:ext>
            </a:extLst>
          </p:cNvPr>
          <p:cNvCxnSpPr>
            <a:cxnSpLocks/>
            <a:stCxn id="10" idx="2"/>
            <a:endCxn id="52" idx="1"/>
          </p:cNvCxnSpPr>
          <p:nvPr/>
        </p:nvCxnSpPr>
        <p:spPr>
          <a:xfrm rot="16200000" flipH="1">
            <a:off x="3281299" y="2299742"/>
            <a:ext cx="551159" cy="1663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57321F73-2ED9-4B65-4A34-32EA8599AE73}"/>
              </a:ext>
            </a:extLst>
          </p:cNvPr>
          <p:cNvCxnSpPr>
            <a:cxnSpLocks/>
            <a:stCxn id="10" idx="2"/>
            <a:endCxn id="53" idx="1"/>
          </p:cNvCxnSpPr>
          <p:nvPr/>
        </p:nvCxnSpPr>
        <p:spPr>
          <a:xfrm rot="16200000" flipH="1">
            <a:off x="3074970" y="2506072"/>
            <a:ext cx="963817" cy="166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49AF2B5-87C8-267F-19C2-CC41AEDCD94E}"/>
              </a:ext>
            </a:extLst>
          </p:cNvPr>
          <p:cNvSpPr txBox="1"/>
          <p:nvPr/>
        </p:nvSpPr>
        <p:spPr>
          <a:xfrm>
            <a:off x="407504" y="3841659"/>
            <a:ext cx="109625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sz="1200" dirty="0"/>
              <a:t>ルート</a:t>
            </a:r>
            <a:endParaRPr kumimoji="1" lang="en-US" altLang="ja-JP" sz="1200" dirty="0"/>
          </a:p>
          <a:p>
            <a:r>
              <a:rPr kumimoji="1" lang="ja-JP" altLang="en-US" sz="1200" dirty="0"/>
              <a:t>　　データベースを直接触れる人＝サーバーの保有者、スーパーバイザー登録はサーバー画面で行う。スーパーバイザーは複数人許可　　</a:t>
            </a:r>
            <a:endParaRPr kumimoji="1" lang="en-US" altLang="ja-JP" sz="12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sz="1200" dirty="0"/>
              <a:t>スーパーバーザー</a:t>
            </a:r>
            <a:br>
              <a:rPr kumimoji="1" lang="en-US" altLang="ja-JP" sz="1200" dirty="0"/>
            </a:br>
            <a:r>
              <a:rPr kumimoji="1" lang="ja-JP" altLang="en-US" sz="1200" dirty="0"/>
              <a:t>博物館ごとの管理者の登録、削除を行うことができる。博物館ごとの管理者は複数許可されているが、スーパーパーザーは最初の一人のみ設定できる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sz="1200" dirty="0"/>
              <a:t>博物館ごと</a:t>
            </a:r>
            <a:br>
              <a:rPr lang="en-US" altLang="ja-JP" sz="1200" dirty="0"/>
            </a:br>
            <a:r>
              <a:rPr lang="ja-JP" altLang="en-US" sz="1200" dirty="0"/>
              <a:t>１）博物館には複数の博物館管理者が設定できる。博物館管理者の追加削除、変更はその博物館の管理者が行う。</a:t>
            </a:r>
            <a:br>
              <a:rPr lang="en-US" altLang="ja-JP" sz="1200" dirty="0"/>
            </a:br>
            <a:r>
              <a:rPr lang="ja-JP" altLang="en-US" sz="1200" dirty="0"/>
              <a:t>２）博物館にはデータの編集を行うデータ編集者が設定できる。データ編集者の追加、削除に関しても博物館管理者が行う</a:t>
            </a:r>
            <a:endParaRPr lang="en-US" altLang="ja-JP" sz="1200" dirty="0"/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3</a:t>
            </a:r>
            <a:r>
              <a:rPr lang="ja-JP" altLang="en-US" sz="1200"/>
              <a:t>）データ編集者は編集者や博物館管理者などの追加・削除はできない</a:t>
            </a:r>
            <a:br>
              <a:rPr lang="en-US" altLang="ja-JP" sz="1200" dirty="0"/>
            </a:br>
            <a:endParaRPr kumimoji="1"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157087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6FBE-86C5-67CC-634B-4FE7A0E1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9DC590-74CC-7A76-4B1F-736291D2C62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32782C-3640-516D-F481-5C8F638CAE46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パスワードルール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C04C27-89F0-B6D9-90F5-6EA113E62137}"/>
              </a:ext>
            </a:extLst>
          </p:cNvPr>
          <p:cNvSpPr txBox="1"/>
          <p:nvPr/>
        </p:nvSpPr>
        <p:spPr>
          <a:xfrm>
            <a:off x="496957" y="1093304"/>
            <a:ext cx="10923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パスワードは平文で</a:t>
            </a:r>
            <a:r>
              <a:rPr kumimoji="1" lang="en-US" altLang="ja-JP" dirty="0" err="1"/>
              <a:t>php</a:t>
            </a:r>
            <a:r>
              <a:rPr kumimoji="1" lang="ja-JP" altLang="en-US" dirty="0"/>
              <a:t>に記載しない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パスワードはそれぞれ自分で変更可能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パスワード再発行インターフェースを用意する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5461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682A-915C-CCC2-495F-71DF40B7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1B973DC-7E81-FF3E-E6BB-340C19C58AA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87795F-1267-2455-20C8-C885A2EBCE57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スーパーバイザーログイン画面</a:t>
            </a: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BF6659BA-38D0-C4D6-C612-18B0049D5A6B}"/>
              </a:ext>
            </a:extLst>
          </p:cNvPr>
          <p:cNvSpPr/>
          <p:nvPr/>
        </p:nvSpPr>
        <p:spPr>
          <a:xfrm>
            <a:off x="1630017" y="4810206"/>
            <a:ext cx="765713" cy="32816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2C38D8-2842-1E95-2EDB-984E29D615D7}"/>
              </a:ext>
            </a:extLst>
          </p:cNvPr>
          <p:cNvSpPr txBox="1"/>
          <p:nvPr/>
        </p:nvSpPr>
        <p:spPr>
          <a:xfrm>
            <a:off x="1232452" y="5408723"/>
            <a:ext cx="246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ログイン成功画面へ</a:t>
            </a:r>
          </a:p>
        </p:txBody>
      </p:sp>
      <p:sp>
        <p:nvSpPr>
          <p:cNvPr id="51" name="矢印: 下 50">
            <a:extLst>
              <a:ext uri="{FF2B5EF4-FFF2-40B4-BE49-F238E27FC236}">
                <a16:creationId xmlns:a16="http://schemas.microsoft.com/office/drawing/2014/main" id="{CB91B952-0B00-C129-CC81-BBB713EDFFAA}"/>
              </a:ext>
            </a:extLst>
          </p:cNvPr>
          <p:cNvSpPr/>
          <p:nvPr/>
        </p:nvSpPr>
        <p:spPr>
          <a:xfrm rot="16200000">
            <a:off x="5424349" y="2304606"/>
            <a:ext cx="765713" cy="32816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9388590-C914-F4F9-50B5-5DF0F17FBC3A}"/>
              </a:ext>
            </a:extLst>
          </p:cNvPr>
          <p:cNvSpPr txBox="1"/>
          <p:nvPr/>
        </p:nvSpPr>
        <p:spPr>
          <a:xfrm>
            <a:off x="6926330" y="5652986"/>
            <a:ext cx="246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ログイン失敗</a:t>
            </a:r>
          </a:p>
        </p:txBody>
      </p:sp>
      <p:sp>
        <p:nvSpPr>
          <p:cNvPr id="66" name="矢印: 下 65">
            <a:extLst>
              <a:ext uri="{FF2B5EF4-FFF2-40B4-BE49-F238E27FC236}">
                <a16:creationId xmlns:a16="http://schemas.microsoft.com/office/drawing/2014/main" id="{00432743-4CCD-0830-2283-DD36B66C8598}"/>
              </a:ext>
            </a:extLst>
          </p:cNvPr>
          <p:cNvSpPr/>
          <p:nvPr/>
        </p:nvSpPr>
        <p:spPr>
          <a:xfrm rot="5400000">
            <a:off x="5374920" y="3346666"/>
            <a:ext cx="765713" cy="32816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24" name="図 23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1FE414C8-791E-0B95-2898-8C5E59548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9" y="1123588"/>
            <a:ext cx="3655811" cy="3542385"/>
          </a:xfrm>
          <a:prstGeom prst="rect">
            <a:avLst/>
          </a:prstGeom>
        </p:spPr>
      </p:pic>
      <p:pic>
        <p:nvPicPr>
          <p:cNvPr id="26" name="図 25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EC1CFB5D-EB45-7C3F-C58E-F5AF255E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45" y="1123588"/>
            <a:ext cx="4104762" cy="3933333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EA18623-636A-AF50-9618-6EAF4266B329}"/>
              </a:ext>
            </a:extLst>
          </p:cNvPr>
          <p:cNvSpPr txBox="1"/>
          <p:nvPr/>
        </p:nvSpPr>
        <p:spPr>
          <a:xfrm>
            <a:off x="1808922" y="6192078"/>
            <a:ext cx="402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初期パスワードは</a:t>
            </a:r>
            <a:r>
              <a:rPr kumimoji="1" lang="en-US" altLang="ja-JP" dirty="0" err="1"/>
              <a:t>museum_pass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480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8FAA-BDAB-FD3E-8C7F-0C0E6717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F8F4C3-F1A6-A296-AF71-3E3DD4571E9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586795-A523-B7EC-090A-864AFE79329D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スーパーバイザー：</a:t>
            </a:r>
            <a:r>
              <a:rPr kumimoji="1" lang="en-US" altLang="ja-JP" dirty="0"/>
              <a:t>2</a:t>
            </a:r>
            <a:r>
              <a:rPr kumimoji="1" lang="ja-JP" altLang="en-US" dirty="0"/>
              <a:t>段階認証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A385FA-E365-4105-EDB6-27ADF668AFA9}"/>
              </a:ext>
            </a:extLst>
          </p:cNvPr>
          <p:cNvSpPr txBox="1"/>
          <p:nvPr/>
        </p:nvSpPr>
        <p:spPr>
          <a:xfrm>
            <a:off x="1169506" y="86888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ログイン成功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29E8C1B-0575-C284-BCEE-10B0DAF9C8A7}"/>
              </a:ext>
            </a:extLst>
          </p:cNvPr>
          <p:cNvSpPr txBox="1"/>
          <p:nvPr/>
        </p:nvSpPr>
        <p:spPr>
          <a:xfrm>
            <a:off x="6299934" y="1781692"/>
            <a:ext cx="53206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認証に成功するとスーパーバイザー管理画面へ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認証失敗するとログイン画面に戻る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初回ログインはパスワード変更画面に</a:t>
            </a:r>
          </a:p>
        </p:txBody>
      </p:sp>
      <p:pic>
        <p:nvPicPr>
          <p:cNvPr id="3" name="図 2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E0BAA1C0-45AD-8FA5-EDBC-1EC2DABF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09" y="1648047"/>
            <a:ext cx="4085714" cy="3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8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CC39A-04ED-0144-B541-06F3B934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98C10A9-52B9-4B4C-905F-50E62B348166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3BFF1D-CC6A-F1D0-FF89-D50E5FC63769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スーパーバイザー：パスワード変更画面</a:t>
            </a:r>
            <a:endParaRPr kumimoji="1" lang="ja-JP" altLang="en-US" dirty="0"/>
          </a:p>
        </p:txBody>
      </p:sp>
      <p:pic>
        <p:nvPicPr>
          <p:cNvPr id="8" name="図 7" descr="グラフィカル ユーザー インターフェイス, テキスト, アプリケーション, チャットまたはテキスト メッセージ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64AE5F1-8F84-8A39-685F-AB6557511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289" y="743851"/>
            <a:ext cx="3725864" cy="591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4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89DC-8973-76B9-88F2-143B9087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02EF04D-665A-CC2D-4C97-2D4B348D18D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527574-3CCB-9B38-F2FF-869016B9CC40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スーパーバイザー：パスワードを忘れた際</a:t>
            </a:r>
            <a:endParaRPr kumimoji="1" lang="ja-JP" altLang="en-US" dirty="0"/>
          </a:p>
        </p:txBody>
      </p:sp>
      <p:pic>
        <p:nvPicPr>
          <p:cNvPr id="2" name="図 1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8D608744-EDB9-467D-72AA-2B38C215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9" y="1123588"/>
            <a:ext cx="3655811" cy="3542385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5338BA89-D516-F7F4-CDD6-B3629BD83494}"/>
              </a:ext>
            </a:extLst>
          </p:cNvPr>
          <p:cNvSpPr/>
          <p:nvPr/>
        </p:nvSpPr>
        <p:spPr>
          <a:xfrm>
            <a:off x="1033668" y="3965714"/>
            <a:ext cx="2445027" cy="427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10" name="図 9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8D1BE729-5EF4-81D7-204A-6E4B6AB1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503" y="1047161"/>
            <a:ext cx="3971429" cy="3695238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2737F190-FABB-28B1-BC36-1D7A63900759}"/>
              </a:ext>
            </a:extLst>
          </p:cNvPr>
          <p:cNvSpPr/>
          <p:nvPr/>
        </p:nvSpPr>
        <p:spPr>
          <a:xfrm>
            <a:off x="4542278" y="2742607"/>
            <a:ext cx="397565" cy="93486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04A1AD-B05B-EF1B-9B4C-A86270D4A97D}"/>
              </a:ext>
            </a:extLst>
          </p:cNvPr>
          <p:cNvSpPr txBox="1"/>
          <p:nvPr/>
        </p:nvSpPr>
        <p:spPr>
          <a:xfrm>
            <a:off x="3551581" y="4925946"/>
            <a:ext cx="516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正しいメールアドレスを入力して送信</a:t>
            </a:r>
          </a:p>
        </p:txBody>
      </p:sp>
      <p:pic>
        <p:nvPicPr>
          <p:cNvPr id="14" name="図 1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A8DF55C-39BB-9141-237B-257926F9A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932" y="4157246"/>
            <a:ext cx="2960323" cy="227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97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FF4EA-A9E6-7540-501D-3E193CC5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4D67D2C-54D0-1E73-6CF7-37C3A077E61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AA730E-1F29-854A-2CDC-001EDECA9EAD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パスワードを忘れた際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4FE7F9-F518-7A3F-BF0F-63C51EB0B9C9}"/>
              </a:ext>
            </a:extLst>
          </p:cNvPr>
          <p:cNvSpPr txBox="1"/>
          <p:nvPr/>
        </p:nvSpPr>
        <p:spPr>
          <a:xfrm>
            <a:off x="407503" y="1033669"/>
            <a:ext cx="516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メールに記載された</a:t>
            </a:r>
            <a:r>
              <a:rPr kumimoji="1" lang="en-US" altLang="ja-JP" dirty="0"/>
              <a:t>URL</a:t>
            </a:r>
            <a:r>
              <a:rPr kumimoji="1" lang="ja-JP" altLang="en-US" dirty="0"/>
              <a:t>をクリックする</a:t>
            </a:r>
          </a:p>
        </p:txBody>
      </p:sp>
      <p:pic>
        <p:nvPicPr>
          <p:cNvPr id="16" name="図 15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C02931FD-1295-EBB0-2F93-9A860800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33" y="1597863"/>
            <a:ext cx="4219048" cy="4504762"/>
          </a:xfrm>
          <a:prstGeom prst="rect">
            <a:avLst/>
          </a:prstGeom>
        </p:spPr>
      </p:pic>
      <p:pic>
        <p:nvPicPr>
          <p:cNvPr id="18" name="図 17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44A7BC74-C57D-A565-0DAD-341C57619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758" y="755374"/>
            <a:ext cx="4123809" cy="5390476"/>
          </a:xfrm>
          <a:prstGeom prst="rect">
            <a:avLst/>
          </a:prstGeom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58B890C7-DDA7-083B-93D0-88ED0F004EE4}"/>
              </a:ext>
            </a:extLst>
          </p:cNvPr>
          <p:cNvSpPr/>
          <p:nvPr/>
        </p:nvSpPr>
        <p:spPr>
          <a:xfrm>
            <a:off x="5804452" y="3230217"/>
            <a:ext cx="546652" cy="8945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608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8B16-C5FE-E1B9-6871-B27E52A5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367999-0F0F-42B0-6FF7-35FFD326D78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A98194-F927-5760-0582-201A1D43B990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スーパーバイザー：ログイン後、博物館が登録されていない状態</a:t>
            </a:r>
            <a:endParaRPr kumimoji="1" lang="ja-JP" altLang="en-US" dirty="0"/>
          </a:p>
        </p:txBody>
      </p:sp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7903C20-76FD-435B-E0E3-625051115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9" y="1057571"/>
            <a:ext cx="11904762" cy="4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12DB2-66D3-31CA-FD1F-670CF2BD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4111E23-DE30-72AA-B8DF-1B6722F3BD9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A2ECA1-3A47-DDB0-5346-DFD7EFE6B730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スーパーバイザー：ログイン後、博物館が登録された状態</a:t>
            </a:r>
            <a:endParaRPr kumimoji="1" lang="ja-JP" altLang="en-US" dirty="0"/>
          </a:p>
        </p:txBody>
      </p:sp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A174E75B-BA8B-4545-9585-C4C68FC02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38" y="1557571"/>
            <a:ext cx="8609524" cy="3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51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BA1C-79B2-4248-9A0B-03C35CE7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68BDCF8-BB0C-9B9E-EADA-7FD44C708EE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C033F2-2239-2153-5ACC-F1C7B9AD2F90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スーパーバイザー：システム基本設定</a:t>
            </a:r>
            <a:endParaRPr kumimoji="1" lang="ja-JP" altLang="en-US" dirty="0"/>
          </a:p>
        </p:txBody>
      </p:sp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A9789138-5CCD-50C0-413B-A65E8EFB4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24092"/>
            <a:ext cx="4592612" cy="521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1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DFC7-2580-7F0B-3973-C8D7E43D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575F356-13CC-2CE3-111A-B081BA5B5A1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A7A180-03A6-FEAC-C3AF-8F27567300A0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スーパーバイザー：博物館の新規登録</a:t>
            </a:r>
            <a:endParaRPr kumimoji="1" lang="ja-JP" altLang="en-US" dirty="0"/>
          </a:p>
        </p:txBody>
      </p:sp>
      <p:pic>
        <p:nvPicPr>
          <p:cNvPr id="8" name="図 7" descr="グラフィカル ユーザー インターフェイス, アプリケーション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0F0E203D-7057-9772-F2C8-3EAB8EB19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104" y="7760"/>
            <a:ext cx="5777867" cy="685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11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9B5E-ED3F-6AA4-3033-7535CA0A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77F2282-1027-DC7D-8344-0E73D0030003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05DE3B-66D0-6CB7-EAC4-53DFC2FC6CFF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スーパーバイザー：博物館の新規登録（博物館名の重複禁止）</a:t>
            </a:r>
            <a:endParaRPr kumimoji="1" lang="ja-JP" altLang="en-US" dirty="0"/>
          </a:p>
        </p:txBody>
      </p:sp>
      <p:pic>
        <p:nvPicPr>
          <p:cNvPr id="6" name="図 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BE8FD46-43F3-52E1-A3D9-A3FD3322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3" y="942634"/>
            <a:ext cx="7390476" cy="384761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580C88B-1D49-B66A-230E-6C620DA12C36}"/>
              </a:ext>
            </a:extLst>
          </p:cNvPr>
          <p:cNvSpPr txBox="1"/>
          <p:nvPr/>
        </p:nvSpPr>
        <p:spPr>
          <a:xfrm>
            <a:off x="745435" y="5029200"/>
            <a:ext cx="99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同一名称の博物館名の登録はできません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「かな」は同一名称でも登録可能です</a:t>
            </a:r>
          </a:p>
        </p:txBody>
      </p:sp>
    </p:spTree>
    <p:extLst>
      <p:ext uri="{BB962C8B-B14F-4D97-AF65-F5344CB8AC3E}">
        <p14:creationId xmlns:p14="http://schemas.microsoft.com/office/powerpoint/2010/main" val="1086646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B5E40-0C00-DD09-0A5B-E06DC78F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6204220-83B0-59C7-C070-AC86B0E6468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8DA79F-3BAE-6FB8-B947-D5043250348D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スーパーバイザー：博物館の新規登録（複数館同一管理者登録）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79F7589-A4EF-97B0-FEA7-72C69CBB3BF1}"/>
              </a:ext>
            </a:extLst>
          </p:cNvPr>
          <p:cNvSpPr txBox="1"/>
          <p:nvPr/>
        </p:nvSpPr>
        <p:spPr>
          <a:xfrm>
            <a:off x="668446" y="3975652"/>
            <a:ext cx="996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複数の博物館に同一の管理者を登録することが可能です。</a:t>
            </a:r>
          </a:p>
        </p:txBody>
      </p:sp>
      <p:pic>
        <p:nvPicPr>
          <p:cNvPr id="3" name="図 2" descr="グラフィカル ユーザー インターフェイス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C4213916-96F9-367B-E941-E8EC2DBD6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48" y="1457815"/>
            <a:ext cx="5838095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68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11F1-F304-40E8-6A7B-3E6513CC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60D0F2E-1A7D-95F4-3AF6-0B4903C286B3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5CA193-749A-2C4C-8C52-6F235F0DF838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スーパーバイザー：博物館の削除</a:t>
            </a:r>
            <a:endParaRPr kumimoji="1" lang="ja-JP" altLang="en-US" dirty="0"/>
          </a:p>
        </p:txBody>
      </p:sp>
      <p:pic>
        <p:nvPicPr>
          <p:cNvPr id="10" name="図 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E42CBEB-3762-9CB8-8758-DF6F6D196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89" y="1149042"/>
            <a:ext cx="8657143" cy="3923809"/>
          </a:xfrm>
          <a:prstGeom prst="rect">
            <a:avLst/>
          </a:prstGeom>
        </p:spPr>
      </p:pic>
      <p:sp>
        <p:nvSpPr>
          <p:cNvPr id="2" name="楕円 1">
            <a:extLst>
              <a:ext uri="{FF2B5EF4-FFF2-40B4-BE49-F238E27FC236}">
                <a16:creationId xmlns:a16="http://schemas.microsoft.com/office/drawing/2014/main" id="{6C4EE685-B4B1-7141-4B68-30A0300D52C4}"/>
              </a:ext>
            </a:extLst>
          </p:cNvPr>
          <p:cNvSpPr/>
          <p:nvPr/>
        </p:nvSpPr>
        <p:spPr>
          <a:xfrm>
            <a:off x="8706678" y="4084984"/>
            <a:ext cx="636106" cy="427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33D95B-3242-6B5C-52E3-688FFAD96F33}"/>
              </a:ext>
            </a:extLst>
          </p:cNvPr>
          <p:cNvSpPr txBox="1"/>
          <p:nvPr/>
        </p:nvSpPr>
        <p:spPr>
          <a:xfrm>
            <a:off x="5928692" y="5917960"/>
            <a:ext cx="6828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削除ボタンで対象の博物館がゴミ箱に移動する</a:t>
            </a:r>
          </a:p>
        </p:txBody>
      </p:sp>
      <p:pic>
        <p:nvPicPr>
          <p:cNvPr id="7" name="図 6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87AEB6B3-EAB0-68A0-6E63-B80C1DDD1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83" y="5388340"/>
            <a:ext cx="4295238" cy="1428571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9F27DFB3-2277-5004-C330-023F246723B6}"/>
              </a:ext>
            </a:extLst>
          </p:cNvPr>
          <p:cNvCxnSpPr/>
          <p:nvPr/>
        </p:nvCxnSpPr>
        <p:spPr>
          <a:xfrm flipH="1">
            <a:off x="5723360" y="4512366"/>
            <a:ext cx="3102588" cy="109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086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498A7-FF46-A37A-5C55-AD914A88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0AEC8D2-0E2C-3505-5497-9B53F17AA81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5B143E-A6B8-AE5A-13D2-3136F4BF9CF1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スーパーバイザー：博物館の削除</a:t>
            </a:r>
            <a:endParaRPr kumimoji="1" lang="ja-JP" altLang="en-US" dirty="0"/>
          </a:p>
        </p:txBody>
      </p:sp>
      <p:pic>
        <p:nvPicPr>
          <p:cNvPr id="8" name="図 7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75641E4-46D8-0985-DB1F-BAB49A41A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000" y="1243285"/>
            <a:ext cx="8600000" cy="4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75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05046-9942-9E32-9B21-6EF43CDA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4E8C27B-F6A8-4CBB-B5B9-AFAE4F90330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33C0B1-204C-23D2-BBBD-8724BEEC6487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スーパーバイザー：ゴミ箱の確認</a:t>
            </a:r>
            <a:endParaRPr kumimoji="1" lang="ja-JP" altLang="en-US" dirty="0"/>
          </a:p>
        </p:txBody>
      </p:sp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BEBD5BE-6FEF-DBCF-0C83-0B476CD7F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24" y="1140900"/>
            <a:ext cx="7742857" cy="28666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52C247-D444-A6AF-8005-6621547EEFBC}"/>
              </a:ext>
            </a:extLst>
          </p:cNvPr>
          <p:cNvSpPr txBox="1"/>
          <p:nvPr/>
        </p:nvSpPr>
        <p:spPr>
          <a:xfrm>
            <a:off x="735496" y="4442791"/>
            <a:ext cx="10326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ゴミ箱は</a:t>
            </a:r>
            <a:r>
              <a:rPr kumimoji="1" lang="en-US" altLang="ja-JP" dirty="0"/>
              <a:t>30</a:t>
            </a:r>
            <a:r>
              <a:rPr kumimoji="1" lang="ja-JP" altLang="en-US" dirty="0"/>
              <a:t>日の間保持され、その後自動的に削除される</a:t>
            </a:r>
            <a:br>
              <a:rPr kumimoji="1" lang="en-US" altLang="ja-JP" dirty="0"/>
            </a:br>
            <a:r>
              <a:rPr kumimoji="1" lang="ja-JP" altLang="en-US" dirty="0"/>
              <a:t>元に戻すボタンで、復活</a:t>
            </a:r>
            <a:endParaRPr kumimoji="1" lang="en-US" altLang="ja-JP" dirty="0"/>
          </a:p>
          <a:p>
            <a:r>
              <a:rPr kumimoji="1" lang="ja-JP" altLang="en-US" dirty="0"/>
              <a:t>完全削除でゴミ箱から廃棄</a:t>
            </a:r>
          </a:p>
        </p:txBody>
      </p:sp>
    </p:spTree>
    <p:extLst>
      <p:ext uri="{BB962C8B-B14F-4D97-AF65-F5344CB8AC3E}">
        <p14:creationId xmlns:p14="http://schemas.microsoft.com/office/powerpoint/2010/main" val="2685259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B525-5B63-98F7-7044-917B6ADF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505F87C-C6BA-8C71-ADF6-4D212BF49DC2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C887B1-B823-F45C-43AB-1037B7097E08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博物館管理者：招待画面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507BD5-63D8-E770-83D4-9D6EB926BE42}"/>
              </a:ext>
            </a:extLst>
          </p:cNvPr>
          <p:cNvSpPr txBox="1"/>
          <p:nvPr/>
        </p:nvSpPr>
        <p:spPr>
          <a:xfrm>
            <a:off x="407503" y="939248"/>
            <a:ext cx="1123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招待メールが届くので</a:t>
            </a:r>
            <a:r>
              <a:rPr kumimoji="1" lang="en-US" altLang="ja-JP" dirty="0"/>
              <a:t>URL</a:t>
            </a:r>
            <a:r>
              <a:rPr kumimoji="1" lang="ja-JP" altLang="en-US" dirty="0"/>
              <a:t>をクリック</a:t>
            </a:r>
          </a:p>
        </p:txBody>
      </p:sp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7989408-7E4E-71BA-1192-ADC9DF62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3" y="1344931"/>
            <a:ext cx="4580952" cy="5314286"/>
          </a:xfrm>
          <a:prstGeom prst="rect">
            <a:avLst/>
          </a:prstGeom>
        </p:spPr>
      </p:pic>
      <p:pic>
        <p:nvPicPr>
          <p:cNvPr id="10" name="図 9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70B781A3-4301-7B8B-7CBA-EC13458C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488" y="2525541"/>
            <a:ext cx="4628571" cy="2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94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1621-C828-7F76-F293-C0C5AD38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DFCBCD3-AEE2-EE64-5C04-BC88320435A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7173F8-2ED0-6F29-7F59-FD50A7B62D5F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博物館管理者：ログイン画面</a:t>
            </a:r>
            <a:endParaRPr kumimoji="1" lang="ja-JP" altLang="en-US" dirty="0"/>
          </a:p>
        </p:txBody>
      </p:sp>
      <p:pic>
        <p:nvPicPr>
          <p:cNvPr id="6" name="図 5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5E7250C9-085E-BF49-8540-5F121BAE7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12" y="1193340"/>
            <a:ext cx="4447619" cy="3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22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C021-4BF9-D42F-E497-79F3063A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661FC78-7DC3-02AF-87B1-96BE8B2D66D4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7B9FA8-B490-228A-79F5-89349EC9EBE2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博物館管理者：担当博物館一覧</a:t>
            </a:r>
            <a:endParaRPr kumimoji="1" lang="ja-JP" altLang="en-US" dirty="0"/>
          </a:p>
        </p:txBody>
      </p:sp>
      <p:pic>
        <p:nvPicPr>
          <p:cNvPr id="3" name="図 2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50DA26FF-0667-FD1A-4EC8-7A072470D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1" y="1017341"/>
            <a:ext cx="3952381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99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503F-7448-EC82-5B0B-0C70E584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00910FC-A700-F498-957D-68DB6041D757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3291C7-336B-0118-7985-906A6626BB4B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博物館管理者：スタッフ管理</a:t>
            </a:r>
            <a:endParaRPr kumimoji="1" lang="ja-JP" altLang="en-US" dirty="0"/>
          </a:p>
        </p:txBody>
      </p:sp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2CA63C9-0F3F-539D-FD16-934E5248E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87" y="1793539"/>
            <a:ext cx="9028571" cy="2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01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CB093-D7DD-F65F-4AD5-A62066F9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309C593-1A11-D98C-FAC8-9C17E764958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C492CB-E404-6221-DA50-E33F8DCC1A04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博物館管理者：担当博物館選択</a:t>
            </a:r>
            <a:endParaRPr kumimoji="1" lang="ja-JP" altLang="en-US" dirty="0"/>
          </a:p>
        </p:txBody>
      </p:sp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F176FF2-7375-B9C6-26C5-807899C0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71" y="1316462"/>
            <a:ext cx="3779898" cy="1188196"/>
          </a:xfrm>
          <a:prstGeom prst="rect">
            <a:avLst/>
          </a:prstGeom>
        </p:spPr>
      </p:pic>
      <p:sp>
        <p:nvSpPr>
          <p:cNvPr id="2" name="楕円 1">
            <a:extLst>
              <a:ext uri="{FF2B5EF4-FFF2-40B4-BE49-F238E27FC236}">
                <a16:creationId xmlns:a16="http://schemas.microsoft.com/office/drawing/2014/main" id="{85C92F1E-DFC2-B355-2416-CA77F420C074}"/>
              </a:ext>
            </a:extLst>
          </p:cNvPr>
          <p:cNvSpPr/>
          <p:nvPr/>
        </p:nvSpPr>
        <p:spPr>
          <a:xfrm>
            <a:off x="2922104" y="1739348"/>
            <a:ext cx="1421296" cy="7255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図 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D3BC9A8-2C73-2419-04F2-BB15EBFA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837" y="1739348"/>
            <a:ext cx="6985843" cy="424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64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DFAD-2BE2-71C2-128E-2C87D489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FB4E9FA-5A35-31E9-47B9-06FB679348D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92EA91-58BC-F333-588F-A6D12594C398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博物館編集者：招待画面</a:t>
            </a:r>
            <a:endParaRPr kumimoji="1" lang="ja-JP" altLang="en-US" dirty="0"/>
          </a:p>
        </p:txBody>
      </p:sp>
      <p:pic>
        <p:nvPicPr>
          <p:cNvPr id="6" name="図 5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BCB0B9EE-28B4-A36D-A20F-2C589367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48" y="934003"/>
            <a:ext cx="4497147" cy="5725214"/>
          </a:xfrm>
          <a:prstGeom prst="rect">
            <a:avLst/>
          </a:prstGeom>
        </p:spPr>
      </p:pic>
      <p:pic>
        <p:nvPicPr>
          <p:cNvPr id="12" name="図 1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96D3829-29C5-6405-1F9F-8347285E4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307" y="3224381"/>
            <a:ext cx="4923809" cy="2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41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0DB8-5775-9CA6-ED2F-27853DAB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E408DC7-C2CB-2063-54DD-E931B84FE4C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52A1F0-16CE-31BD-2739-CFB84084901A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博物館編集者：アカウント設定完了メール</a:t>
            </a:r>
            <a:endParaRPr kumimoji="1" lang="ja-JP" altLang="en-US" dirty="0"/>
          </a:p>
        </p:txBody>
      </p:sp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32AD0E4-0E44-B1CB-134F-A43BF9E53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91" y="1309952"/>
            <a:ext cx="9238095" cy="423809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B1D321-5D39-1662-F8B2-9D4C9341FD7C}"/>
              </a:ext>
            </a:extLst>
          </p:cNvPr>
          <p:cNvSpPr txBox="1"/>
          <p:nvPr/>
        </p:nvSpPr>
        <p:spPr>
          <a:xfrm>
            <a:off x="1441174" y="5993296"/>
            <a:ext cx="8806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メールに記載された</a:t>
            </a:r>
            <a:r>
              <a:rPr kumimoji="1" lang="en-US" altLang="ja-JP" dirty="0"/>
              <a:t>URL</a:t>
            </a:r>
            <a:r>
              <a:rPr kumimoji="1" lang="ja-JP" altLang="en-US" dirty="0"/>
              <a:t>で自分用のページに入る</a:t>
            </a:r>
          </a:p>
        </p:txBody>
      </p:sp>
    </p:spTree>
    <p:extLst>
      <p:ext uri="{BB962C8B-B14F-4D97-AF65-F5344CB8AC3E}">
        <p14:creationId xmlns:p14="http://schemas.microsoft.com/office/powerpoint/2010/main" val="632783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7037-DFF9-10BC-00C5-18E8D1CB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B07F59D-7BDF-7FE1-9682-BB823882C31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7794BD-2A13-F37F-CCE1-BD4837A43E8A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博物館編集者：担当博物館一覧</a:t>
            </a:r>
            <a:endParaRPr kumimoji="1" lang="ja-JP" altLang="en-US" dirty="0"/>
          </a:p>
        </p:txBody>
      </p:sp>
      <p:pic>
        <p:nvPicPr>
          <p:cNvPr id="3" name="図 2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62EFCFCC-95F8-AFD5-AB3F-422EB449A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278" y="1126673"/>
            <a:ext cx="3952381" cy="3809524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B72B316E-BC17-C8C4-BD42-1853E1010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68" y="1164768"/>
            <a:ext cx="3971429" cy="3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74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B65E-1DB5-9BC3-361B-0A520669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44CE043-C5AA-A9D1-5346-D02076B0DC44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D158E3-0CB5-9A73-4FA9-CEF3F23A26AE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サポートページ</a:t>
            </a:r>
            <a:endParaRPr kumimoji="1" lang="ja-JP" altLang="en-US" dirty="0"/>
          </a:p>
        </p:txBody>
      </p:sp>
      <p:pic>
        <p:nvPicPr>
          <p:cNvPr id="6" name="図 5" descr="グラフィカル ユーザー インターフェイス, アプリケーション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0D1F12FC-9EA5-B5A7-831C-5844BD607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942634"/>
            <a:ext cx="6645651" cy="539087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BAA08E-F38E-05BD-212F-D63F9A499406}"/>
              </a:ext>
            </a:extLst>
          </p:cNvPr>
          <p:cNvSpPr txBox="1"/>
          <p:nvPr/>
        </p:nvSpPr>
        <p:spPr>
          <a:xfrm>
            <a:off x="7494104" y="1540565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管理者に必要な情報を集めたページ</a:t>
            </a:r>
          </a:p>
        </p:txBody>
      </p:sp>
    </p:spTree>
    <p:extLst>
      <p:ext uri="{BB962C8B-B14F-4D97-AF65-F5344CB8AC3E}">
        <p14:creationId xmlns:p14="http://schemas.microsoft.com/office/powerpoint/2010/main" val="2496373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E15-0F4C-1DC8-E21B-2A6F2017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1F4BE19-F2D2-FDB0-3A3D-9C7D367E1E4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5FB368-8A82-0E4A-ED21-0F3C6FF29E31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展示物の管理</a:t>
            </a:r>
            <a:endParaRPr kumimoji="1" lang="ja-JP" altLang="en-US" dirty="0"/>
          </a:p>
        </p:txBody>
      </p:sp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F20DF66-DE9D-9334-7B25-E1BAAEDC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77" y="1242391"/>
            <a:ext cx="4078777" cy="1282147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886B4542-7DC0-C814-5772-1D43ECFD18A2}"/>
              </a:ext>
            </a:extLst>
          </p:cNvPr>
          <p:cNvSpPr/>
          <p:nvPr/>
        </p:nvSpPr>
        <p:spPr>
          <a:xfrm>
            <a:off x="2544417" y="1719470"/>
            <a:ext cx="1351722" cy="685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9" name="図 8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0D464B4-AD22-2FDA-95D7-D278C107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616" y="3011554"/>
            <a:ext cx="8159042" cy="36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19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24EF-19DD-D6FE-3F6C-C3496E6D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7E01BCD-5C2D-07EF-4B00-22C8D98E5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21" y="962512"/>
            <a:ext cx="3647618" cy="1629033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6021D84-CA72-17BE-1BBF-D9E8833DBEB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FA638C-F9F9-10A2-EFE3-24310BB3C2B7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新規展示物の登録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B33E6B9-162F-A34B-1A61-E808830C3C20}"/>
              </a:ext>
            </a:extLst>
          </p:cNvPr>
          <p:cNvSpPr/>
          <p:nvPr/>
        </p:nvSpPr>
        <p:spPr>
          <a:xfrm>
            <a:off x="2713382" y="942634"/>
            <a:ext cx="1351722" cy="2997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7641C7F-590F-9919-3527-80098D84A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28" y="942633"/>
            <a:ext cx="4977939" cy="561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17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2A8E-C2E2-A933-D106-90392021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ACC6614-2A7E-3395-03A7-DAE5D9228504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EE18D8-CECE-343A-C138-24812D70CCCA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新規展示物の登録：多言語自動翻訳</a:t>
            </a:r>
          </a:p>
        </p:txBody>
      </p:sp>
      <p:pic>
        <p:nvPicPr>
          <p:cNvPr id="10" name="図 9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DE2B3C1-315B-6F64-E265-C2A90081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42634"/>
            <a:ext cx="8273939" cy="4541673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0E5511-E20A-8347-C2F5-AC4DF613B7AB}"/>
              </a:ext>
            </a:extLst>
          </p:cNvPr>
          <p:cNvSpPr txBox="1"/>
          <p:nvPr/>
        </p:nvSpPr>
        <p:spPr>
          <a:xfrm>
            <a:off x="824948" y="5730700"/>
            <a:ext cx="8875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「日本語を入力し、入力の言語を一括生成」で多言語を自動生成します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4429B5B5-11C3-DDB4-EB66-E9BDB5DFE9FD}"/>
              </a:ext>
            </a:extLst>
          </p:cNvPr>
          <p:cNvSpPr/>
          <p:nvPr/>
        </p:nvSpPr>
        <p:spPr>
          <a:xfrm>
            <a:off x="6096000" y="1709530"/>
            <a:ext cx="2406539" cy="7156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640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B448-2647-3E2D-C61E-22483B8B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20BF866-0206-8280-B71B-131A817982B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34B383-0C8D-7E1C-F627-68C9572C2DCE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新規展示物の登録：多言語自動翻訳（例：英語）</a:t>
            </a:r>
          </a:p>
        </p:txBody>
      </p:sp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18F7803-788C-6933-B595-147B62BA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72" y="755374"/>
            <a:ext cx="8847619" cy="484761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48F82D-7EAD-4102-A476-4A6D57F3D33D}"/>
              </a:ext>
            </a:extLst>
          </p:cNvPr>
          <p:cNvSpPr txBox="1"/>
          <p:nvPr/>
        </p:nvSpPr>
        <p:spPr>
          <a:xfrm>
            <a:off x="725557" y="5609847"/>
            <a:ext cx="862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翻訳結果の修正を行うことも可能です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03843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8433-8AD1-79F7-E1E4-295FB5C8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D20F45F-9A44-6202-99DD-BB1F7B7D058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FE3CF3-D4F0-CF54-2A90-FFCAF8C7C379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新規展示物の登録：</a:t>
            </a:r>
            <a:r>
              <a:rPr kumimoji="1" lang="en-US" altLang="ja-JP" dirty="0"/>
              <a:t>TTS</a:t>
            </a:r>
            <a:r>
              <a:rPr kumimoji="1" lang="ja-JP" altLang="en-US" dirty="0"/>
              <a:t>の確認</a:t>
            </a:r>
          </a:p>
        </p:txBody>
      </p:sp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27BD28D-A1E8-4930-E7B2-D2E14BA9E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72" y="878821"/>
            <a:ext cx="8847619" cy="484761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E5E6639-43B4-8A73-B610-9C80815CCC45}"/>
              </a:ext>
            </a:extLst>
          </p:cNvPr>
          <p:cNvSpPr txBox="1"/>
          <p:nvPr/>
        </p:nvSpPr>
        <p:spPr>
          <a:xfrm>
            <a:off x="725557" y="5609847"/>
            <a:ext cx="862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Play Voice</a:t>
            </a:r>
            <a:r>
              <a:rPr lang="ja-JP" altLang="en-US" dirty="0"/>
              <a:t>ボタンで</a:t>
            </a:r>
            <a:r>
              <a:rPr lang="en-US" altLang="ja-JP" dirty="0"/>
              <a:t>TTS</a:t>
            </a:r>
            <a:r>
              <a:rPr lang="ja-JP" altLang="en-US" dirty="0"/>
              <a:t>による音声確認を行うことが可能です</a:t>
            </a: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E2DCF63B-7F12-2E22-1D12-75002EDEA13A}"/>
              </a:ext>
            </a:extLst>
          </p:cNvPr>
          <p:cNvSpPr/>
          <p:nvPr/>
        </p:nvSpPr>
        <p:spPr>
          <a:xfrm>
            <a:off x="636105" y="4731026"/>
            <a:ext cx="1898374" cy="487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056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1A2B-208C-000F-7C1D-A52F3900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38ED8A7-8878-776B-6185-B3EC9114C4D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B5138C-4259-BE46-0843-423BF9756BB9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展示物の一覧表示</a:t>
            </a:r>
          </a:p>
        </p:txBody>
      </p:sp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3614F29-31FA-2B55-3232-FA8CD868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2" y="1248047"/>
            <a:ext cx="10990476" cy="4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79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C4B67-4B48-83AB-3639-2C195C58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C06991D-23A9-E320-AC46-D5A64EC8A36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337415-9AB0-8859-8D70-21A7548493BB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展示物の一覧表示：削除</a:t>
            </a:r>
          </a:p>
        </p:txBody>
      </p:sp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1E80ECF-DC27-FB23-4EFE-B1A7BC81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2" y="1248047"/>
            <a:ext cx="10990476" cy="4361905"/>
          </a:xfrm>
          <a:prstGeom prst="rect">
            <a:avLst/>
          </a:prstGeom>
        </p:spPr>
      </p:pic>
      <p:sp>
        <p:nvSpPr>
          <p:cNvPr id="2" name="楕円 1">
            <a:extLst>
              <a:ext uri="{FF2B5EF4-FFF2-40B4-BE49-F238E27FC236}">
                <a16:creationId xmlns:a16="http://schemas.microsoft.com/office/drawing/2014/main" id="{BAA4C588-8398-C933-978C-AFE6FE01AD6D}"/>
              </a:ext>
            </a:extLst>
          </p:cNvPr>
          <p:cNvSpPr/>
          <p:nvPr/>
        </p:nvSpPr>
        <p:spPr>
          <a:xfrm>
            <a:off x="9044609" y="4502426"/>
            <a:ext cx="675861" cy="4870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8740C3-7ECD-EEF8-07CE-55C22E0D5C47}"/>
              </a:ext>
            </a:extLst>
          </p:cNvPr>
          <p:cNvSpPr txBox="1"/>
          <p:nvPr/>
        </p:nvSpPr>
        <p:spPr>
          <a:xfrm>
            <a:off x="1202635" y="5963478"/>
            <a:ext cx="851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選択した展示物の削除を行います、削除した展示物はゴミ箱に移動されます</a:t>
            </a:r>
          </a:p>
        </p:txBody>
      </p:sp>
    </p:spTree>
    <p:extLst>
      <p:ext uri="{BB962C8B-B14F-4D97-AF65-F5344CB8AC3E}">
        <p14:creationId xmlns:p14="http://schemas.microsoft.com/office/powerpoint/2010/main" val="802693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B6811-A9D4-23F0-0A47-74DC61B6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EE880DC-A0A3-0372-CB7B-FEFD60BEBE4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7FCAF3-5E07-91F6-EC27-3C628D7CB971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展示物の一覧表示：ゴミ箱表示</a:t>
            </a:r>
          </a:p>
        </p:txBody>
      </p:sp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DD06B39-DDFA-4C1C-F27E-6B9A060E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3" y="1091205"/>
            <a:ext cx="10647619" cy="286666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402A89-D8CB-148B-C4D1-E00130A80AB2}"/>
              </a:ext>
            </a:extLst>
          </p:cNvPr>
          <p:cNvSpPr txBox="1"/>
          <p:nvPr/>
        </p:nvSpPr>
        <p:spPr>
          <a:xfrm>
            <a:off x="854765" y="4581939"/>
            <a:ext cx="9988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ゴミ箱に移動した展示物は</a:t>
            </a:r>
            <a:r>
              <a:rPr kumimoji="1" lang="en-US" altLang="ja-JP" dirty="0"/>
              <a:t>30</a:t>
            </a:r>
            <a:r>
              <a:rPr kumimoji="1" lang="ja-JP" altLang="en-US" dirty="0"/>
              <a:t>日で自動削除されます</a:t>
            </a:r>
            <a:endParaRPr kumimoji="1" lang="en-US" altLang="ja-JP" dirty="0"/>
          </a:p>
          <a:p>
            <a:r>
              <a:rPr kumimoji="1" lang="ja-JP" altLang="en-US" dirty="0"/>
              <a:t>完全削除ボタンを押すと即時削除されます</a:t>
            </a:r>
            <a:endParaRPr kumimoji="1" lang="en-US" altLang="ja-JP" dirty="0"/>
          </a:p>
          <a:p>
            <a:r>
              <a:rPr kumimoji="1" lang="ja-JP" altLang="en-US" dirty="0"/>
              <a:t>完全に削除される前でしたら、元に戻すボタンで復活できます</a:t>
            </a:r>
          </a:p>
        </p:txBody>
      </p:sp>
    </p:spTree>
    <p:extLst>
      <p:ext uri="{BB962C8B-B14F-4D97-AF65-F5344CB8AC3E}">
        <p14:creationId xmlns:p14="http://schemas.microsoft.com/office/powerpoint/2010/main" val="21255392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2C01AD-3387-2005-B8C4-00A58FE6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1EF71E-6139-E2DF-A54B-E310C7715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3951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037F-9221-13C5-9B9A-693FC1B8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D87BD-3BA3-760F-9DE0-55256B1D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13CC73-AC18-E008-D9BC-DEF72D6A2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480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1A229-D110-66BE-C027-285367C8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247574-D7D6-34BB-4BFE-A1D0581A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C4761D-21AC-C222-BACD-15AE2F49D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540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CF92C8-C0C5-301D-9E07-6A59D2545225}"/>
              </a:ext>
            </a:extLst>
          </p:cNvPr>
          <p:cNvSpPr txBox="1"/>
          <p:nvPr/>
        </p:nvSpPr>
        <p:spPr>
          <a:xfrm>
            <a:off x="1699591" y="2117035"/>
            <a:ext cx="8676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dirty="0"/>
              <a:t>以降の</a:t>
            </a:r>
            <a:r>
              <a:rPr kumimoji="1" lang="ja-JP" altLang="en-US" sz="5400"/>
              <a:t>ページは要検討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252392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B5EC-0721-2E2D-B035-E2C9ED9A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E01380F-7846-402D-B64F-7F565C2E454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EA71C3-6DDB-C0BE-2569-E73C055242D5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博物館ページ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763DA36-811F-4CD2-C948-02536F2E8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99346"/>
              </p:ext>
            </p:extLst>
          </p:nvPr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DC6C24-CED7-C964-440B-40DF3BF093AF}"/>
              </a:ext>
            </a:extLst>
          </p:cNvPr>
          <p:cNvSpPr/>
          <p:nvPr/>
        </p:nvSpPr>
        <p:spPr>
          <a:xfrm>
            <a:off x="516833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B7B484-8DE6-0182-F356-DE4D1967C60D}"/>
              </a:ext>
            </a:extLst>
          </p:cNvPr>
          <p:cNvSpPr/>
          <p:nvPr/>
        </p:nvSpPr>
        <p:spPr>
          <a:xfrm>
            <a:off x="1752598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2A0D8DA-4AB1-821D-2A68-E376F3C6ADE9}"/>
              </a:ext>
            </a:extLst>
          </p:cNvPr>
          <p:cNvSpPr/>
          <p:nvPr/>
        </p:nvSpPr>
        <p:spPr>
          <a:xfrm>
            <a:off x="3087755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77E928-353F-2B86-8C05-57076C998E99}"/>
              </a:ext>
            </a:extLst>
          </p:cNvPr>
          <p:cNvSpPr txBox="1"/>
          <p:nvPr/>
        </p:nvSpPr>
        <p:spPr>
          <a:xfrm>
            <a:off x="462168" y="1182757"/>
            <a:ext cx="36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7BF4CB-4CDC-D7BA-EF9E-BBCC73E1D4E4}"/>
              </a:ext>
            </a:extLst>
          </p:cNvPr>
          <p:cNvSpPr txBox="1"/>
          <p:nvPr/>
        </p:nvSpPr>
        <p:spPr>
          <a:xfrm>
            <a:off x="5675244" y="1397240"/>
            <a:ext cx="6182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博物館トップページ登録済みの展示物の一覧が表示される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新規登録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新たに展示物を登録する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削除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登録済みの展示物を削除する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閲覧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登録済みの展示物の管理者の修正を行う</a:t>
            </a:r>
          </a:p>
        </p:txBody>
      </p:sp>
    </p:spTree>
    <p:extLst>
      <p:ext uri="{BB962C8B-B14F-4D97-AF65-F5344CB8AC3E}">
        <p14:creationId xmlns:p14="http://schemas.microsoft.com/office/powerpoint/2010/main" val="10873807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C8B0-9CCF-9E6F-0341-00547DD9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854C811-106C-0A20-B0CB-A11543ECF34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6DA38F-2EC9-ED0A-A297-A69E92B8D0BB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新規登録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F3FD7F-CB32-3F74-741A-3EE3BA724AC4}"/>
              </a:ext>
            </a:extLst>
          </p:cNvPr>
          <p:cNvSpPr/>
          <p:nvPr/>
        </p:nvSpPr>
        <p:spPr>
          <a:xfrm>
            <a:off x="1016277" y="177476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05E73D-052A-02E1-2183-3D05DD3AF077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展示物名入力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959DF22-2333-0BAB-06C6-28076FD2FB99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497ED26-72AD-36FD-AF43-C76C325BBF78}"/>
              </a:ext>
            </a:extLst>
          </p:cNvPr>
          <p:cNvSpPr txBox="1"/>
          <p:nvPr/>
        </p:nvSpPr>
        <p:spPr>
          <a:xfrm>
            <a:off x="2935468" y="1774761"/>
            <a:ext cx="164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日本語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56F3637-9E5C-57E4-A9C1-37D87C11475E}"/>
              </a:ext>
            </a:extLst>
          </p:cNvPr>
          <p:cNvSpPr/>
          <p:nvPr/>
        </p:nvSpPr>
        <p:spPr>
          <a:xfrm>
            <a:off x="1016277" y="2380462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E4C01FB-4320-DCEC-2E69-E8B913690436}"/>
              </a:ext>
            </a:extLst>
          </p:cNvPr>
          <p:cNvSpPr txBox="1"/>
          <p:nvPr/>
        </p:nvSpPr>
        <p:spPr>
          <a:xfrm>
            <a:off x="2935468" y="2380462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英語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D9DF0AE-2AAD-A517-FE82-D03D99D4AD1A}"/>
              </a:ext>
            </a:extLst>
          </p:cNvPr>
          <p:cNvSpPr/>
          <p:nvPr/>
        </p:nvSpPr>
        <p:spPr>
          <a:xfrm>
            <a:off x="1016277" y="2986163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9D4EE99-CA7B-F3B3-D97A-66FDAC8A8672}"/>
              </a:ext>
            </a:extLst>
          </p:cNvPr>
          <p:cNvSpPr txBox="1"/>
          <p:nvPr/>
        </p:nvSpPr>
        <p:spPr>
          <a:xfrm>
            <a:off x="2935468" y="2986163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中国語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E6F08A4-12A2-0D22-769E-41DAB73FB027}"/>
              </a:ext>
            </a:extLst>
          </p:cNvPr>
          <p:cNvSpPr txBox="1"/>
          <p:nvPr/>
        </p:nvSpPr>
        <p:spPr>
          <a:xfrm>
            <a:off x="974588" y="3570407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72F9FAD-67F1-BE1C-3E80-D16064DB9E44}"/>
              </a:ext>
            </a:extLst>
          </p:cNvPr>
          <p:cNvSpPr/>
          <p:nvPr/>
        </p:nvSpPr>
        <p:spPr>
          <a:xfrm>
            <a:off x="711201" y="1079037"/>
            <a:ext cx="4338320" cy="3814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1096D17-6941-2720-2A5A-31AE1E16E63E}"/>
              </a:ext>
            </a:extLst>
          </p:cNvPr>
          <p:cNvSpPr/>
          <p:nvPr/>
        </p:nvSpPr>
        <p:spPr>
          <a:xfrm>
            <a:off x="1016277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71257F1-3A53-D233-AC0B-F6399F55A0C0}"/>
              </a:ext>
            </a:extLst>
          </p:cNvPr>
          <p:cNvSpPr/>
          <p:nvPr/>
        </p:nvSpPr>
        <p:spPr>
          <a:xfrm>
            <a:off x="2156239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427EF97-93DF-C335-D918-94A5FC5D6215}"/>
              </a:ext>
            </a:extLst>
          </p:cNvPr>
          <p:cNvSpPr txBox="1"/>
          <p:nvPr/>
        </p:nvSpPr>
        <p:spPr>
          <a:xfrm>
            <a:off x="5675244" y="1397240"/>
            <a:ext cx="6182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画像選択ページ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5503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B57B-A83B-6FE9-85D0-118E96EA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69C66A3-D42F-DC3D-F0EA-88DEFBE324F2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AAF2F7-4F62-2CC3-459B-C7374129ACA2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画像選択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881359-0531-32C6-B3AA-E59429611D72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展示物画像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2044197-8805-B179-E226-3AEE652B2C56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E7B9F20-D31F-36F1-8124-C040F776DE5E}"/>
              </a:ext>
            </a:extLst>
          </p:cNvPr>
          <p:cNvSpPr txBox="1"/>
          <p:nvPr/>
        </p:nvSpPr>
        <p:spPr>
          <a:xfrm>
            <a:off x="955814" y="4081469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AD5405E-91AE-A128-1E55-99BE8588FFF0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E05DCFB-D9D7-FEC2-2538-F47396526976}"/>
              </a:ext>
            </a:extLst>
          </p:cNvPr>
          <p:cNvSpPr/>
          <p:nvPr/>
        </p:nvSpPr>
        <p:spPr>
          <a:xfrm>
            <a:off x="1105454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D2D8610-B8BA-4C89-5E74-BA8B98BD9A23}"/>
              </a:ext>
            </a:extLst>
          </p:cNvPr>
          <p:cNvSpPr/>
          <p:nvPr/>
        </p:nvSpPr>
        <p:spPr>
          <a:xfrm>
            <a:off x="2245416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AB5170A-E280-79F9-2555-588E1A3D5BB7}"/>
              </a:ext>
            </a:extLst>
          </p:cNvPr>
          <p:cNvSpPr txBox="1"/>
          <p:nvPr/>
        </p:nvSpPr>
        <p:spPr>
          <a:xfrm>
            <a:off x="5675244" y="1397240"/>
            <a:ext cx="6182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選択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ファイル名入力欄に入力されたファイルを確定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確定したファイル画像が表示される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説明文入力欄に移動</a:t>
            </a:r>
            <a:endParaRPr kumimoji="1"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B7AB63-01C3-6642-9F55-636B9ED39917}"/>
              </a:ext>
            </a:extLst>
          </p:cNvPr>
          <p:cNvSpPr/>
          <p:nvPr/>
        </p:nvSpPr>
        <p:spPr>
          <a:xfrm>
            <a:off x="996399" y="3581581"/>
            <a:ext cx="2837301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ファイル名入力欄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0164DA-87C5-C575-9190-9009AC81A1E9}"/>
              </a:ext>
            </a:extLst>
          </p:cNvPr>
          <p:cNvSpPr/>
          <p:nvPr/>
        </p:nvSpPr>
        <p:spPr>
          <a:xfrm>
            <a:off x="3977862" y="3581581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選択</a:t>
            </a:r>
          </a:p>
        </p:txBody>
      </p:sp>
      <p:pic>
        <p:nvPicPr>
          <p:cNvPr id="8" name="図 7" descr="テーブル, 座る, ベッド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07F746D-3850-ADB7-BC9F-7D93127A5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69" y="1790027"/>
            <a:ext cx="1182758" cy="1414482"/>
          </a:xfrm>
          <a:prstGeom prst="rect">
            <a:avLst/>
          </a:prstGeom>
        </p:spPr>
      </p:pic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7A306097-EF4F-F7F6-86D2-BF666153EFB8}"/>
              </a:ext>
            </a:extLst>
          </p:cNvPr>
          <p:cNvSpPr/>
          <p:nvPr/>
        </p:nvSpPr>
        <p:spPr>
          <a:xfrm>
            <a:off x="2865424" y="1978214"/>
            <a:ext cx="1338828" cy="619355"/>
          </a:xfrm>
          <a:prstGeom prst="wedgeRectCallout">
            <a:avLst>
              <a:gd name="adj1" fmla="val -76511"/>
              <a:gd name="adj2" fmla="val 769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ここに画像が表示される</a:t>
            </a:r>
          </a:p>
        </p:txBody>
      </p:sp>
    </p:spTree>
    <p:extLst>
      <p:ext uri="{BB962C8B-B14F-4D97-AF65-F5344CB8AC3E}">
        <p14:creationId xmlns:p14="http://schemas.microsoft.com/office/powerpoint/2010/main" val="1352568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1BB75-2A7A-0598-E9F2-03E766AE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2FFAF25-C28C-AC81-BD85-6C3BE05A7CA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BDD0BB-DFBF-14C7-C13A-BAF835B19A4D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説明文入力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8A6D16-AAC1-BCD0-8F25-C2C95ED42BD4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28A275B-C4F8-F49D-6245-271D668A7D10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79D33ADF-17BE-9523-BCF4-679DB84F22E2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CE3B968-0A70-3F5E-EE44-9E488D4210DB}"/>
              </a:ext>
            </a:extLst>
          </p:cNvPr>
          <p:cNvSpPr/>
          <p:nvPr/>
        </p:nvSpPr>
        <p:spPr>
          <a:xfrm>
            <a:off x="1016277" y="52388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FF1BC8E-1C3C-C2A7-22D7-75139E738B40}"/>
              </a:ext>
            </a:extLst>
          </p:cNvPr>
          <p:cNvSpPr/>
          <p:nvPr/>
        </p:nvSpPr>
        <p:spPr>
          <a:xfrm>
            <a:off x="2156238" y="5238802"/>
            <a:ext cx="1710083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QR</a:t>
            </a:r>
            <a:r>
              <a:rPr kumimoji="1" lang="ja-JP" altLang="en-US" sz="1200" dirty="0">
                <a:solidFill>
                  <a:schemeClr val="tx1"/>
                </a:solidFill>
              </a:rPr>
              <a:t>コード発行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138355C-BFEC-A722-C897-F05429C65386}"/>
              </a:ext>
            </a:extLst>
          </p:cNvPr>
          <p:cNvSpPr txBox="1"/>
          <p:nvPr/>
        </p:nvSpPr>
        <p:spPr>
          <a:xfrm>
            <a:off x="5799372" y="1079037"/>
            <a:ext cx="6182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必要な言語を選択し説明文を入力する</a:t>
            </a:r>
            <a:endParaRPr kumimoji="1" lang="en-US" altLang="ja-JP" dirty="0"/>
          </a:p>
          <a:p>
            <a:r>
              <a:rPr kumimoji="1" lang="ja-JP" altLang="en-US" dirty="0"/>
              <a:t>対象外の言語は未入力にしておく</a:t>
            </a:r>
            <a:endParaRPr kumimoji="1" lang="en-US" altLang="ja-JP" dirty="0"/>
          </a:p>
          <a:p>
            <a:r>
              <a:rPr kumimoji="1" lang="ja-JP" altLang="en-US" dirty="0"/>
              <a:t>対象言語すべての入力が終わったら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コード発行</a:t>
            </a:r>
            <a:r>
              <a:rPr lang="ja-JP" altLang="en-US" dirty="0"/>
              <a:t>ボタン</a:t>
            </a:r>
            <a:endParaRPr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E01FA7-41F2-3F87-5B89-6AE0CDFD9EF9}"/>
              </a:ext>
            </a:extLst>
          </p:cNvPr>
          <p:cNvSpPr txBox="1"/>
          <p:nvPr/>
        </p:nvSpPr>
        <p:spPr>
          <a:xfrm>
            <a:off x="1311965" y="1707154"/>
            <a:ext cx="2663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☑日本語</a:t>
            </a:r>
            <a:endParaRPr kumimoji="1" lang="en-US" altLang="ja-JP" dirty="0"/>
          </a:p>
          <a:p>
            <a:r>
              <a:rPr kumimoji="1" lang="ja-JP" altLang="en-US" dirty="0"/>
              <a:t>　英語</a:t>
            </a:r>
            <a:endParaRPr kumimoji="1" lang="en-US" altLang="ja-JP" dirty="0"/>
          </a:p>
          <a:p>
            <a:r>
              <a:rPr kumimoji="1" lang="ja-JP" altLang="en-US" dirty="0"/>
              <a:t>　中国語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1155DFB3-9B98-2B89-464A-FF87979A0E96}"/>
              </a:ext>
            </a:extLst>
          </p:cNvPr>
          <p:cNvSpPr/>
          <p:nvPr/>
        </p:nvSpPr>
        <p:spPr>
          <a:xfrm>
            <a:off x="3065561" y="1436954"/>
            <a:ext cx="1631121" cy="923330"/>
          </a:xfrm>
          <a:prstGeom prst="wedgeRectCallout">
            <a:avLst>
              <a:gd name="adj1" fmla="val -79939"/>
              <a:gd name="adj2" fmla="val 3989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ラジオボタン形式でどれか一つを選択する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D3DDE2-3362-5D6B-AEA8-BD97CD51D71E}"/>
              </a:ext>
            </a:extLst>
          </p:cNvPr>
          <p:cNvSpPr/>
          <p:nvPr/>
        </p:nvSpPr>
        <p:spPr>
          <a:xfrm>
            <a:off x="996399" y="2718200"/>
            <a:ext cx="3784323" cy="17795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説明文入力欄</a:t>
            </a:r>
          </a:p>
        </p:txBody>
      </p:sp>
    </p:spTree>
    <p:extLst>
      <p:ext uri="{BB962C8B-B14F-4D97-AF65-F5344CB8AC3E}">
        <p14:creationId xmlns:p14="http://schemas.microsoft.com/office/powerpoint/2010/main" val="40125974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86D1-9B20-E25E-C892-783C38B9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B17DC03-87F2-75C6-24D0-1C92B72A90BF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3B17D2-37B2-5E00-01A1-2033736D39CC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コード発行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8D1C0E-A06F-7A46-4616-8F5F25B032EE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CB4B4EC-0607-D685-7932-1DE0E66BF0D2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6750D38-4846-FB62-F557-423353BC1A5F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D58851C-41E5-C220-B1C6-031EC9CDF39C}"/>
              </a:ext>
            </a:extLst>
          </p:cNvPr>
          <p:cNvSpPr/>
          <p:nvPr/>
        </p:nvSpPr>
        <p:spPr>
          <a:xfrm>
            <a:off x="1016277" y="5238802"/>
            <a:ext cx="122996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トップページに戻る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3D1575D6-8174-B7B7-1BA9-882FE520EB5C}"/>
              </a:ext>
            </a:extLst>
          </p:cNvPr>
          <p:cNvSpPr/>
          <p:nvPr/>
        </p:nvSpPr>
        <p:spPr>
          <a:xfrm>
            <a:off x="2689774" y="5238802"/>
            <a:ext cx="1710083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印刷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pic>
        <p:nvPicPr>
          <p:cNvPr id="3" name="Picture 2" descr="QRコード作成【ずっと無料・無制限】／QRのススメ">
            <a:extLst>
              <a:ext uri="{FF2B5EF4-FFF2-40B4-BE49-F238E27FC236}">
                <a16:creationId xmlns:a16="http://schemas.microsoft.com/office/drawing/2014/main" id="{E0A2DFCB-A19D-A1A4-7242-4744D8FB2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719" y="2002367"/>
            <a:ext cx="2432601" cy="228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2040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6394-85AF-A470-CC86-47C8BA33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E6B69D1-6931-2FCF-08FE-88DBD5BAA83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D15F35-5F58-8312-8886-17BC663A905E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1BF7B7-CA0B-2727-1C4B-5EED6BA07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273446"/>
              </p:ext>
            </p:extLst>
          </p:nvPr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914E434-B2E6-CA6D-529E-BD2A996B53ED}"/>
              </a:ext>
            </a:extLst>
          </p:cNvPr>
          <p:cNvSpPr/>
          <p:nvPr/>
        </p:nvSpPr>
        <p:spPr>
          <a:xfrm>
            <a:off x="516833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24CBB8F-4891-4F37-A3D7-645D08288FAD}"/>
              </a:ext>
            </a:extLst>
          </p:cNvPr>
          <p:cNvSpPr/>
          <p:nvPr/>
        </p:nvSpPr>
        <p:spPr>
          <a:xfrm>
            <a:off x="1752598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7F227C3-6767-671F-1819-4B08CEC39D13}"/>
              </a:ext>
            </a:extLst>
          </p:cNvPr>
          <p:cNvSpPr/>
          <p:nvPr/>
        </p:nvSpPr>
        <p:spPr>
          <a:xfrm>
            <a:off x="3087755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7F7A82-AFD8-762A-F786-C7FAFE5193F1}"/>
              </a:ext>
            </a:extLst>
          </p:cNvPr>
          <p:cNvSpPr txBox="1"/>
          <p:nvPr/>
        </p:nvSpPr>
        <p:spPr>
          <a:xfrm>
            <a:off x="462168" y="1182757"/>
            <a:ext cx="36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1E7EF33-8457-CDFC-CB27-D5A9CC40A360}"/>
              </a:ext>
            </a:extLst>
          </p:cNvPr>
          <p:cNvSpPr/>
          <p:nvPr/>
        </p:nvSpPr>
        <p:spPr>
          <a:xfrm>
            <a:off x="1697933" y="4208338"/>
            <a:ext cx="12026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710312-CB37-6E48-F2F0-5BEA7D33B61B}"/>
              </a:ext>
            </a:extLst>
          </p:cNvPr>
          <p:cNvSpPr txBox="1"/>
          <p:nvPr/>
        </p:nvSpPr>
        <p:spPr>
          <a:xfrm>
            <a:off x="462168" y="5733294"/>
            <a:ext cx="23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削除ボタンを押す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11003929-392C-6BA1-781A-AE8035288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7322"/>
              </p:ext>
            </p:extLst>
          </p:nvPr>
        </p:nvGraphicFramePr>
        <p:xfrm>
          <a:off x="6096000" y="1820444"/>
          <a:ext cx="476747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157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471559660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修正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5031B4C-34BF-7052-BFB1-F0E56F424CD8}"/>
              </a:ext>
            </a:extLst>
          </p:cNvPr>
          <p:cNvSpPr txBox="1"/>
          <p:nvPr/>
        </p:nvSpPr>
        <p:spPr>
          <a:xfrm>
            <a:off x="5178287" y="5059017"/>
            <a:ext cx="6679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削除選択は複数可能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「中止ボタン」で何もせずにトップ画面に戻る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「削除実行」ボタンで対象を消去後トップ画面に戻る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56D88C5-73CC-D113-8DDA-4F973E0FCC04}"/>
              </a:ext>
            </a:extLst>
          </p:cNvPr>
          <p:cNvSpPr/>
          <p:nvPr/>
        </p:nvSpPr>
        <p:spPr>
          <a:xfrm>
            <a:off x="7624970" y="4208338"/>
            <a:ext cx="1424612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削除実行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30422E8-778D-33A6-05C3-A8C062624E4D}"/>
              </a:ext>
            </a:extLst>
          </p:cNvPr>
          <p:cNvSpPr/>
          <p:nvPr/>
        </p:nvSpPr>
        <p:spPr>
          <a:xfrm>
            <a:off x="6096000" y="4208338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</p:spTree>
    <p:extLst>
      <p:ext uri="{BB962C8B-B14F-4D97-AF65-F5344CB8AC3E}">
        <p14:creationId xmlns:p14="http://schemas.microsoft.com/office/powerpoint/2010/main" val="21195972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4EAC-E5A6-5DBA-2F23-034B3944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81C04A-0028-A5B6-1958-69F2D492033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9DE174-AE62-7CE5-72BD-8489DC27091E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ED75168-28E8-9817-7F55-1323ED6F3D83}"/>
              </a:ext>
            </a:extLst>
          </p:cNvPr>
          <p:cNvGraphicFramePr>
            <a:graphicFrameLocks noGrp="1"/>
          </p:cNvGraphicFramePr>
          <p:nvPr/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F690D4D-1410-44CF-B269-7A078B4E47FF}"/>
              </a:ext>
            </a:extLst>
          </p:cNvPr>
          <p:cNvSpPr/>
          <p:nvPr/>
        </p:nvSpPr>
        <p:spPr>
          <a:xfrm>
            <a:off x="516833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116A870-47C0-64EB-1184-15EAA5241D0A}"/>
              </a:ext>
            </a:extLst>
          </p:cNvPr>
          <p:cNvSpPr/>
          <p:nvPr/>
        </p:nvSpPr>
        <p:spPr>
          <a:xfrm>
            <a:off x="1752598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4BDFE56-1BBD-E2F4-7C24-B589420EC17A}"/>
              </a:ext>
            </a:extLst>
          </p:cNvPr>
          <p:cNvSpPr/>
          <p:nvPr/>
        </p:nvSpPr>
        <p:spPr>
          <a:xfrm>
            <a:off x="3087755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54E4A5-AAB0-ADE7-91C3-C3407D149848}"/>
              </a:ext>
            </a:extLst>
          </p:cNvPr>
          <p:cNvSpPr txBox="1"/>
          <p:nvPr/>
        </p:nvSpPr>
        <p:spPr>
          <a:xfrm>
            <a:off x="462168" y="1182757"/>
            <a:ext cx="36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0E931A7-8E84-9FF0-7665-784C06C2A9A3}"/>
              </a:ext>
            </a:extLst>
          </p:cNvPr>
          <p:cNvSpPr/>
          <p:nvPr/>
        </p:nvSpPr>
        <p:spPr>
          <a:xfrm>
            <a:off x="3010726" y="4208338"/>
            <a:ext cx="12026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2A1E1D0-B79B-04E9-E503-B73E01991B3C}"/>
              </a:ext>
            </a:extLst>
          </p:cNvPr>
          <p:cNvSpPr txBox="1"/>
          <p:nvPr/>
        </p:nvSpPr>
        <p:spPr>
          <a:xfrm>
            <a:off x="462168" y="5733294"/>
            <a:ext cx="23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修正ボタンを押す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452142B5-3F89-8D3D-D452-48C726851D1F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820444"/>
          <a:ext cx="476747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157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471559660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修正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BCADFBF-5F42-6280-0D19-F30B38F5DEF6}"/>
              </a:ext>
            </a:extLst>
          </p:cNvPr>
          <p:cNvSpPr/>
          <p:nvPr/>
        </p:nvSpPr>
        <p:spPr>
          <a:xfrm>
            <a:off x="7554571" y="4222545"/>
            <a:ext cx="1424612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F5B93EE-17D5-8666-63D3-A938A7EE771A}"/>
              </a:ext>
            </a:extLst>
          </p:cNvPr>
          <p:cNvSpPr/>
          <p:nvPr/>
        </p:nvSpPr>
        <p:spPr>
          <a:xfrm>
            <a:off x="6025601" y="4222545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D4158E-D8D0-4514-959B-ACF29586AD8E}"/>
              </a:ext>
            </a:extLst>
          </p:cNvPr>
          <p:cNvSpPr txBox="1"/>
          <p:nvPr/>
        </p:nvSpPr>
        <p:spPr>
          <a:xfrm>
            <a:off x="5841727" y="5179296"/>
            <a:ext cx="6154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修正選択は一つのみ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「中止ボタン」で何もせずにトップ画面に戻る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「修正」ボタンで対象博物館の管理者画面に</a:t>
            </a:r>
          </a:p>
        </p:txBody>
      </p:sp>
    </p:spTree>
    <p:extLst>
      <p:ext uri="{BB962C8B-B14F-4D97-AF65-F5344CB8AC3E}">
        <p14:creationId xmlns:p14="http://schemas.microsoft.com/office/powerpoint/2010/main" val="37392715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11F8-422C-FD1B-A714-47C0E466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210B2BF-1061-E6DB-EBD3-C49519853C4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415560-8DAB-3737-658F-98E84DD3E51C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修正：展示物名入力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36B698-1AC8-98C9-577F-5A604C51806C}"/>
              </a:ext>
            </a:extLst>
          </p:cNvPr>
          <p:cNvSpPr/>
          <p:nvPr/>
        </p:nvSpPr>
        <p:spPr>
          <a:xfrm>
            <a:off x="1016277" y="177476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385A34-EB53-07A5-E1AE-14B8C2E959D2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展示物名入力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704FD26-5B43-330C-B601-BB9B69ACB426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140782E-88AD-B677-FF49-C86BBDB9EF26}"/>
              </a:ext>
            </a:extLst>
          </p:cNvPr>
          <p:cNvSpPr txBox="1"/>
          <p:nvPr/>
        </p:nvSpPr>
        <p:spPr>
          <a:xfrm>
            <a:off x="2935468" y="1774761"/>
            <a:ext cx="164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日本語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B98A0AF-7F22-4D1D-6540-1944940D5E8A}"/>
              </a:ext>
            </a:extLst>
          </p:cNvPr>
          <p:cNvSpPr/>
          <p:nvPr/>
        </p:nvSpPr>
        <p:spPr>
          <a:xfrm>
            <a:off x="1016277" y="2380462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F436354-DE96-D8B7-FEF5-C4DF8612CEB4}"/>
              </a:ext>
            </a:extLst>
          </p:cNvPr>
          <p:cNvSpPr txBox="1"/>
          <p:nvPr/>
        </p:nvSpPr>
        <p:spPr>
          <a:xfrm>
            <a:off x="2935468" y="2380462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英語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9A9DDD9-BAA5-EC3C-89D4-27986E89027B}"/>
              </a:ext>
            </a:extLst>
          </p:cNvPr>
          <p:cNvSpPr/>
          <p:nvPr/>
        </p:nvSpPr>
        <p:spPr>
          <a:xfrm>
            <a:off x="1016277" y="2986163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E9E75C6-0FBA-282E-0C92-376512C0FFD2}"/>
              </a:ext>
            </a:extLst>
          </p:cNvPr>
          <p:cNvSpPr txBox="1"/>
          <p:nvPr/>
        </p:nvSpPr>
        <p:spPr>
          <a:xfrm>
            <a:off x="2935468" y="2986163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中国語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77D7879-18B7-627C-6CDE-DDB7119FF6BE}"/>
              </a:ext>
            </a:extLst>
          </p:cNvPr>
          <p:cNvSpPr txBox="1"/>
          <p:nvPr/>
        </p:nvSpPr>
        <p:spPr>
          <a:xfrm>
            <a:off x="974588" y="3570407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6CFDF49-96BC-D36F-97CF-2B5103BBF9CA}"/>
              </a:ext>
            </a:extLst>
          </p:cNvPr>
          <p:cNvSpPr/>
          <p:nvPr/>
        </p:nvSpPr>
        <p:spPr>
          <a:xfrm>
            <a:off x="711201" y="1079037"/>
            <a:ext cx="4338320" cy="3814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404585D-781E-3C43-4F4A-EA7939121F5C}"/>
              </a:ext>
            </a:extLst>
          </p:cNvPr>
          <p:cNvSpPr/>
          <p:nvPr/>
        </p:nvSpPr>
        <p:spPr>
          <a:xfrm>
            <a:off x="1016277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2A6EE1A-A51D-82E9-E944-C19DCC5F2379}"/>
              </a:ext>
            </a:extLst>
          </p:cNvPr>
          <p:cNvSpPr/>
          <p:nvPr/>
        </p:nvSpPr>
        <p:spPr>
          <a:xfrm>
            <a:off x="2156239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A1C385C-F55F-3FB8-7C8B-3AD96B862A6F}"/>
              </a:ext>
            </a:extLst>
          </p:cNvPr>
          <p:cNvSpPr txBox="1"/>
          <p:nvPr/>
        </p:nvSpPr>
        <p:spPr>
          <a:xfrm>
            <a:off x="5675244" y="1397240"/>
            <a:ext cx="6182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修正トップページ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画像選択ページ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8850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F67A-EF15-2696-B840-76F96B4F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9C0C61C-8568-101D-50E0-0623D37B225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343C08-A8F5-EE08-F4BD-03A2E64B55AD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修正：画像選択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1DD57A-23B8-1CBA-34BE-86BFC8BEC0C7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展示物画像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4A8605A-DE5A-07F3-C682-C53D69979362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69AA25D-7A06-ACB9-8A76-69E1C98D4CF4}"/>
              </a:ext>
            </a:extLst>
          </p:cNvPr>
          <p:cNvSpPr txBox="1"/>
          <p:nvPr/>
        </p:nvSpPr>
        <p:spPr>
          <a:xfrm>
            <a:off x="955814" y="4081469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276CBCF-7029-FA86-9EF9-FB061688F562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1BB6215-4B5E-38BD-774C-B906DFC9C757}"/>
              </a:ext>
            </a:extLst>
          </p:cNvPr>
          <p:cNvSpPr/>
          <p:nvPr/>
        </p:nvSpPr>
        <p:spPr>
          <a:xfrm>
            <a:off x="1105454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3481D28B-F737-9EF8-72FE-5F90065DBF84}"/>
              </a:ext>
            </a:extLst>
          </p:cNvPr>
          <p:cNvSpPr/>
          <p:nvPr/>
        </p:nvSpPr>
        <p:spPr>
          <a:xfrm>
            <a:off x="2245416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5F92EA2-03A0-73E2-8DA8-51DA50B7B255}"/>
              </a:ext>
            </a:extLst>
          </p:cNvPr>
          <p:cNvSpPr txBox="1"/>
          <p:nvPr/>
        </p:nvSpPr>
        <p:spPr>
          <a:xfrm>
            <a:off x="5675244" y="1397240"/>
            <a:ext cx="6182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修正トップページ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選択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ファイル名入力欄に入力されたファイルを確定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確定したファイル画像が表示される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説明文入力欄に移動</a:t>
            </a:r>
            <a:endParaRPr kumimoji="1"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5DC4DA-066A-7198-6190-F2CA23082FE4}"/>
              </a:ext>
            </a:extLst>
          </p:cNvPr>
          <p:cNvSpPr/>
          <p:nvPr/>
        </p:nvSpPr>
        <p:spPr>
          <a:xfrm>
            <a:off x="996399" y="3581581"/>
            <a:ext cx="2837301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ファイル名入力欄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FB2961-AD0D-8A4E-F03D-85B82E050EE8}"/>
              </a:ext>
            </a:extLst>
          </p:cNvPr>
          <p:cNvSpPr/>
          <p:nvPr/>
        </p:nvSpPr>
        <p:spPr>
          <a:xfrm>
            <a:off x="3977862" y="3581581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選択</a:t>
            </a:r>
          </a:p>
        </p:txBody>
      </p:sp>
      <p:pic>
        <p:nvPicPr>
          <p:cNvPr id="8" name="図 7" descr="テーブル, 座る, ベッド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74ED103-3CBA-091D-699E-7DF78D90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69" y="1790027"/>
            <a:ext cx="1182758" cy="1414482"/>
          </a:xfrm>
          <a:prstGeom prst="rect">
            <a:avLst/>
          </a:prstGeom>
        </p:spPr>
      </p:pic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584426B7-1409-04CB-D612-AC71DC3AEBE4}"/>
              </a:ext>
            </a:extLst>
          </p:cNvPr>
          <p:cNvSpPr/>
          <p:nvPr/>
        </p:nvSpPr>
        <p:spPr>
          <a:xfrm>
            <a:off x="2865424" y="1978214"/>
            <a:ext cx="1338828" cy="619355"/>
          </a:xfrm>
          <a:prstGeom prst="wedgeRectCallout">
            <a:avLst>
              <a:gd name="adj1" fmla="val -76511"/>
              <a:gd name="adj2" fmla="val 769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ここに画像が表示される</a:t>
            </a:r>
          </a:p>
        </p:txBody>
      </p:sp>
    </p:spTree>
    <p:extLst>
      <p:ext uri="{BB962C8B-B14F-4D97-AF65-F5344CB8AC3E}">
        <p14:creationId xmlns:p14="http://schemas.microsoft.com/office/powerpoint/2010/main" val="21822663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3816-7B69-41CB-ADC6-C5743886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374D7C5-EB2C-58A2-FC40-BF78243F1B5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DEB5FA-6A0F-5C6E-73D8-0F6E00C4E59A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修正：説明文入力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926DB8-39D0-E7B8-3468-6F09A3A237A7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12BEB1-7029-272E-4174-D34B9A43D7FC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F113430-CE55-EF58-569B-6E5E96794839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2601AF4-B574-5C92-5E21-176E719C261D}"/>
              </a:ext>
            </a:extLst>
          </p:cNvPr>
          <p:cNvSpPr/>
          <p:nvPr/>
        </p:nvSpPr>
        <p:spPr>
          <a:xfrm>
            <a:off x="1016277" y="52388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53048A9-6CBD-3F33-6DAC-133CE4B82773}"/>
              </a:ext>
            </a:extLst>
          </p:cNvPr>
          <p:cNvSpPr/>
          <p:nvPr/>
        </p:nvSpPr>
        <p:spPr>
          <a:xfrm>
            <a:off x="2156239" y="52388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C17538A-E700-90AF-98E7-D9BB308BDD37}"/>
              </a:ext>
            </a:extLst>
          </p:cNvPr>
          <p:cNvSpPr txBox="1"/>
          <p:nvPr/>
        </p:nvSpPr>
        <p:spPr>
          <a:xfrm>
            <a:off x="5799372" y="1079037"/>
            <a:ext cx="6182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必要な言語を選択し説明文を入力する</a:t>
            </a:r>
            <a:endParaRPr kumimoji="1" lang="en-US" altLang="ja-JP" dirty="0"/>
          </a:p>
          <a:p>
            <a:r>
              <a:rPr kumimoji="1" lang="ja-JP" altLang="en-US" dirty="0"/>
              <a:t>対象外の言語は未入力にしておく</a:t>
            </a:r>
            <a:endParaRPr kumimoji="1" lang="en-US" altLang="ja-JP" dirty="0"/>
          </a:p>
          <a:p>
            <a:r>
              <a:rPr kumimoji="1" lang="ja-JP" altLang="en-US" dirty="0"/>
              <a:t>対象言語すべての入力が終わったら</a:t>
            </a:r>
            <a:r>
              <a:rPr lang="en-US" altLang="ja-JP" dirty="0"/>
              <a:t>OK</a:t>
            </a:r>
            <a:r>
              <a:rPr lang="ja-JP" altLang="en-US" dirty="0"/>
              <a:t>ボタン</a:t>
            </a:r>
            <a:endParaRPr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51F646-82BE-BC1A-DE4C-A54EBF2DA8D3}"/>
              </a:ext>
            </a:extLst>
          </p:cNvPr>
          <p:cNvSpPr txBox="1"/>
          <p:nvPr/>
        </p:nvSpPr>
        <p:spPr>
          <a:xfrm>
            <a:off x="1311965" y="1707154"/>
            <a:ext cx="2663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☑日本語</a:t>
            </a:r>
            <a:endParaRPr kumimoji="1" lang="en-US" altLang="ja-JP" dirty="0"/>
          </a:p>
          <a:p>
            <a:r>
              <a:rPr kumimoji="1" lang="ja-JP" altLang="en-US" dirty="0"/>
              <a:t>　英語</a:t>
            </a:r>
            <a:endParaRPr kumimoji="1" lang="en-US" altLang="ja-JP" dirty="0"/>
          </a:p>
          <a:p>
            <a:r>
              <a:rPr kumimoji="1" lang="ja-JP" altLang="en-US" dirty="0"/>
              <a:t>　中国語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8A8BC2D5-5926-96EE-9452-3635B6C41A0B}"/>
              </a:ext>
            </a:extLst>
          </p:cNvPr>
          <p:cNvSpPr/>
          <p:nvPr/>
        </p:nvSpPr>
        <p:spPr>
          <a:xfrm>
            <a:off x="3065561" y="1436954"/>
            <a:ext cx="1631121" cy="923330"/>
          </a:xfrm>
          <a:prstGeom prst="wedgeRectCallout">
            <a:avLst>
              <a:gd name="adj1" fmla="val -79939"/>
              <a:gd name="adj2" fmla="val 3989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ラジオボタン形式でどれか一つを選択する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4B9F10-E5D6-2A09-8D13-AD838F194CCD}"/>
              </a:ext>
            </a:extLst>
          </p:cNvPr>
          <p:cNvSpPr/>
          <p:nvPr/>
        </p:nvSpPr>
        <p:spPr>
          <a:xfrm>
            <a:off x="996399" y="2718200"/>
            <a:ext cx="3784323" cy="17795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説明文入力欄</a:t>
            </a:r>
          </a:p>
        </p:txBody>
      </p:sp>
    </p:spTree>
    <p:extLst>
      <p:ext uri="{BB962C8B-B14F-4D97-AF65-F5344CB8AC3E}">
        <p14:creationId xmlns:p14="http://schemas.microsoft.com/office/powerpoint/2010/main" val="30217812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085EA-EE5A-3995-B30E-35F2DAE5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45B4D18-9214-71EA-A3B5-B1EFF566DC3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E1903D-28AC-1AA9-1B85-9A04AE681026}"/>
              </a:ext>
            </a:extLst>
          </p:cNvPr>
          <p:cNvSpPr txBox="1"/>
          <p:nvPr/>
        </p:nvSpPr>
        <p:spPr>
          <a:xfrm>
            <a:off x="407504" y="198783"/>
            <a:ext cx="48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アプリケーションとシステムの連携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719DAAD-586F-673C-D658-7955ECB95287}"/>
              </a:ext>
            </a:extLst>
          </p:cNvPr>
          <p:cNvSpPr/>
          <p:nvPr/>
        </p:nvSpPr>
        <p:spPr>
          <a:xfrm>
            <a:off x="2236304" y="2176392"/>
            <a:ext cx="1818861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QR</a:t>
            </a:r>
            <a:r>
              <a:rPr kumimoji="1" lang="ja-JP" altLang="en-US" sz="1200" dirty="0">
                <a:solidFill>
                  <a:schemeClr val="tx1"/>
                </a:solidFill>
              </a:rPr>
              <a:t>リーダー</a:t>
            </a:r>
          </a:p>
        </p:txBody>
      </p:sp>
      <p:pic>
        <p:nvPicPr>
          <p:cNvPr id="7" name="Picture 2" descr="QRコード作成【ずっと無料・無制限】／QRのススメ">
            <a:extLst>
              <a:ext uri="{FF2B5EF4-FFF2-40B4-BE49-F238E27FC236}">
                <a16:creationId xmlns:a16="http://schemas.microsoft.com/office/drawing/2014/main" id="{2AF49899-83AF-13D4-E81F-C08D0295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87" y="2186601"/>
            <a:ext cx="749487" cy="7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F190876D-C9FD-5149-4074-E4C48B80FE3D}"/>
              </a:ext>
            </a:extLst>
          </p:cNvPr>
          <p:cNvCxnSpPr>
            <a:stCxn id="7" idx="3"/>
            <a:endCxn id="3" idx="1"/>
          </p:cNvCxnSpPr>
          <p:nvPr/>
        </p:nvCxnSpPr>
        <p:spPr>
          <a:xfrm flipV="1">
            <a:off x="1669774" y="2534197"/>
            <a:ext cx="566530" cy="5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E0DF062-9394-EA37-7F4D-1DEB1F3390FE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4055165" y="2534189"/>
            <a:ext cx="2350605" cy="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52FD92A-ED86-42F7-DB2B-91229B9EBB91}"/>
              </a:ext>
            </a:extLst>
          </p:cNvPr>
          <p:cNvSpPr txBox="1"/>
          <p:nvPr/>
        </p:nvSpPr>
        <p:spPr>
          <a:xfrm>
            <a:off x="4055165" y="21866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URL</a:t>
            </a:r>
            <a:r>
              <a:rPr lang="ja-JP" altLang="en-US" dirty="0"/>
              <a:t>通知</a:t>
            </a:r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D8FD5A1-1216-D5EF-FBA1-D2680DAA902E}"/>
              </a:ext>
            </a:extLst>
          </p:cNvPr>
          <p:cNvSpPr/>
          <p:nvPr/>
        </p:nvSpPr>
        <p:spPr>
          <a:xfrm>
            <a:off x="6405770" y="2176384"/>
            <a:ext cx="1989485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URL</a:t>
            </a:r>
            <a:r>
              <a:rPr kumimoji="1" lang="ja-JP" altLang="en-US" sz="1200" dirty="0">
                <a:solidFill>
                  <a:schemeClr val="tx1"/>
                </a:solidFill>
              </a:rPr>
              <a:t>から表示内容を確定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4D2C61C-B5C0-7E01-5752-619F824F3DEF}"/>
              </a:ext>
            </a:extLst>
          </p:cNvPr>
          <p:cNvSpPr/>
          <p:nvPr/>
        </p:nvSpPr>
        <p:spPr>
          <a:xfrm>
            <a:off x="6405770" y="3860370"/>
            <a:ext cx="1989485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画面構築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7B1CFE8-B714-50BE-FC93-AD0D96FFF535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7400513" y="2891993"/>
            <a:ext cx="0" cy="968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350A5490-2AB6-A694-B463-EA6A203CBCB3}"/>
              </a:ext>
            </a:extLst>
          </p:cNvPr>
          <p:cNvCxnSpPr>
            <a:cxnSpLocks/>
            <a:stCxn id="24" idx="1"/>
            <a:endCxn id="31" idx="3"/>
          </p:cNvCxnSpPr>
          <p:nvPr/>
        </p:nvCxnSpPr>
        <p:spPr>
          <a:xfrm flipH="1">
            <a:off x="4055165" y="4218175"/>
            <a:ext cx="235060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D4CBD29-CDCC-5459-79E1-2620CEB73053}"/>
              </a:ext>
            </a:extLst>
          </p:cNvPr>
          <p:cNvSpPr/>
          <p:nvPr/>
        </p:nvSpPr>
        <p:spPr>
          <a:xfrm>
            <a:off x="2236304" y="3860371"/>
            <a:ext cx="1818861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ブラウザで画面表示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09C74A2-2A19-426A-E08D-57ADA2A7CF44}"/>
              </a:ext>
            </a:extLst>
          </p:cNvPr>
          <p:cNvSpPr txBox="1"/>
          <p:nvPr/>
        </p:nvSpPr>
        <p:spPr>
          <a:xfrm>
            <a:off x="2375452" y="14610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アプリ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2019330-ECAC-CD3F-6FBF-27AA004C5D9C}"/>
              </a:ext>
            </a:extLst>
          </p:cNvPr>
          <p:cNvSpPr txBox="1"/>
          <p:nvPr/>
        </p:nvSpPr>
        <p:spPr>
          <a:xfrm>
            <a:off x="6831495" y="14492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サーバー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9319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9415</TotalTime>
  <Words>1518</Words>
  <Application>Microsoft Office PowerPoint</Application>
  <PresentationFormat>ワイド画面</PresentationFormat>
  <Paragraphs>306</Paragraphs>
  <Slides>53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53</vt:i4>
      </vt:variant>
    </vt:vector>
  </HeadingPairs>
  <TitlesOfParts>
    <vt:vector size="58" baseType="lpstr">
      <vt:lpstr>游ゴシック</vt:lpstr>
      <vt:lpstr>游ゴシック Light</vt:lpstr>
      <vt:lpstr>Arial</vt:lpstr>
      <vt:lpstr>Wingdings</vt:lpstr>
      <vt:lpstr>Office テーマ</vt:lpstr>
      <vt:lpstr>博物館アプリ企画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takayuki matsunaga</dc:creator>
  <cp:lastModifiedBy>takayuki matsunaga</cp:lastModifiedBy>
  <cp:revision>21</cp:revision>
  <cp:lastPrinted>2026-02-01T12:13:08Z</cp:lastPrinted>
  <dcterms:created xsi:type="dcterms:W3CDTF">2026-01-03T04:55:58Z</dcterms:created>
  <dcterms:modified xsi:type="dcterms:W3CDTF">2026-02-01T23:47:36Z</dcterms:modified>
</cp:coreProperties>
</file>