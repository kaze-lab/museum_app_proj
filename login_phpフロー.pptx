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2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68A6A-0A44-4082-936F-FDF84DC2028A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6516E-1A8F-4EF0-909B-7941D929DA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393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6516E-1A8F-4EF0-909B-7941D929DAD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848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229BCD-91CB-6FF8-FE83-667E1A598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52C308-2CAC-0CFF-8896-82C531AC1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154A9-1BBB-F10A-B643-E998B060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0CC09A-EA9C-322E-0EC9-FB3C4341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2E263A-DA41-A6CD-3C1A-6A51B2A7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13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A92103-82E2-96E0-A201-BDE86F41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DD7E82-3606-E11A-4EA9-90EFBF82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5D4579-DEBC-B1B4-2D68-4EEBD334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491C8B-1692-B431-9930-C408B237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490D0-F2EB-FC85-2447-12D83A5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9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EE331-260B-2A77-1E00-C00E7A3F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77C3C6-7D76-C27F-7EDF-2157D6846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A5A95E-56DA-2646-F1CE-9E24D136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0226CD-FA1E-DFF2-277C-A1F68DBE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42E5D4-2EB0-83D9-1249-90BEA205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34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9F285-B4C5-6265-A4AC-9B7B0781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F33396-4DD0-E5FF-656E-C52C5DDEF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2E43DE-50E7-1C73-D1CE-8C76331DE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58CE87-DECE-4F08-698A-BD71E97F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131385-496D-27AA-66E2-17DFD319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1CBEE9-B265-52C5-08CC-98DB6F60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34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E91DFA-6420-BE55-0E5C-0B5039C9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9F9A3F-216E-6605-0FBA-72BDE02E5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8D3EFE-706C-71F5-E78E-90311195A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CD4529-E696-8211-E23F-518AF4F8D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E6B4E4-16B6-C9A7-A96D-0F5A7C035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7C46C9-4F71-950C-8C36-D64851AC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019A981-0C29-6692-E256-369D53BD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A6D536-BF6D-10DF-9E43-03B7BF3C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9506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5F9FA-0A91-E9A4-AC51-DCCFFACD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D0F609-523E-513D-025C-B834B5DA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B07D9A-00D6-2752-6A4C-0D7322C3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3B474C-CFA1-453F-80D6-CDECC7EB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30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D08229-A9E8-0B71-BED2-3E25107B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0C29D0-1878-83EC-6371-D5A3A759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730D1A-89A0-EB05-C182-60EBED3C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78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02EEB-122B-FBFA-6CDE-22E25D1E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92B80E-664B-1188-04E0-49B89AD6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337C8D-87CE-ACB1-BFA8-68C828EF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1FACD2-DAED-C031-B302-0E4A716E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94004F-C59D-86A3-05C1-A6602395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4933E8-F7B0-0490-F040-68870199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45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5F63D-F535-1C6D-3253-667E2D44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B5A861-90E8-98C7-5C57-BE7F71702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0421C2-87DE-3EE3-19E9-0B29D65F8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2E903D-8583-8585-A22D-7183B422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83CE1-676C-1B66-D493-5445648B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83258-38BC-4D86-69E0-6735E578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05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FDC59A-8269-F409-EA72-C8FE955E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4D16CF-5AA1-975D-3AC9-A6F62D675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3747D5-CD9B-1533-A620-E4A1437A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89C6C2-C602-F139-D464-0D411AAB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0132BA-B275-DB54-660B-FCBC759B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9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3C381A3-5B35-10E2-C199-6DAFFBCFB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7ADA20-5790-E149-64F9-3003C03C1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47C6B9-361A-E8B8-135F-C79A740D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3E2B1B-AE7F-C8B7-072D-7EA70FEE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D6AA18-6834-9617-3037-945D4A71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17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5005FE-70EB-CF77-AEE8-3AD06C06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CF5B6E-FFF1-0571-7B69-77AA0F992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7FC951-487F-C491-3A95-0BD254DF3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29CCE-7172-49BB-BF5C-76B8163466D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D7BDA4-FB0A-D60C-93F1-7587F1C46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A0D481-B786-1886-E750-CE54D0990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A00EA-0743-43E9-8BA3-EF7DF1595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36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=xxxx@example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0251A-288E-FB41-DF0C-1FE9EA15A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Login.php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ECF51D-9962-918A-AF61-10E4AAD27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D:\dev\public_lib\museum_app\museum_sv\login.php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560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extLst>
              <a:ext uri="{FF2B5EF4-FFF2-40B4-BE49-F238E27FC236}">
                <a16:creationId xmlns:a16="http://schemas.microsoft.com/office/drawing/2014/main" id="{15F369DB-AD26-39A2-B135-F26D4DDEF962}"/>
              </a:ext>
            </a:extLst>
          </p:cNvPr>
          <p:cNvSpPr/>
          <p:nvPr/>
        </p:nvSpPr>
        <p:spPr>
          <a:xfrm>
            <a:off x="2941983" y="407504"/>
            <a:ext cx="1371600" cy="30811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start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C028B54D-1FA4-CA09-84FC-409883010BAB}"/>
              </a:ext>
            </a:extLst>
          </p:cNvPr>
          <p:cNvSpPr/>
          <p:nvPr/>
        </p:nvSpPr>
        <p:spPr>
          <a:xfrm>
            <a:off x="2459935" y="1023730"/>
            <a:ext cx="2335695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post</a:t>
            </a:r>
            <a:r>
              <a:rPr kumimoji="1" lang="ja-JP" altLang="en-US" sz="1200" dirty="0">
                <a:solidFill>
                  <a:schemeClr val="tx1"/>
                </a:solidFill>
              </a:rPr>
              <a:t>送信チェック</a:t>
            </a:r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0F42C872-310D-9540-8C49-4F6B72BF5151}"/>
              </a:ext>
            </a:extLst>
          </p:cNvPr>
          <p:cNvSpPr/>
          <p:nvPr/>
        </p:nvSpPr>
        <p:spPr>
          <a:xfrm>
            <a:off x="2459935" y="1709530"/>
            <a:ext cx="2335695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メールアドレスで管理者を検索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6BD952-EC33-0A19-0058-2AE6970F60F8}"/>
              </a:ext>
            </a:extLst>
          </p:cNvPr>
          <p:cNvSpPr txBox="1"/>
          <p:nvPr/>
        </p:nvSpPr>
        <p:spPr>
          <a:xfrm>
            <a:off x="4795630" y="1089462"/>
            <a:ext cx="23356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フォームが送信されたら処理開始。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174C3E-3792-2F5A-720E-41DB00D153B0}"/>
              </a:ext>
            </a:extLst>
          </p:cNvPr>
          <p:cNvSpPr txBox="1"/>
          <p:nvPr/>
        </p:nvSpPr>
        <p:spPr>
          <a:xfrm>
            <a:off x="4795630" y="1874654"/>
            <a:ext cx="1930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DB </a:t>
            </a:r>
            <a:r>
              <a:rPr lang="ja-JP" altLang="en-US" sz="1000" dirty="0"/>
              <a:t>から該当ユーザーを取得。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29BCDCE-F9D8-45F6-2BD2-358515527A3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627783" y="715617"/>
            <a:ext cx="0" cy="308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186361F-BD24-BC31-C1CF-4F6BBA1A10A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627783" y="1401417"/>
            <a:ext cx="0" cy="308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: 判断 14">
            <a:extLst>
              <a:ext uri="{FF2B5EF4-FFF2-40B4-BE49-F238E27FC236}">
                <a16:creationId xmlns:a16="http://schemas.microsoft.com/office/drawing/2014/main" id="{E1A2CCC4-97A3-1482-130F-7EB57F1C8E83}"/>
              </a:ext>
            </a:extLst>
          </p:cNvPr>
          <p:cNvSpPr/>
          <p:nvPr/>
        </p:nvSpPr>
        <p:spPr>
          <a:xfrm>
            <a:off x="1987825" y="2464903"/>
            <a:ext cx="3279913" cy="636105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パスワード照合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3781181-27B3-8A41-A4A4-23D00CA2F9D9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3627782" y="2087217"/>
            <a:ext cx="1" cy="377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フローチャート: 処理 19">
            <a:extLst>
              <a:ext uri="{FF2B5EF4-FFF2-40B4-BE49-F238E27FC236}">
                <a16:creationId xmlns:a16="http://schemas.microsoft.com/office/drawing/2014/main" id="{E2A2623F-DD55-655D-8D21-DE2FF0AD587B}"/>
              </a:ext>
            </a:extLst>
          </p:cNvPr>
          <p:cNvSpPr/>
          <p:nvPr/>
        </p:nvSpPr>
        <p:spPr>
          <a:xfrm>
            <a:off x="819978" y="3256192"/>
            <a:ext cx="1346753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エラーモーダル</a:t>
            </a: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4560A186-FB0E-C2C8-D21F-BAE7DD79EDCB}"/>
              </a:ext>
            </a:extLst>
          </p:cNvPr>
          <p:cNvCxnSpPr>
            <a:stCxn id="15" idx="1"/>
            <a:endCxn id="20" idx="0"/>
          </p:cNvCxnSpPr>
          <p:nvPr/>
        </p:nvCxnSpPr>
        <p:spPr>
          <a:xfrm rot="10800000" flipV="1">
            <a:off x="1493355" y="2782956"/>
            <a:ext cx="494470" cy="4732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ローチャート: 端子 23">
            <a:extLst>
              <a:ext uri="{FF2B5EF4-FFF2-40B4-BE49-F238E27FC236}">
                <a16:creationId xmlns:a16="http://schemas.microsoft.com/office/drawing/2014/main" id="{2B69AC9B-6C12-CE75-222E-62D0E5C7CCA0}"/>
              </a:ext>
            </a:extLst>
          </p:cNvPr>
          <p:cNvSpPr/>
          <p:nvPr/>
        </p:nvSpPr>
        <p:spPr>
          <a:xfrm>
            <a:off x="819978" y="4010437"/>
            <a:ext cx="1371600" cy="30811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終了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88BAEA3-E084-45C2-D126-F825E8ECB4E1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1493355" y="3633879"/>
            <a:ext cx="12423" cy="376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フローチャート: 処理 27">
            <a:extLst>
              <a:ext uri="{FF2B5EF4-FFF2-40B4-BE49-F238E27FC236}">
                <a16:creationId xmlns:a16="http://schemas.microsoft.com/office/drawing/2014/main" id="{D10977E5-433B-1AD2-C191-D139BB1B265E}"/>
              </a:ext>
            </a:extLst>
          </p:cNvPr>
          <p:cNvSpPr/>
          <p:nvPr/>
        </p:nvSpPr>
        <p:spPr>
          <a:xfrm>
            <a:off x="2459933" y="3484227"/>
            <a:ext cx="2335695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認証コード生成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9E80651-C9E3-D512-06B5-FE53E980E4F7}"/>
              </a:ext>
            </a:extLst>
          </p:cNvPr>
          <p:cNvSpPr txBox="1"/>
          <p:nvPr/>
        </p:nvSpPr>
        <p:spPr>
          <a:xfrm>
            <a:off x="4887567" y="3548267"/>
            <a:ext cx="17468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5</a:t>
            </a:r>
            <a:r>
              <a:rPr lang="ja-JP" altLang="en-US" sz="1000" dirty="0"/>
              <a:t>桁のランダム数字を作る。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647FD0B6-8DCD-A7A0-F677-CA1E1415DD8F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 flipH="1">
            <a:off x="3627781" y="3101008"/>
            <a:ext cx="1" cy="383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フローチャート: 処理 34">
            <a:extLst>
              <a:ext uri="{FF2B5EF4-FFF2-40B4-BE49-F238E27FC236}">
                <a16:creationId xmlns:a16="http://schemas.microsoft.com/office/drawing/2014/main" id="{D8F53E0A-0350-42EA-E53A-0D76D125B205}"/>
              </a:ext>
            </a:extLst>
          </p:cNvPr>
          <p:cNvSpPr/>
          <p:nvPr/>
        </p:nvSpPr>
        <p:spPr>
          <a:xfrm>
            <a:off x="2459933" y="4245133"/>
            <a:ext cx="2335695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メール送信準備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0346B65-4C52-0DC9-4AF9-6C058AECDD8D}"/>
              </a:ext>
            </a:extLst>
          </p:cNvPr>
          <p:cNvSpPr txBox="1"/>
          <p:nvPr/>
        </p:nvSpPr>
        <p:spPr>
          <a:xfrm>
            <a:off x="4882597" y="4318550"/>
            <a:ext cx="20897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本文・件名・送信元をセット。</a:t>
            </a:r>
          </a:p>
        </p:txBody>
      </p:sp>
      <p:sp>
        <p:nvSpPr>
          <p:cNvPr id="38" name="フローチャート: 処理 37">
            <a:extLst>
              <a:ext uri="{FF2B5EF4-FFF2-40B4-BE49-F238E27FC236}">
                <a16:creationId xmlns:a16="http://schemas.microsoft.com/office/drawing/2014/main" id="{E4A316A7-63EB-8771-9E8D-E68E709F9272}"/>
              </a:ext>
            </a:extLst>
          </p:cNvPr>
          <p:cNvSpPr/>
          <p:nvPr/>
        </p:nvSpPr>
        <p:spPr>
          <a:xfrm>
            <a:off x="2459932" y="4959626"/>
            <a:ext cx="2335695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メール送信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17FEA922-17BE-2017-AD1E-92CF219AEA58}"/>
              </a:ext>
            </a:extLst>
          </p:cNvPr>
          <p:cNvCxnSpPr>
            <a:cxnSpLocks/>
            <a:stCxn id="28" idx="2"/>
            <a:endCxn id="35" idx="0"/>
          </p:cNvCxnSpPr>
          <p:nvPr/>
        </p:nvCxnSpPr>
        <p:spPr>
          <a:xfrm>
            <a:off x="3627781" y="3861914"/>
            <a:ext cx="0" cy="383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200F68F-4086-81A2-54CA-E073DF4084E9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 flipH="1">
            <a:off x="3627780" y="4622820"/>
            <a:ext cx="1" cy="336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フローチャート: 判断 44">
            <a:extLst>
              <a:ext uri="{FF2B5EF4-FFF2-40B4-BE49-F238E27FC236}">
                <a16:creationId xmlns:a16="http://schemas.microsoft.com/office/drawing/2014/main" id="{50FB3A32-E180-7C6D-2494-0D78ED9CF480}"/>
              </a:ext>
            </a:extLst>
          </p:cNvPr>
          <p:cNvSpPr/>
          <p:nvPr/>
        </p:nvSpPr>
        <p:spPr>
          <a:xfrm>
            <a:off x="7507355" y="1745444"/>
            <a:ext cx="3279913" cy="636105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送信成功？</a:t>
            </a: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8BB41171-1A17-07D4-8899-DA20450FEB80}"/>
              </a:ext>
            </a:extLst>
          </p:cNvPr>
          <p:cNvCxnSpPr>
            <a:stCxn id="38" idx="2"/>
            <a:endCxn id="45" idx="0"/>
          </p:cNvCxnSpPr>
          <p:nvPr/>
        </p:nvCxnSpPr>
        <p:spPr>
          <a:xfrm rot="5400000" flipH="1" flipV="1">
            <a:off x="4591611" y="781613"/>
            <a:ext cx="3591869" cy="5519532"/>
          </a:xfrm>
          <a:prstGeom prst="bentConnector5">
            <a:avLst>
              <a:gd name="adj1" fmla="val -6364"/>
              <a:gd name="adj2" fmla="val 61749"/>
              <a:gd name="adj3" fmla="val 1063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フローチャート: 処理 48">
            <a:extLst>
              <a:ext uri="{FF2B5EF4-FFF2-40B4-BE49-F238E27FC236}">
                <a16:creationId xmlns:a16="http://schemas.microsoft.com/office/drawing/2014/main" id="{22924286-C6F6-4F41-DC93-5F60C7740565}"/>
              </a:ext>
            </a:extLst>
          </p:cNvPr>
          <p:cNvSpPr/>
          <p:nvPr/>
        </p:nvSpPr>
        <p:spPr>
          <a:xfrm>
            <a:off x="10535060" y="2464903"/>
            <a:ext cx="1346753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エラーモーダル</a:t>
            </a:r>
          </a:p>
        </p:txBody>
      </p:sp>
      <p:sp>
        <p:nvSpPr>
          <p:cNvPr id="50" name="フローチャート: 端子 49">
            <a:extLst>
              <a:ext uri="{FF2B5EF4-FFF2-40B4-BE49-F238E27FC236}">
                <a16:creationId xmlns:a16="http://schemas.microsoft.com/office/drawing/2014/main" id="{C19F7712-869A-75DE-893E-4D4D6C8442B0}"/>
              </a:ext>
            </a:extLst>
          </p:cNvPr>
          <p:cNvSpPr/>
          <p:nvPr/>
        </p:nvSpPr>
        <p:spPr>
          <a:xfrm>
            <a:off x="10522636" y="3176114"/>
            <a:ext cx="1371600" cy="30811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終了</a:t>
            </a: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0365A921-FDB8-F4B3-80AE-DB652A21A7F0}"/>
              </a:ext>
            </a:extLst>
          </p:cNvPr>
          <p:cNvCxnSpPr>
            <a:stCxn id="45" idx="3"/>
            <a:endCxn id="49" idx="0"/>
          </p:cNvCxnSpPr>
          <p:nvPr/>
        </p:nvCxnSpPr>
        <p:spPr>
          <a:xfrm>
            <a:off x="10787268" y="2063497"/>
            <a:ext cx="421169" cy="4014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1D65AD38-779E-9418-A580-5AAC9F4D18F8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flipH="1">
            <a:off x="11208436" y="2842590"/>
            <a:ext cx="1" cy="33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フローチャート: 処理 55">
            <a:extLst>
              <a:ext uri="{FF2B5EF4-FFF2-40B4-BE49-F238E27FC236}">
                <a16:creationId xmlns:a16="http://schemas.microsoft.com/office/drawing/2014/main" id="{28692400-8617-6B07-2BDB-73E35230EF8C}"/>
              </a:ext>
            </a:extLst>
          </p:cNvPr>
          <p:cNvSpPr/>
          <p:nvPr/>
        </p:nvSpPr>
        <p:spPr>
          <a:xfrm>
            <a:off x="8166234" y="3633879"/>
            <a:ext cx="1962153" cy="37768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認証画面にリダイレクト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28B2DD83-9A56-36F6-CD6A-A9FE2FB009CA}"/>
              </a:ext>
            </a:extLst>
          </p:cNvPr>
          <p:cNvCxnSpPr>
            <a:cxnSpLocks/>
            <a:stCxn id="45" idx="2"/>
            <a:endCxn id="56" idx="0"/>
          </p:cNvCxnSpPr>
          <p:nvPr/>
        </p:nvCxnSpPr>
        <p:spPr>
          <a:xfrm flipH="1">
            <a:off x="9147311" y="2381549"/>
            <a:ext cx="1" cy="1252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6639BCF-58B4-3B8C-121D-F3CDDCBDDB27}"/>
              </a:ext>
            </a:extLst>
          </p:cNvPr>
          <p:cNvSpPr txBox="1"/>
          <p:nvPr/>
        </p:nvSpPr>
        <p:spPr>
          <a:xfrm>
            <a:off x="8564220" y="4245133"/>
            <a:ext cx="26777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000" dirty="0"/>
              <a:t>$_SESSION['</a:t>
            </a:r>
            <a:r>
              <a:rPr lang="en-US" altLang="ja-JP" sz="1000" dirty="0" err="1"/>
              <a:t>auth_sv_id</a:t>
            </a:r>
            <a:r>
              <a:rPr lang="en-US" altLang="ja-JP" sz="1000" dirty="0"/>
              <a:t>'] = $</a:t>
            </a:r>
            <a:r>
              <a:rPr lang="en-US" altLang="ja-JP" sz="1000" dirty="0" err="1"/>
              <a:t>sv</a:t>
            </a:r>
            <a:r>
              <a:rPr lang="en-US" altLang="ja-JP" sz="1000" dirty="0"/>
              <a:t>['id’]; </a:t>
            </a:r>
          </a:p>
          <a:p>
            <a:pPr>
              <a:buNone/>
            </a:pPr>
            <a:r>
              <a:rPr lang="en-US" altLang="ja-JP" sz="1000" dirty="0"/>
              <a:t>header('Location: </a:t>
            </a:r>
            <a:r>
              <a:rPr lang="en-US" altLang="ja-JP" sz="1000" dirty="0" err="1"/>
              <a:t>auth.php</a:t>
            </a:r>
            <a:r>
              <a:rPr lang="en-US" altLang="ja-JP" sz="1000" dirty="0"/>
              <a:t>’);</a:t>
            </a:r>
          </a:p>
          <a:p>
            <a:pPr>
              <a:buNone/>
            </a:pPr>
            <a:r>
              <a:rPr lang="en-US" altLang="ja-JP" sz="1000" dirty="0"/>
              <a:t> exit; </a:t>
            </a:r>
          </a:p>
        </p:txBody>
      </p:sp>
    </p:spTree>
    <p:extLst>
      <p:ext uri="{BB962C8B-B14F-4D97-AF65-F5344CB8AC3E}">
        <p14:creationId xmlns:p14="http://schemas.microsoft.com/office/powerpoint/2010/main" val="156008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E45ADD0-1D73-A6F7-73A7-BAD195615D9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8D0152-2667-4CEF-1259-22A1BC242F49}"/>
              </a:ext>
            </a:extLst>
          </p:cNvPr>
          <p:cNvSpPr txBox="1"/>
          <p:nvPr/>
        </p:nvSpPr>
        <p:spPr>
          <a:xfrm>
            <a:off x="228600" y="198782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/>
              <a:t>ログインフォーム</a:t>
            </a:r>
            <a:r>
              <a:rPr kumimoji="1" lang="en-US" altLang="ja-JP" dirty="0" err="1"/>
              <a:t>php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0FB0AD-F2D2-2320-021C-67A593D4F4ED}"/>
              </a:ext>
            </a:extLst>
          </p:cNvPr>
          <p:cNvSpPr txBox="1"/>
          <p:nvPr/>
        </p:nvSpPr>
        <p:spPr>
          <a:xfrm>
            <a:off x="623680" y="128632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if ($_SERVER['REQUEST_METHOD'] === 'POST') {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3F23736-4D60-8389-65E1-1538C14CA3D3}"/>
              </a:ext>
            </a:extLst>
          </p:cNvPr>
          <p:cNvSpPr txBox="1"/>
          <p:nvPr/>
        </p:nvSpPr>
        <p:spPr>
          <a:xfrm>
            <a:off x="2709654" y="1817275"/>
            <a:ext cx="802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ja-JP" altLang="en-US" sz="1800" dirty="0"/>
              <a:t>初回オープンは</a:t>
            </a:r>
            <a:r>
              <a:rPr kumimoji="1" lang="en-US" altLang="ja-JP" sz="1800" dirty="0"/>
              <a:t>GET</a:t>
            </a:r>
            <a:r>
              <a:rPr kumimoji="1" lang="ja-JP" altLang="en-US" sz="1800" dirty="0"/>
              <a:t>なので</a:t>
            </a:r>
            <a:r>
              <a:rPr kumimoji="1" lang="en-US" altLang="ja-JP" sz="1800" dirty="0"/>
              <a:t>true</a:t>
            </a:r>
            <a:r>
              <a:rPr kumimoji="1" lang="ja-JP" altLang="en-US" sz="1800" dirty="0"/>
              <a:t>処理は行わない</a:t>
            </a:r>
            <a:r>
              <a:rPr kumimoji="1" lang="en-US" altLang="ja-JP" sz="1800" dirty="0"/>
              <a:t>HTML</a:t>
            </a:r>
            <a:r>
              <a:rPr kumimoji="1" lang="ja-JP" altLang="en-US" sz="1800" dirty="0"/>
              <a:t>表示のみ行われる</a:t>
            </a:r>
          </a:p>
        </p:txBody>
      </p:sp>
      <p:pic>
        <p:nvPicPr>
          <p:cNvPr id="12" name="図 1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6A10A14-F0FE-7DC4-D6C2-1CFF84FAF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83" y="2348225"/>
            <a:ext cx="6876190" cy="4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4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6DD8-805A-A2D2-8C08-DD787A64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A0BEEF8-97C2-A028-AE8C-6FF5E68E0228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F8C582-3785-2627-6209-DB3ED49011C2}"/>
              </a:ext>
            </a:extLst>
          </p:cNvPr>
          <p:cNvSpPr txBox="1"/>
          <p:nvPr/>
        </p:nvSpPr>
        <p:spPr>
          <a:xfrm>
            <a:off x="228600" y="198782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dirty="0"/>
              <a:t>HTML</a:t>
            </a:r>
            <a:r>
              <a:rPr kumimoji="1" lang="ja-JP" altLang="en-US" dirty="0"/>
              <a:t>画面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C6BBA3-D5F9-B243-0C16-6E58120730ED}"/>
              </a:ext>
            </a:extLst>
          </p:cNvPr>
          <p:cNvSpPr txBox="1"/>
          <p:nvPr/>
        </p:nvSpPr>
        <p:spPr>
          <a:xfrm>
            <a:off x="752889" y="1021210"/>
            <a:ext cx="609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① </a:t>
            </a:r>
            <a:r>
              <a:rPr lang="en-US" altLang="ja-JP" sz="1000" dirty="0"/>
              <a:t>&lt;div class="login-card"&gt;</a:t>
            </a:r>
            <a:endParaRPr lang="ja-JP" altLang="en-US" sz="1000" dirty="0"/>
          </a:p>
          <a:p>
            <a:r>
              <a:rPr lang="ja-JP" altLang="en-US" sz="1000" dirty="0"/>
              <a:t>ログインフォームの本体。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メールアドレス入力欄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パスワード入力欄（目のアイコンで表示切替）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ログインボタン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パスワード再発行リンク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FFF63A-72E6-FB42-5C7C-6AF874C6E317}"/>
              </a:ext>
            </a:extLst>
          </p:cNvPr>
          <p:cNvSpPr txBox="1"/>
          <p:nvPr/>
        </p:nvSpPr>
        <p:spPr>
          <a:xfrm>
            <a:off x="663436" y="2179597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② エラーモーダル（ログイン失敗時に出る画面）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1E15DE2-D250-5D07-C343-4A4A38551691}"/>
              </a:ext>
            </a:extLst>
          </p:cNvPr>
          <p:cNvSpPr txBox="1"/>
          <p:nvPr/>
        </p:nvSpPr>
        <p:spPr>
          <a:xfrm>
            <a:off x="1001368" y="2568542"/>
            <a:ext cx="9484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&lt;div class="modal-overlay" id="</a:t>
            </a:r>
            <a:r>
              <a:rPr lang="en-US" altLang="ja-JP" sz="1000" dirty="0" err="1"/>
              <a:t>errorModal</a:t>
            </a:r>
            <a:r>
              <a:rPr lang="en-US" altLang="ja-JP" sz="1000" dirty="0"/>
              <a:t>"&gt;</a:t>
            </a:r>
          </a:p>
          <a:p>
            <a:r>
              <a:rPr lang="en-US" altLang="ja-JP" sz="1000" dirty="0"/>
              <a:t>	&lt;div class="modal-content"&gt;</a:t>
            </a:r>
          </a:p>
          <a:p>
            <a:r>
              <a:rPr lang="en-US" altLang="ja-JP" sz="1000" dirty="0"/>
              <a:t>		&lt;p&gt;</a:t>
            </a:r>
            <a:r>
              <a:rPr lang="ja-JP" altLang="en-US" sz="1000" dirty="0"/>
              <a:t>メールアドレスまたは</a:t>
            </a:r>
            <a:r>
              <a:rPr lang="en-US" altLang="ja-JP" sz="1000" dirty="0"/>
              <a:t>&lt;</a:t>
            </a:r>
            <a:r>
              <a:rPr lang="en-US" altLang="ja-JP" sz="1000" dirty="0" err="1"/>
              <a:t>br</a:t>
            </a:r>
            <a:r>
              <a:rPr lang="en-US" altLang="ja-JP" sz="1000" dirty="0"/>
              <a:t>&gt;</a:t>
            </a:r>
            <a:r>
              <a:rPr lang="ja-JP" altLang="en-US" sz="1000" dirty="0"/>
              <a:t>パスワードが正しくありません</a:t>
            </a:r>
            <a:r>
              <a:rPr lang="en-US" altLang="ja-JP" sz="1000" dirty="0"/>
              <a:t>&lt;/p&gt;</a:t>
            </a:r>
          </a:p>
          <a:p>
            <a:r>
              <a:rPr lang="en-US" altLang="ja-JP" sz="1000" dirty="0"/>
              <a:t>		&lt;button class="</a:t>
            </a:r>
            <a:r>
              <a:rPr lang="en-US" altLang="ja-JP" sz="1000" dirty="0" err="1"/>
              <a:t>btn</a:t>
            </a:r>
            <a:r>
              <a:rPr lang="en-US" altLang="ja-JP" sz="1000" dirty="0"/>
              <a:t>-retry" onclick="</a:t>
            </a:r>
            <a:r>
              <a:rPr lang="en-US" altLang="ja-JP" sz="1000" dirty="0" err="1"/>
              <a:t>document.getElementById</a:t>
            </a:r>
            <a:r>
              <a:rPr lang="en-US" altLang="ja-JP" sz="1000" dirty="0"/>
              <a:t>('</a:t>
            </a:r>
            <a:r>
              <a:rPr lang="en-US" altLang="ja-JP" sz="1000" dirty="0" err="1"/>
              <a:t>errorModal</a:t>
            </a:r>
            <a:r>
              <a:rPr lang="en-US" altLang="ja-JP" sz="1000" dirty="0"/>
              <a:t>').</a:t>
            </a:r>
            <a:r>
              <a:rPr lang="en-US" altLang="ja-JP" sz="1000" dirty="0" err="1"/>
              <a:t>style.display</a:t>
            </a:r>
            <a:r>
              <a:rPr lang="en-US" altLang="ja-JP" sz="1000" dirty="0"/>
              <a:t>='none'"&gt;</a:t>
            </a:r>
            <a:r>
              <a:rPr lang="ja-JP" altLang="en-US" sz="1000" dirty="0"/>
              <a:t>再入力</a:t>
            </a:r>
            <a:r>
              <a:rPr lang="en-US" altLang="ja-JP" sz="1000" dirty="0"/>
              <a:t>&lt;/button&gt;</a:t>
            </a:r>
          </a:p>
          <a:p>
            <a:r>
              <a:rPr lang="en-US" altLang="ja-JP" sz="1000" dirty="0"/>
              <a:t>	&lt;/div&gt;</a:t>
            </a:r>
          </a:p>
          <a:p>
            <a:r>
              <a:rPr lang="en-US" altLang="ja-JP" sz="1000" dirty="0"/>
              <a:t>&lt;/div&gt;</a:t>
            </a:r>
            <a:endParaRPr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04D0D2-BF7E-E9F3-C8AC-4FADB01E1570}"/>
              </a:ext>
            </a:extLst>
          </p:cNvPr>
          <p:cNvSpPr txBox="1"/>
          <p:nvPr/>
        </p:nvSpPr>
        <p:spPr>
          <a:xfrm>
            <a:off x="663436" y="3709978"/>
            <a:ext cx="60976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③ </a:t>
            </a:r>
            <a:r>
              <a:rPr lang="en-US" altLang="ja-JP" sz="1000" dirty="0"/>
              <a:t>CSS</a:t>
            </a:r>
            <a:r>
              <a:rPr lang="ja-JP" altLang="en-US" sz="1000" dirty="0"/>
              <a:t>（デザイン）</a:t>
            </a:r>
          </a:p>
          <a:p>
            <a:r>
              <a:rPr lang="ja-JP" altLang="en-US" sz="1000" dirty="0"/>
              <a:t>画面の見た目を整えている部分。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カードの影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入力欄の丸み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ボタンの色</a:t>
            </a:r>
          </a:p>
          <a:p>
            <a:r>
              <a:rPr lang="en-US" altLang="ja-JP" sz="1000" dirty="0"/>
              <a:t>• 	</a:t>
            </a:r>
            <a:r>
              <a:rPr lang="ja-JP" altLang="en-US" sz="1000" dirty="0"/>
              <a:t>モーダルの背景</a:t>
            </a:r>
          </a:p>
          <a:p>
            <a:r>
              <a:rPr lang="ja-JP" altLang="en-US" sz="1000" dirty="0"/>
              <a:t>全部  タグ内に書かれている。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E0354F-806F-E84B-4B51-4ACBD7B9DE8C}"/>
              </a:ext>
            </a:extLst>
          </p:cNvPr>
          <p:cNvSpPr txBox="1"/>
          <p:nvPr/>
        </p:nvSpPr>
        <p:spPr>
          <a:xfrm>
            <a:off x="564045" y="5028040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④ </a:t>
            </a:r>
            <a:r>
              <a:rPr lang="en-US" altLang="ja-JP" sz="1000" dirty="0"/>
              <a:t>JavaScript</a:t>
            </a:r>
            <a:r>
              <a:rPr lang="ja-JP" altLang="en-US" sz="1000" dirty="0"/>
              <a:t>（パスワード表示切替）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7682CBD-4E93-60A5-AB64-2CE7BA0C0C1A}"/>
              </a:ext>
            </a:extLst>
          </p:cNvPr>
          <p:cNvSpPr txBox="1"/>
          <p:nvPr/>
        </p:nvSpPr>
        <p:spPr>
          <a:xfrm>
            <a:off x="752889" y="5407311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function </a:t>
            </a:r>
            <a:r>
              <a:rPr lang="en-US" altLang="ja-JP" sz="1000" dirty="0" err="1"/>
              <a:t>togglePassword</a:t>
            </a:r>
            <a:r>
              <a:rPr lang="en-US" altLang="ja-JP" sz="1000" dirty="0"/>
              <a:t>() {    ...}</a:t>
            </a:r>
            <a:endParaRPr lang="ja-JP" altLang="en-US" sz="1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BB2E37B-2112-E15A-62B5-78CDDBAB5357}"/>
              </a:ext>
            </a:extLst>
          </p:cNvPr>
          <p:cNvSpPr txBox="1"/>
          <p:nvPr/>
        </p:nvSpPr>
        <p:spPr>
          <a:xfrm>
            <a:off x="1398933" y="5836790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目のアイコンを押すとパスワードが見えるようになる仕組み。</a:t>
            </a:r>
          </a:p>
        </p:txBody>
      </p:sp>
    </p:spTree>
    <p:extLst>
      <p:ext uri="{BB962C8B-B14F-4D97-AF65-F5344CB8AC3E}">
        <p14:creationId xmlns:p14="http://schemas.microsoft.com/office/powerpoint/2010/main" val="220597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DAB8-B56B-CC9B-0E92-3EBBB090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3D8DB69-4E49-A055-4D00-82259B613F34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C1CD5B-AD5C-34B1-3100-79BB89EA7E82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F51ECB-1DA1-EA77-B075-4A68B652E3D7}"/>
              </a:ext>
            </a:extLst>
          </p:cNvPr>
          <p:cNvSpPr txBox="1"/>
          <p:nvPr/>
        </p:nvSpPr>
        <p:spPr>
          <a:xfrm>
            <a:off x="99392" y="105772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 </a:t>
            </a:r>
            <a:r>
              <a:rPr lang="en-US" altLang="ja-JP" dirty="0"/>
              <a:t>1. HTML </a:t>
            </a:r>
            <a:r>
              <a:rPr lang="ja-JP" altLang="en-US" dirty="0"/>
              <a:t>のこのボタンが押される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EBEBE4-6547-0273-424E-E5D8234ABF9C}"/>
              </a:ext>
            </a:extLst>
          </p:cNvPr>
          <p:cNvSpPr txBox="1"/>
          <p:nvPr/>
        </p:nvSpPr>
        <p:spPr>
          <a:xfrm>
            <a:off x="1776618" y="1515573"/>
            <a:ext cx="9037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&lt;button type="submit" class="</a:t>
            </a:r>
            <a:r>
              <a:rPr lang="en-US" altLang="ja-JP" dirty="0" err="1"/>
              <a:t>btn</a:t>
            </a:r>
            <a:r>
              <a:rPr lang="en-US" altLang="ja-JP" dirty="0"/>
              <a:t>-login"&gt;</a:t>
            </a:r>
            <a:r>
              <a:rPr lang="ja-JP" altLang="en-US" dirty="0"/>
              <a:t>ログイン</a:t>
            </a:r>
            <a:r>
              <a:rPr lang="en-US" altLang="ja-JP" dirty="0"/>
              <a:t>&lt;/button&gt;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EC554B-B711-F93E-46E5-A4675B4288C2}"/>
              </a:ext>
            </a:extLst>
          </p:cNvPr>
          <p:cNvSpPr txBox="1"/>
          <p:nvPr/>
        </p:nvSpPr>
        <p:spPr>
          <a:xfrm>
            <a:off x="1776618" y="2002589"/>
            <a:ext cx="10140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type=“submit” </a:t>
            </a:r>
            <a:r>
              <a:rPr lang="ja-JP" altLang="en-US" dirty="0"/>
              <a:t>がポイント、押された瞬間に</a:t>
            </a:r>
            <a:r>
              <a:rPr lang="en-US" altLang="ja-JP" dirty="0"/>
              <a:t>&lt;from method=“POST”&gt;</a:t>
            </a:r>
            <a:endParaRPr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0B926D-388E-D4B0-C062-CE073EE461B9}"/>
              </a:ext>
            </a:extLst>
          </p:cNvPr>
          <p:cNvSpPr txBox="1"/>
          <p:nvPr/>
        </p:nvSpPr>
        <p:spPr>
          <a:xfrm>
            <a:off x="1617594" y="2485788"/>
            <a:ext cx="9514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このフォーム全体が </a:t>
            </a:r>
            <a:r>
              <a:rPr lang="en-US" altLang="ja-JP" dirty="0"/>
              <a:t>POST </a:t>
            </a:r>
            <a:r>
              <a:rPr lang="ja-JP" altLang="en-US" dirty="0"/>
              <a:t>リクエストとしてサーバーに送られる。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AA8203F-8564-998A-7E21-682992D1CE08}"/>
              </a:ext>
            </a:extLst>
          </p:cNvPr>
          <p:cNvSpPr txBox="1"/>
          <p:nvPr/>
        </p:nvSpPr>
        <p:spPr>
          <a:xfrm>
            <a:off x="2363028" y="2968987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送られるデータは：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>
                <a:latin typeface="Courier New" panose="02070309020205020404" pitchFamily="49" charset="0"/>
              </a:rPr>
              <a:t>email</a:t>
            </a:r>
            <a:endParaRPr lang="ja-JP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>
                <a:latin typeface="Courier New" panose="02070309020205020404" pitchFamily="49" charset="0"/>
              </a:rPr>
              <a:t>password</a:t>
            </a:r>
            <a:endParaRPr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CE16EB1-C679-18C0-C255-C80BA47BBBDA}"/>
              </a:ext>
            </a:extLst>
          </p:cNvPr>
          <p:cNvSpPr txBox="1"/>
          <p:nvPr/>
        </p:nvSpPr>
        <p:spPr>
          <a:xfrm>
            <a:off x="197539" y="411897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 </a:t>
            </a:r>
            <a:r>
              <a:rPr lang="en-US" altLang="ja-JP" dirty="0"/>
              <a:t>2. </a:t>
            </a:r>
            <a:r>
              <a:rPr lang="ja-JP" altLang="en-US" dirty="0"/>
              <a:t>ブラウザがサーバーに </a:t>
            </a:r>
            <a:r>
              <a:rPr lang="en-US" altLang="ja-JP" dirty="0"/>
              <a:t>POST </a:t>
            </a:r>
            <a:r>
              <a:rPr lang="ja-JP" altLang="en-US" dirty="0"/>
              <a:t>を送る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B524AB5-AE08-7916-8FC0-1D6852FC11B0}"/>
              </a:ext>
            </a:extLst>
          </p:cNvPr>
          <p:cNvSpPr txBox="1"/>
          <p:nvPr/>
        </p:nvSpPr>
        <p:spPr>
          <a:xfrm>
            <a:off x="1110697" y="4576825"/>
            <a:ext cx="1071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ユーザーがボタンを押すと、ブラウザはこのページ（例：</a:t>
            </a:r>
            <a:r>
              <a:rPr lang="en-US" altLang="ja-JP" dirty="0" err="1"/>
              <a:t>login.php</a:t>
            </a:r>
            <a:r>
              <a:rPr lang="ja-JP" altLang="en-US" dirty="0"/>
              <a:t>）に対して：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08B4286-ED87-2035-1AEB-E97AED2DFDE5}"/>
              </a:ext>
            </a:extLst>
          </p:cNvPr>
          <p:cNvSpPr txBox="1"/>
          <p:nvPr/>
        </p:nvSpPr>
        <p:spPr>
          <a:xfrm>
            <a:off x="1379054" y="501479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POST /</a:t>
            </a:r>
            <a:r>
              <a:rPr lang="en-US" altLang="ja-JP" dirty="0" err="1"/>
              <a:t>login.php</a:t>
            </a:r>
            <a:r>
              <a:rPr lang="ja-JP" altLang="en-US" dirty="0"/>
              <a:t>というリクエストを送る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8E9B2DB-52CF-CE2F-47CF-84BC60BADD19}"/>
              </a:ext>
            </a:extLst>
          </p:cNvPr>
          <p:cNvSpPr txBox="1"/>
          <p:nvPr/>
        </p:nvSpPr>
        <p:spPr>
          <a:xfrm>
            <a:off x="1393962" y="54293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送信される内容は：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EA0CE7B-C408-E05C-8660-159BDFE1E211}"/>
              </a:ext>
            </a:extLst>
          </p:cNvPr>
          <p:cNvSpPr txBox="1"/>
          <p:nvPr/>
        </p:nvSpPr>
        <p:spPr>
          <a:xfrm>
            <a:off x="2879863" y="5912555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email=xxxx@example.com</a:t>
            </a:r>
            <a:endParaRPr lang="en-US" altLang="ja-JP" dirty="0"/>
          </a:p>
          <a:p>
            <a:r>
              <a:rPr lang="en-US" altLang="ja-JP" dirty="0"/>
              <a:t> password=</a:t>
            </a:r>
            <a:r>
              <a:rPr lang="en-US" altLang="ja-JP" dirty="0" err="1"/>
              <a:t>xxxxxx</a:t>
            </a:r>
            <a:r>
              <a:rPr lang="en-US" altLang="ja-JP" dirty="0"/>
              <a:t>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479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713F-431D-CE55-FA8D-7D9D9273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629567C-B458-5F52-BCB6-641392EF316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345CBB-980D-5465-A64B-E2F52F582A8B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FF66EB-3376-2FCD-5BFC-B1A5EF91AA5D}"/>
              </a:ext>
            </a:extLst>
          </p:cNvPr>
          <p:cNvSpPr txBox="1"/>
          <p:nvPr/>
        </p:nvSpPr>
        <p:spPr>
          <a:xfrm>
            <a:off x="228600" y="107760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3. PHP </a:t>
            </a:r>
            <a:r>
              <a:rPr lang="ja-JP" altLang="en-US" dirty="0"/>
              <a:t>が起動し、最初にこの部分が実行される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60608F0-36CD-C87B-E129-BBF702A93C70}"/>
              </a:ext>
            </a:extLst>
          </p:cNvPr>
          <p:cNvSpPr txBox="1"/>
          <p:nvPr/>
        </p:nvSpPr>
        <p:spPr>
          <a:xfrm>
            <a:off x="921854" y="144952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require_once</a:t>
            </a:r>
            <a:r>
              <a:rPr lang="en-US" altLang="ja-JP" dirty="0"/>
              <a:t>('../common/</a:t>
            </a:r>
            <a:r>
              <a:rPr lang="en-US" altLang="ja-JP" dirty="0" err="1"/>
              <a:t>db_inc.php</a:t>
            </a:r>
            <a:r>
              <a:rPr lang="en-US" altLang="ja-JP" dirty="0"/>
              <a:t>');</a:t>
            </a:r>
            <a:r>
              <a:rPr lang="en-US" altLang="ja-JP" dirty="0" err="1"/>
              <a:t>session_start</a:t>
            </a:r>
            <a:r>
              <a:rPr lang="en-US" altLang="ja-JP" dirty="0"/>
              <a:t>();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0903CD-9690-96DF-D899-42D7172815D4}"/>
              </a:ext>
            </a:extLst>
          </p:cNvPr>
          <p:cNvSpPr txBox="1"/>
          <p:nvPr/>
        </p:nvSpPr>
        <p:spPr>
          <a:xfrm>
            <a:off x="1242391" y="1866684"/>
            <a:ext cx="5188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dirty="0"/>
              <a:t>・</a:t>
            </a:r>
            <a:r>
              <a:rPr kumimoji="1" lang="en-US" altLang="ja-JP" dirty="0"/>
              <a:t>DB</a:t>
            </a:r>
            <a:r>
              <a:rPr kumimoji="1" lang="ja-JP" altLang="en-US" dirty="0"/>
              <a:t>接続を読み込む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・セッションを開始する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A983443-EBDD-CA6B-F8F3-11E1F0D2EF80}"/>
              </a:ext>
            </a:extLst>
          </p:cNvPr>
          <p:cNvSpPr txBox="1"/>
          <p:nvPr/>
        </p:nvSpPr>
        <p:spPr>
          <a:xfrm>
            <a:off x="228600" y="267780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4. </a:t>
            </a:r>
            <a:r>
              <a:rPr lang="ja-JP" altLang="en-US" dirty="0"/>
              <a:t>ここで「</a:t>
            </a:r>
            <a:r>
              <a:rPr lang="en-US" altLang="ja-JP" dirty="0"/>
              <a:t>POST </a:t>
            </a:r>
            <a:r>
              <a:rPr lang="ja-JP" altLang="en-US" dirty="0"/>
              <a:t>で来たか？」を判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0040E7-CBFC-E03C-5993-259CEC162DE0}"/>
              </a:ext>
            </a:extLst>
          </p:cNvPr>
          <p:cNvSpPr txBox="1"/>
          <p:nvPr/>
        </p:nvSpPr>
        <p:spPr>
          <a:xfrm>
            <a:off x="1242391" y="304555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if ($_SERVER['REQUEST_METHOD'] === 'POST') {</a:t>
            </a:r>
            <a:endParaRPr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2631959-A55A-5745-6327-3F74506F3866}"/>
              </a:ext>
            </a:extLst>
          </p:cNvPr>
          <p:cNvSpPr txBox="1"/>
          <p:nvPr/>
        </p:nvSpPr>
        <p:spPr>
          <a:xfrm>
            <a:off x="1242390" y="3485756"/>
            <a:ext cx="8726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✔ ログインボタンを押したときだけ、この中が実行される</a:t>
            </a:r>
          </a:p>
          <a:p>
            <a:pPr>
              <a:buNone/>
            </a:pPr>
            <a:r>
              <a:rPr lang="en-US" altLang="ja-JP" dirty="0"/>
              <a:t>GET</a:t>
            </a:r>
            <a:r>
              <a:rPr lang="ja-JP" altLang="en-US" dirty="0"/>
              <a:t>（ただのページ表示）では実行されない。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D0A7E39-B973-F859-D743-8B2D083D0D6A}"/>
              </a:ext>
            </a:extLst>
          </p:cNvPr>
          <p:cNvSpPr txBox="1"/>
          <p:nvPr/>
        </p:nvSpPr>
        <p:spPr>
          <a:xfrm>
            <a:off x="332961" y="436457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5. </a:t>
            </a:r>
            <a:r>
              <a:rPr lang="ja-JP" altLang="en-US" dirty="0"/>
              <a:t>フォームから送られた値を受け取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9D84C11-9343-E2F8-6C27-056576D03FD6}"/>
              </a:ext>
            </a:extLst>
          </p:cNvPr>
          <p:cNvSpPr txBox="1"/>
          <p:nvPr/>
        </p:nvSpPr>
        <p:spPr>
          <a:xfrm>
            <a:off x="1349237" y="505873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dirty="0"/>
              <a:t>$email = $_POST['email’];</a:t>
            </a:r>
          </a:p>
          <a:p>
            <a:r>
              <a:rPr lang="fr-FR" altLang="ja-JP" dirty="0"/>
              <a:t>$pass = $_POST['password'];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028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B8A1-9849-F1DB-586D-0D0AF0B6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C236ADE-4CA9-6D40-2AD5-008FCD7BC68A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E8378D-2F0F-2727-B455-2E8FD8CF789C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23483-8BB4-DFCA-C8CE-5659FA1D8185}"/>
              </a:ext>
            </a:extLst>
          </p:cNvPr>
          <p:cNvSpPr txBox="1"/>
          <p:nvPr/>
        </p:nvSpPr>
        <p:spPr>
          <a:xfrm>
            <a:off x="228600" y="94263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6. </a:t>
            </a:r>
            <a:r>
              <a:rPr lang="ja-JP" altLang="en-US" dirty="0"/>
              <a:t>メールアドレスでユーザーを検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4D0DE8-9ADA-BB14-DC28-D1DE413AB57D}"/>
              </a:ext>
            </a:extLst>
          </p:cNvPr>
          <p:cNvSpPr txBox="1"/>
          <p:nvPr/>
        </p:nvSpPr>
        <p:spPr>
          <a:xfrm>
            <a:off x="1021246" y="1499227"/>
            <a:ext cx="10498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$</a:t>
            </a:r>
            <a:r>
              <a:rPr lang="en-US" altLang="ja-JP" dirty="0" err="1"/>
              <a:t>stmt</a:t>
            </a:r>
            <a:r>
              <a:rPr lang="en-US" altLang="ja-JP" dirty="0"/>
              <a:t> = $</a:t>
            </a:r>
            <a:r>
              <a:rPr lang="en-US" altLang="ja-JP" dirty="0" err="1"/>
              <a:t>pdo</a:t>
            </a:r>
            <a:r>
              <a:rPr lang="en-US" altLang="ja-JP" dirty="0"/>
              <a:t>-&gt;prepare("SELECT * FROM supervisors WHERE email = ?");</a:t>
            </a:r>
          </a:p>
          <a:p>
            <a:r>
              <a:rPr lang="en-US" altLang="ja-JP" dirty="0"/>
              <a:t>$</a:t>
            </a:r>
            <a:r>
              <a:rPr lang="en-US" altLang="ja-JP" dirty="0" err="1"/>
              <a:t>stmt</a:t>
            </a:r>
            <a:r>
              <a:rPr lang="en-US" altLang="ja-JP" dirty="0"/>
              <a:t>-&gt;execute([$email]);</a:t>
            </a:r>
          </a:p>
          <a:p>
            <a:r>
              <a:rPr lang="en-US" altLang="ja-JP" dirty="0"/>
              <a:t>$</a:t>
            </a:r>
            <a:r>
              <a:rPr lang="en-US" altLang="ja-JP" dirty="0" err="1"/>
              <a:t>sv</a:t>
            </a:r>
            <a:r>
              <a:rPr lang="en-US" altLang="ja-JP" dirty="0"/>
              <a:t> = $</a:t>
            </a:r>
            <a:r>
              <a:rPr lang="en-US" altLang="ja-JP" dirty="0" err="1"/>
              <a:t>stmt</a:t>
            </a:r>
            <a:r>
              <a:rPr lang="en-US" altLang="ja-JP" dirty="0"/>
              <a:t>-&gt;fetch();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F96FF4B-AEB0-BB3A-C512-E65CCB79A34D}"/>
              </a:ext>
            </a:extLst>
          </p:cNvPr>
          <p:cNvSpPr txBox="1"/>
          <p:nvPr/>
        </p:nvSpPr>
        <p:spPr>
          <a:xfrm>
            <a:off x="884583" y="2520078"/>
            <a:ext cx="7881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dirty="0"/>
              <a:t>・</a:t>
            </a:r>
            <a:r>
              <a:rPr kumimoji="1" lang="en-US" altLang="ja-JP" dirty="0"/>
              <a:t>supervisors</a:t>
            </a:r>
            <a:r>
              <a:rPr kumimoji="1" lang="ja-JP" altLang="en-US" dirty="0"/>
              <a:t>テーブルから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・入力された</a:t>
            </a:r>
            <a:r>
              <a:rPr kumimoji="1" lang="en-US" altLang="ja-JP" dirty="0"/>
              <a:t>email</a:t>
            </a:r>
            <a:r>
              <a:rPr kumimoji="1" lang="ja-JP" altLang="en-US" dirty="0"/>
              <a:t>と一致する行を取得する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E9165A6-CC72-3534-90D8-F1A61C4D7DEB}"/>
              </a:ext>
            </a:extLst>
          </p:cNvPr>
          <p:cNvSpPr txBox="1"/>
          <p:nvPr/>
        </p:nvSpPr>
        <p:spPr>
          <a:xfrm>
            <a:off x="693254" y="344600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7. </a:t>
            </a:r>
            <a:r>
              <a:rPr lang="ja-JP" altLang="en-US" dirty="0"/>
              <a:t>パスワードチェック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2CF05DF-532D-6554-85DC-DAB3F37C579C}"/>
              </a:ext>
            </a:extLst>
          </p:cNvPr>
          <p:cNvSpPr txBox="1"/>
          <p:nvPr/>
        </p:nvSpPr>
        <p:spPr>
          <a:xfrm>
            <a:off x="1200150" y="385509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if ($</a:t>
            </a:r>
            <a:r>
              <a:rPr lang="en-US" altLang="ja-JP" dirty="0" err="1"/>
              <a:t>sv</a:t>
            </a:r>
            <a:r>
              <a:rPr lang="en-US" altLang="ja-JP" dirty="0"/>
              <a:t> &amp;&amp; </a:t>
            </a:r>
            <a:r>
              <a:rPr lang="en-US" altLang="ja-JP" dirty="0" err="1"/>
              <a:t>password_verify</a:t>
            </a:r>
            <a:r>
              <a:rPr lang="en-US" altLang="ja-JP" dirty="0"/>
              <a:t>($pass, $</a:t>
            </a:r>
            <a:r>
              <a:rPr lang="en-US" altLang="ja-JP" dirty="0" err="1"/>
              <a:t>sv</a:t>
            </a:r>
            <a:r>
              <a:rPr lang="en-US" altLang="ja-JP" dirty="0"/>
              <a:t>['password'])) {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9549A14-3BE5-B263-656B-B84AAF2FAF73}"/>
              </a:ext>
            </a:extLst>
          </p:cNvPr>
          <p:cNvSpPr txBox="1"/>
          <p:nvPr/>
        </p:nvSpPr>
        <p:spPr>
          <a:xfrm>
            <a:off x="1100759" y="4556592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ここでログイン判定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>
                <a:latin typeface="Courier New" panose="02070309020205020404" pitchFamily="49" charset="0"/>
              </a:rPr>
              <a:t>$</a:t>
            </a:r>
            <a:r>
              <a:rPr lang="en-US" altLang="ja-JP" dirty="0" err="1">
                <a:latin typeface="Courier New" panose="02070309020205020404" pitchFamily="49" charset="0"/>
              </a:rPr>
              <a:t>sv</a:t>
            </a:r>
            <a:r>
              <a:rPr lang="ja-JP" altLang="en-US" dirty="0"/>
              <a:t> が存在する（メールが登録されている）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 err="1">
                <a:latin typeface="Courier New" panose="02070309020205020404" pitchFamily="49" charset="0"/>
              </a:rPr>
              <a:t>password_verify</a:t>
            </a:r>
            <a:r>
              <a:rPr lang="en-US" altLang="ja-JP" dirty="0">
                <a:latin typeface="Courier New" panose="02070309020205020404" pitchFamily="49" charset="0"/>
              </a:rPr>
              <a:t>()</a:t>
            </a:r>
            <a:r>
              <a:rPr lang="ja-JP" altLang="en-US" dirty="0"/>
              <a:t> でパスワードが一致する</a:t>
            </a:r>
          </a:p>
          <a:p>
            <a:pPr>
              <a:buNone/>
            </a:pPr>
            <a:r>
              <a:rPr lang="ja-JP" altLang="en-US" dirty="0"/>
              <a:t>この </a:t>
            </a:r>
            <a:r>
              <a:rPr lang="en-US" altLang="ja-JP" dirty="0"/>
              <a:t>2 </a:t>
            </a:r>
            <a:r>
              <a:rPr lang="ja-JP" altLang="en-US" dirty="0"/>
              <a:t>つが揃えばログイン成功。</a:t>
            </a:r>
          </a:p>
        </p:txBody>
      </p:sp>
    </p:spTree>
    <p:extLst>
      <p:ext uri="{BB962C8B-B14F-4D97-AF65-F5344CB8AC3E}">
        <p14:creationId xmlns:p14="http://schemas.microsoft.com/office/powerpoint/2010/main" val="144082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D7DE-4D00-5201-7E9D-17FA392C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6F0F72C-D292-5FAD-F357-32A14E183C4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CB75DF-32C5-28F8-985C-6FF965CAC9B1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6349A6-0480-5857-F86F-87A60AC646F6}"/>
              </a:ext>
            </a:extLst>
          </p:cNvPr>
          <p:cNvSpPr txBox="1"/>
          <p:nvPr/>
        </p:nvSpPr>
        <p:spPr>
          <a:xfrm>
            <a:off x="228600" y="103784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8. </a:t>
            </a:r>
            <a:r>
              <a:rPr lang="ja-JP" altLang="en-US" dirty="0"/>
              <a:t>ログイン成功 → 認証コードを生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62044E-E3FB-6797-E3A2-725C37EA7A53}"/>
              </a:ext>
            </a:extLst>
          </p:cNvPr>
          <p:cNvSpPr txBox="1"/>
          <p:nvPr/>
        </p:nvSpPr>
        <p:spPr>
          <a:xfrm>
            <a:off x="762827" y="1595734"/>
            <a:ext cx="10766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$</a:t>
            </a:r>
            <a:r>
              <a:rPr lang="en-US" altLang="ja-JP" dirty="0" err="1"/>
              <a:t>auth_code</a:t>
            </a:r>
            <a:r>
              <a:rPr lang="en-US" altLang="ja-JP" dirty="0"/>
              <a:t> = </a:t>
            </a:r>
            <a:r>
              <a:rPr lang="en-US" altLang="ja-JP" dirty="0" err="1"/>
              <a:t>sprintf</a:t>
            </a:r>
            <a:r>
              <a:rPr lang="en-US" altLang="ja-JP" dirty="0"/>
              <a:t>('%05d', </a:t>
            </a:r>
            <a:r>
              <a:rPr lang="en-US" altLang="ja-JP" dirty="0" err="1"/>
              <a:t>mt_rand</a:t>
            </a:r>
            <a:r>
              <a:rPr lang="en-US" altLang="ja-JP" dirty="0"/>
              <a:t>(0, 99999));</a:t>
            </a:r>
          </a:p>
          <a:p>
            <a:r>
              <a:rPr lang="en-US" altLang="ja-JP" dirty="0"/>
              <a:t>$expiry = date('Y-m-d H:i:s', </a:t>
            </a:r>
            <a:r>
              <a:rPr lang="en-US" altLang="ja-JP" dirty="0" err="1"/>
              <a:t>strtotime</a:t>
            </a:r>
            <a:r>
              <a:rPr lang="en-US" altLang="ja-JP" dirty="0"/>
              <a:t>('+30 minutes'));</a:t>
            </a:r>
            <a:endParaRPr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10D4C67-C0D8-2482-0781-6D6768FAC538}"/>
              </a:ext>
            </a:extLst>
          </p:cNvPr>
          <p:cNvSpPr txBox="1"/>
          <p:nvPr/>
        </p:nvSpPr>
        <p:spPr>
          <a:xfrm>
            <a:off x="1371600" y="2242065"/>
            <a:ext cx="2852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/>
              <a:t>・</a:t>
            </a:r>
            <a:r>
              <a:rPr kumimoji="1" lang="en-US" altLang="ja-JP" dirty="0"/>
              <a:t>5</a:t>
            </a:r>
            <a:r>
              <a:rPr kumimoji="1" lang="ja-JP" altLang="en-US" dirty="0"/>
              <a:t>桁の認証コードを作る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・有効期限は</a:t>
            </a:r>
            <a:r>
              <a:rPr kumimoji="1" lang="en-US" altLang="ja-JP" dirty="0"/>
              <a:t>30</a:t>
            </a:r>
            <a:r>
              <a:rPr kumimoji="1" lang="ja-JP" altLang="en-US" dirty="0"/>
              <a:t>分後</a:t>
            </a:r>
            <a:endParaRPr kumimoji="1"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1CC28F3-612E-D8D5-30DE-3FCE04B5E0D1}"/>
              </a:ext>
            </a:extLst>
          </p:cNvPr>
          <p:cNvSpPr txBox="1"/>
          <p:nvPr/>
        </p:nvSpPr>
        <p:spPr>
          <a:xfrm>
            <a:off x="325506" y="316539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 </a:t>
            </a:r>
            <a:r>
              <a:rPr lang="en-US" altLang="ja-JP" dirty="0"/>
              <a:t>9. </a:t>
            </a:r>
            <a:r>
              <a:rPr lang="ja-JP" altLang="en-US" dirty="0"/>
              <a:t>認証コードを </a:t>
            </a:r>
            <a:r>
              <a:rPr lang="en-US" altLang="ja-JP" dirty="0"/>
              <a:t>DB </a:t>
            </a:r>
            <a:r>
              <a:rPr lang="ja-JP" altLang="en-US" dirty="0"/>
              <a:t>に保存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00B2866-7618-FAFC-FB10-BAAD03DA80F4}"/>
              </a:ext>
            </a:extLst>
          </p:cNvPr>
          <p:cNvSpPr txBox="1"/>
          <p:nvPr/>
        </p:nvSpPr>
        <p:spPr>
          <a:xfrm>
            <a:off x="882097" y="3723282"/>
            <a:ext cx="10518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$</a:t>
            </a:r>
            <a:r>
              <a:rPr lang="en-US" altLang="ja-JP" dirty="0" err="1"/>
              <a:t>stmt</a:t>
            </a:r>
            <a:r>
              <a:rPr lang="en-US" altLang="ja-JP" dirty="0"/>
              <a:t> = $</a:t>
            </a:r>
            <a:r>
              <a:rPr lang="en-US" altLang="ja-JP" dirty="0" err="1"/>
              <a:t>pdo</a:t>
            </a:r>
            <a:r>
              <a:rPr lang="en-US" altLang="ja-JP" dirty="0"/>
              <a:t>-&gt;prepare("UPDATE supervisors SET </a:t>
            </a:r>
            <a:r>
              <a:rPr lang="en-US" altLang="ja-JP" dirty="0" err="1"/>
              <a:t>auth_code</a:t>
            </a:r>
            <a:r>
              <a:rPr lang="en-US" altLang="ja-JP" dirty="0"/>
              <a:t> = ?, </a:t>
            </a:r>
            <a:r>
              <a:rPr lang="en-US" altLang="ja-JP" dirty="0" err="1"/>
              <a:t>auth_expiry</a:t>
            </a:r>
            <a:r>
              <a:rPr lang="en-US" altLang="ja-JP" dirty="0"/>
              <a:t> = ? WHERE id = ?");$</a:t>
            </a:r>
            <a:r>
              <a:rPr lang="en-US" altLang="ja-JP" dirty="0" err="1"/>
              <a:t>stmt</a:t>
            </a:r>
            <a:r>
              <a:rPr lang="en-US" altLang="ja-JP" dirty="0"/>
              <a:t>-&gt;execute([$</a:t>
            </a:r>
            <a:r>
              <a:rPr lang="en-US" altLang="ja-JP" dirty="0" err="1"/>
              <a:t>auth_code</a:t>
            </a:r>
            <a:r>
              <a:rPr lang="en-US" altLang="ja-JP" dirty="0"/>
              <a:t>, $expiry, $</a:t>
            </a:r>
            <a:r>
              <a:rPr lang="en-US" altLang="ja-JP" dirty="0" err="1"/>
              <a:t>sv</a:t>
            </a:r>
            <a:r>
              <a:rPr lang="en-US" altLang="ja-JP" dirty="0"/>
              <a:t>['id']]);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8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BDFF-9FA5-25D3-7E9D-90EDFC08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1F2D93B-D910-1741-8A3D-8ACF8CE908DE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22CF5A-44B0-8029-04C1-8657FAD462D2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C846D4-5FE8-6AF2-2CE8-B8BE13F7343E}"/>
              </a:ext>
            </a:extLst>
          </p:cNvPr>
          <p:cNvSpPr txBox="1"/>
          <p:nvPr/>
        </p:nvSpPr>
        <p:spPr>
          <a:xfrm>
            <a:off x="454715" y="117699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10. </a:t>
            </a:r>
            <a:r>
              <a:rPr lang="ja-JP" altLang="en-US" dirty="0"/>
              <a:t>認証コードをメールで送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96E4A3-80F8-EE42-81F0-961DCC932F03}"/>
              </a:ext>
            </a:extLst>
          </p:cNvPr>
          <p:cNvSpPr txBox="1"/>
          <p:nvPr/>
        </p:nvSpPr>
        <p:spPr>
          <a:xfrm>
            <a:off x="882098" y="1690948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mb_send_mail</a:t>
            </a:r>
            <a:r>
              <a:rPr lang="en-US" altLang="ja-JP" dirty="0"/>
              <a:t>($to, $subject, $body, $headers)</a:t>
            </a:r>
          </a:p>
          <a:p>
            <a:r>
              <a:rPr lang="ja-JP" altLang="en-US" dirty="0"/>
              <a:t>認証に成功したら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082AE6-BB78-7230-AE38-750853796C63}"/>
              </a:ext>
            </a:extLst>
          </p:cNvPr>
          <p:cNvSpPr txBox="1"/>
          <p:nvPr/>
        </p:nvSpPr>
        <p:spPr>
          <a:xfrm>
            <a:off x="564045" y="281118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11. </a:t>
            </a:r>
            <a:r>
              <a:rPr lang="ja-JP" altLang="en-US" dirty="0"/>
              <a:t>認証画面へリダイレクト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50BC582-E665-C777-4951-27A9B40BC268}"/>
              </a:ext>
            </a:extLst>
          </p:cNvPr>
          <p:cNvSpPr txBox="1"/>
          <p:nvPr/>
        </p:nvSpPr>
        <p:spPr>
          <a:xfrm>
            <a:off x="564045" y="3513339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$_SESSION['</a:t>
            </a:r>
            <a:r>
              <a:rPr lang="en-US" altLang="ja-JP" dirty="0" err="1"/>
              <a:t>auth_sv_id</a:t>
            </a:r>
            <a:r>
              <a:rPr lang="en-US" altLang="ja-JP" dirty="0"/>
              <a:t>'] = $</a:t>
            </a:r>
            <a:r>
              <a:rPr lang="en-US" altLang="ja-JP" dirty="0" err="1"/>
              <a:t>sv</a:t>
            </a:r>
            <a:r>
              <a:rPr lang="en-US" altLang="ja-JP" dirty="0"/>
              <a:t>['id’];</a:t>
            </a:r>
          </a:p>
          <a:p>
            <a:r>
              <a:rPr lang="en-US" altLang="ja-JP" dirty="0"/>
              <a:t>header('Location: </a:t>
            </a:r>
            <a:r>
              <a:rPr lang="en-US" altLang="ja-JP" dirty="0" err="1"/>
              <a:t>auth.php</a:t>
            </a:r>
            <a:r>
              <a:rPr lang="en-US" altLang="ja-JP" dirty="0"/>
              <a:t>’);</a:t>
            </a:r>
          </a:p>
          <a:p>
            <a:r>
              <a:rPr lang="en-US" altLang="ja-JP" dirty="0"/>
              <a:t>exit;</a:t>
            </a:r>
          </a:p>
          <a:p>
            <a:r>
              <a:rPr lang="ja-JP" altLang="en-US" dirty="0"/>
              <a:t>こので</a:t>
            </a:r>
            <a:r>
              <a:rPr lang="en-US" altLang="ja-JP" dirty="0" err="1"/>
              <a:t>auth.php</a:t>
            </a:r>
            <a:r>
              <a:rPr lang="ja-JP" altLang="en-US" dirty="0"/>
              <a:t>に移動</a:t>
            </a:r>
          </a:p>
        </p:txBody>
      </p:sp>
    </p:spTree>
    <p:extLst>
      <p:ext uri="{BB962C8B-B14F-4D97-AF65-F5344CB8AC3E}">
        <p14:creationId xmlns:p14="http://schemas.microsoft.com/office/powerpoint/2010/main" val="1635758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94D6-5CA7-7E27-3C5E-8A2A7F36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10DA798-AD2B-13F4-9752-CED568D8D8D5}"/>
              </a:ext>
            </a:extLst>
          </p:cNvPr>
          <p:cNvCxnSpPr/>
          <p:nvPr/>
        </p:nvCxnSpPr>
        <p:spPr>
          <a:xfrm>
            <a:off x="228600" y="755374"/>
            <a:ext cx="11936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176FCB-13C6-0C06-A465-A22826108F24}"/>
              </a:ext>
            </a:extLst>
          </p:cNvPr>
          <p:cNvSpPr txBox="1"/>
          <p:nvPr/>
        </p:nvSpPr>
        <p:spPr>
          <a:xfrm>
            <a:off x="228600" y="198782"/>
            <a:ext cx="94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</a:t>
            </a:r>
            <a:r>
              <a:rPr kumimoji="1" lang="en-US" altLang="ja-JP" dirty="0"/>
              <a:t>&lt;button&gt;</a:t>
            </a:r>
            <a:r>
              <a:rPr lang="ja-JP" altLang="en-US" dirty="0"/>
              <a:t>を押した瞬間から、</a:t>
            </a:r>
            <a:r>
              <a:rPr lang="en-US" altLang="ja-JP" dirty="0"/>
              <a:t>PHP </a:t>
            </a:r>
            <a:r>
              <a:rPr lang="ja-JP" altLang="en-US" dirty="0"/>
              <a:t>のコードがどう動くかを説明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003955-BDE8-230E-401D-57D51A737944}"/>
              </a:ext>
            </a:extLst>
          </p:cNvPr>
          <p:cNvSpPr txBox="1"/>
          <p:nvPr/>
        </p:nvSpPr>
        <p:spPr>
          <a:xfrm>
            <a:off x="653496" y="1356548"/>
            <a:ext cx="7755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dirty="0"/>
              <a:t>12. </a:t>
            </a:r>
            <a:r>
              <a:rPr lang="ja-JP" altLang="en-US" dirty="0"/>
              <a:t>ログイン失敗時は </a:t>
            </a:r>
            <a:r>
              <a:rPr lang="en-US" altLang="ja-JP" dirty="0">
                <a:latin typeface="Courier New" panose="02070309020205020404" pitchFamily="49" charset="0"/>
              </a:rPr>
              <a:t>$error = true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2F7A9B-7F7D-5F2B-A5CA-DBAC6633D742}"/>
              </a:ext>
            </a:extLst>
          </p:cNvPr>
          <p:cNvSpPr txBox="1"/>
          <p:nvPr/>
        </p:nvSpPr>
        <p:spPr>
          <a:xfrm>
            <a:off x="1482171" y="195772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} else {    $error = true;}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2FF3AA-9C7A-CFA8-5309-DE0D41E3EF34}"/>
              </a:ext>
            </a:extLst>
          </p:cNvPr>
          <p:cNvSpPr txBox="1"/>
          <p:nvPr/>
        </p:nvSpPr>
        <p:spPr>
          <a:xfrm>
            <a:off x="1482171" y="2558894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この </a:t>
            </a:r>
            <a:r>
              <a:rPr lang="en-US" altLang="ja-JP" dirty="0">
                <a:latin typeface="Courier New" panose="02070309020205020404" pitchFamily="49" charset="0"/>
              </a:rPr>
              <a:t>$error</a:t>
            </a:r>
            <a:r>
              <a:rPr lang="ja-JP" altLang="en-US" dirty="0"/>
              <a:t> が </a:t>
            </a:r>
            <a:r>
              <a:rPr lang="en-US" altLang="ja-JP" dirty="0"/>
              <a:t>true </a:t>
            </a:r>
            <a:r>
              <a:rPr lang="ja-JP" altLang="en-US" dirty="0"/>
              <a:t>になると、</a:t>
            </a:r>
            <a:br>
              <a:rPr lang="ja-JP" altLang="en-US" dirty="0"/>
            </a:br>
            <a:r>
              <a:rPr lang="en-US" altLang="ja-JP" dirty="0"/>
              <a:t>HTML </a:t>
            </a:r>
            <a:r>
              <a:rPr lang="ja-JP" altLang="en-US" dirty="0"/>
              <a:t>側の </a:t>
            </a:r>
            <a:r>
              <a:rPr lang="en-US" altLang="ja-JP" dirty="0"/>
              <a:t>CSS </a:t>
            </a:r>
            <a:r>
              <a:rPr lang="ja-JP" altLang="en-US" dirty="0"/>
              <a:t>でモーダルが表示される：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340AC37-18CD-5274-09CC-7F0781CEDE73}"/>
              </a:ext>
            </a:extLst>
          </p:cNvPr>
          <p:cNvSpPr txBox="1"/>
          <p:nvPr/>
        </p:nvSpPr>
        <p:spPr>
          <a:xfrm>
            <a:off x="1289602" y="367265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display: &lt;?= $error ? 'flex' : 'none' ?&gt;;</a:t>
            </a:r>
            <a:endParaRPr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8ABFCC-C744-05EF-E87A-D8FB795E2050}"/>
              </a:ext>
            </a:extLst>
          </p:cNvPr>
          <p:cNvSpPr txBox="1"/>
          <p:nvPr/>
        </p:nvSpPr>
        <p:spPr>
          <a:xfrm>
            <a:off x="1482171" y="466562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つまり </a:t>
            </a:r>
            <a:r>
              <a:rPr lang="ja-JP" altLang="en-US" b="1" dirty="0"/>
              <a:t>エラーモーダルが出る</a:t>
            </a:r>
            <a:r>
              <a:rPr lang="ja-JP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05271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6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9648</TotalTime>
  <Words>991</Words>
  <Application>Microsoft Office PowerPoint</Application>
  <PresentationFormat>ワイド画面</PresentationFormat>
  <Paragraphs>112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Courier New</vt:lpstr>
      <vt:lpstr>Office テーマ</vt:lpstr>
      <vt:lpstr>Login.php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takayuki matsunaga</dc:creator>
  <cp:lastModifiedBy>takayuki matsunaga</cp:lastModifiedBy>
  <cp:revision>2</cp:revision>
  <dcterms:created xsi:type="dcterms:W3CDTF">2026-01-12T07:41:21Z</dcterms:created>
  <dcterms:modified xsi:type="dcterms:W3CDTF">2026-01-19T10:58:13Z</dcterms:modified>
</cp:coreProperties>
</file>