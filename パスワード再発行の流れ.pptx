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96" d="100"/>
          <a:sy n="96" d="100"/>
        </p:scale>
        <p:origin x="42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72F64F-63ED-3B0E-E390-43D1C626819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279BD84-62F6-D252-8159-EDFEE638BC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5FD175B-7C44-05BD-FC85-EC669608B554}"/>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5" name="フッター プレースホルダー 4">
            <a:extLst>
              <a:ext uri="{FF2B5EF4-FFF2-40B4-BE49-F238E27FC236}">
                <a16:creationId xmlns:a16="http://schemas.microsoft.com/office/drawing/2014/main" id="{7C174CEB-A344-DABA-40A3-5FCEEB340E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8AFADB-6781-6223-B036-BE3DE09E859F}"/>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3634545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46772B-394F-0A1D-B65F-42D36861F5B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2114F8-8989-511F-AC2D-5266904110C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D89164-1ADD-1E4F-4FDC-DD51FA331B09}"/>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5" name="フッター プレースホルダー 4">
            <a:extLst>
              <a:ext uri="{FF2B5EF4-FFF2-40B4-BE49-F238E27FC236}">
                <a16:creationId xmlns:a16="http://schemas.microsoft.com/office/drawing/2014/main" id="{85573CFE-C845-0AA3-394F-992B48DB1C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5E1821-9F30-AE6B-1C95-A1563DC1F6E9}"/>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20185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B15413-8E4D-5AF6-F17B-C4CBE0FEBEE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3D45E8D-36F9-1397-89F6-0F3569361F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F2BFCED-A1D3-AD6A-49C5-0018C37B3B97}"/>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5" name="フッター プレースホルダー 4">
            <a:extLst>
              <a:ext uri="{FF2B5EF4-FFF2-40B4-BE49-F238E27FC236}">
                <a16:creationId xmlns:a16="http://schemas.microsoft.com/office/drawing/2014/main" id="{FB62F728-5227-1875-8548-CE4351C762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298263-0320-BFC8-220C-18085BD7D5A8}"/>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2155453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C6C50E-1171-D0B8-5EDB-7427C8361DA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B7B4A9D-B2BD-E10F-6973-E6DEF03A6BF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2B2EF88-01BC-31BB-8EDC-26BE6B57004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C2F839A-4DF1-12AC-691E-2BDA83A93222}"/>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6" name="フッター プレースホルダー 5">
            <a:extLst>
              <a:ext uri="{FF2B5EF4-FFF2-40B4-BE49-F238E27FC236}">
                <a16:creationId xmlns:a16="http://schemas.microsoft.com/office/drawing/2014/main" id="{BACCEE6E-0313-14EE-0998-447094F9A81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B042052-1A9D-A5A2-CA08-C02225CC8C31}"/>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1918393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878261-5829-46AE-40E7-3C3E56FC46E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F3F8750-D914-F855-40BB-C04D078F9F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BBA9412-302C-F792-D802-3F9F4D3C09A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1576E37-2536-6F6D-CCB5-462F5D6537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B283215-A3D3-7259-6D59-BAA2C8B3016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9302771-F898-ACAC-97A5-8F623DFD6AD3}"/>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8" name="フッター プレースホルダー 7">
            <a:extLst>
              <a:ext uri="{FF2B5EF4-FFF2-40B4-BE49-F238E27FC236}">
                <a16:creationId xmlns:a16="http://schemas.microsoft.com/office/drawing/2014/main" id="{0AEFAECE-156B-0FAA-B56F-2E5790C5EFA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390AED8-72F4-9D9C-8CA2-3F109AB81A5E}"/>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3001477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EB6357-7616-3AE0-DB6B-367AA12DC80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2BD23E5-5EB3-3352-C3E7-536D7B7467F7}"/>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4" name="フッター プレースホルダー 3">
            <a:extLst>
              <a:ext uri="{FF2B5EF4-FFF2-40B4-BE49-F238E27FC236}">
                <a16:creationId xmlns:a16="http://schemas.microsoft.com/office/drawing/2014/main" id="{112008E0-D45F-23D4-BC2A-CBCECD313CF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243BB6A-1764-F836-8ECB-079F7278322A}"/>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2900527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3A576A6-A3BE-DB23-55AF-B2EFF325DE23}"/>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3" name="フッター プレースホルダー 2">
            <a:extLst>
              <a:ext uri="{FF2B5EF4-FFF2-40B4-BE49-F238E27FC236}">
                <a16:creationId xmlns:a16="http://schemas.microsoft.com/office/drawing/2014/main" id="{1109C7DA-EC16-1ACB-7761-2628704DC17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96B89C6-66B2-B7DA-B56F-AEEADBF78E43}"/>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2091531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91A9B7-CFE0-B3C9-FE8D-1C66691CD86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6DB328F-7E78-2752-1537-E94F43F985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AADC363-9B1A-1A6B-2DDC-83D17AA4B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C7E6221-C3D7-4481-6285-5355DA455081}"/>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6" name="フッター プレースホルダー 5">
            <a:extLst>
              <a:ext uri="{FF2B5EF4-FFF2-40B4-BE49-F238E27FC236}">
                <a16:creationId xmlns:a16="http://schemas.microsoft.com/office/drawing/2014/main" id="{4C2BD65A-819F-5889-7B8F-4B681BA7680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393BF39-4DA7-9EA5-25FF-4B1A1FDB6507}"/>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3425032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42D455-5D91-A710-7A26-71B76C9A3DA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DD65E6B-B14B-8624-E14C-97D05A4252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41D32AD-F653-54F4-FA70-8D2304158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B902DFE-A888-0B6D-4341-59014DE54100}"/>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6" name="フッター プレースホルダー 5">
            <a:extLst>
              <a:ext uri="{FF2B5EF4-FFF2-40B4-BE49-F238E27FC236}">
                <a16:creationId xmlns:a16="http://schemas.microsoft.com/office/drawing/2014/main" id="{DC5A0370-22A6-239B-03E4-BC4F60DBB33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AE94200-D54F-5FB5-585E-CC631E3C2361}"/>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3417986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9ED4C3-7B27-865B-BD24-0F1CAED78C8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0F068E0-C83B-EC99-CFA3-993AEFB2B75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33CEC50-3AF0-005C-6BF7-B837D999F78F}"/>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5" name="フッター プレースホルダー 4">
            <a:extLst>
              <a:ext uri="{FF2B5EF4-FFF2-40B4-BE49-F238E27FC236}">
                <a16:creationId xmlns:a16="http://schemas.microsoft.com/office/drawing/2014/main" id="{42AEB2C3-6381-EB50-5265-80A2EE3E77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703D86D-1A6B-D80E-5D9C-563CCE6E614D}"/>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2335390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8074B99-C79E-2044-A682-295FED86CF0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92B06B5-B169-1927-D7F0-0628B624727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662BEEB-773B-535E-1910-B250E9472598}"/>
              </a:ext>
            </a:extLst>
          </p:cNvPr>
          <p:cNvSpPr>
            <a:spLocks noGrp="1"/>
          </p:cNvSpPr>
          <p:nvPr>
            <p:ph type="dt" sz="half" idx="10"/>
          </p:nvPr>
        </p:nvSpPr>
        <p:spPr/>
        <p:txBody>
          <a:bodyPr/>
          <a:lstStyle/>
          <a:p>
            <a:fld id="{AE976588-475D-4CF2-A146-0FFB29642E2D}" type="datetimeFigureOut">
              <a:rPr kumimoji="1" lang="ja-JP" altLang="en-US" smtClean="0"/>
              <a:t>2026/1/19</a:t>
            </a:fld>
            <a:endParaRPr kumimoji="1" lang="ja-JP" altLang="en-US"/>
          </a:p>
        </p:txBody>
      </p:sp>
      <p:sp>
        <p:nvSpPr>
          <p:cNvPr id="5" name="フッター プレースホルダー 4">
            <a:extLst>
              <a:ext uri="{FF2B5EF4-FFF2-40B4-BE49-F238E27FC236}">
                <a16:creationId xmlns:a16="http://schemas.microsoft.com/office/drawing/2014/main" id="{517DFA6C-232C-5B88-E07D-54FE8C2630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416507-B8BD-58ED-8E6E-6F1F21672811}"/>
              </a:ext>
            </a:extLst>
          </p:cNvPr>
          <p:cNvSpPr>
            <a:spLocks noGrp="1"/>
          </p:cNvSpPr>
          <p:nvPr>
            <p:ph type="sldNum" sz="quarter" idx="12"/>
          </p:nvPr>
        </p:nvSpPr>
        <p:spPr/>
        <p:txBody>
          <a:body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3795779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F140161-08C6-379A-4F42-91EC703556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81985FE-3DAD-E5E7-EF1A-5491B8BDAC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A315FD-236B-18AF-72F5-DACE3F500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976588-475D-4CF2-A146-0FFB29642E2D}" type="datetimeFigureOut">
              <a:rPr kumimoji="1" lang="ja-JP" altLang="en-US" smtClean="0"/>
              <a:t>2026/1/19</a:t>
            </a:fld>
            <a:endParaRPr kumimoji="1" lang="ja-JP" altLang="en-US"/>
          </a:p>
        </p:txBody>
      </p:sp>
      <p:sp>
        <p:nvSpPr>
          <p:cNvPr id="5" name="フッター プレースホルダー 4">
            <a:extLst>
              <a:ext uri="{FF2B5EF4-FFF2-40B4-BE49-F238E27FC236}">
                <a16:creationId xmlns:a16="http://schemas.microsoft.com/office/drawing/2014/main" id="{F615249D-3841-5CBA-5435-8DF5046752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C9DA322-B0B0-3528-B2C6-3DDF4F5A42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F080E7-AD39-4987-8B1D-765CBE2C2939}" type="slidenum">
              <a:rPr kumimoji="1" lang="ja-JP" altLang="en-US" smtClean="0"/>
              <a:t>‹#›</a:t>
            </a:fld>
            <a:endParaRPr kumimoji="1" lang="ja-JP" altLang="en-US"/>
          </a:p>
        </p:txBody>
      </p:sp>
    </p:spTree>
    <p:extLst>
      <p:ext uri="{BB962C8B-B14F-4D97-AF65-F5344CB8AC3E}">
        <p14:creationId xmlns:p14="http://schemas.microsoft.com/office/powerpoint/2010/main" val="2424574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0B6D70-95C1-F970-4329-5CE6BFA0D2F7}"/>
              </a:ext>
            </a:extLst>
          </p:cNvPr>
          <p:cNvSpPr>
            <a:spLocks noGrp="1"/>
          </p:cNvSpPr>
          <p:nvPr>
            <p:ph type="ctrTitle"/>
          </p:nvPr>
        </p:nvSpPr>
        <p:spPr/>
        <p:txBody>
          <a:bodyPr/>
          <a:lstStyle/>
          <a:p>
            <a:r>
              <a:rPr kumimoji="1" lang="ja-JP" altLang="en-US" dirty="0"/>
              <a:t>パスワード再発行の流れ</a:t>
            </a:r>
          </a:p>
        </p:txBody>
      </p:sp>
      <p:sp>
        <p:nvSpPr>
          <p:cNvPr id="3" name="字幕 2">
            <a:extLst>
              <a:ext uri="{FF2B5EF4-FFF2-40B4-BE49-F238E27FC236}">
                <a16:creationId xmlns:a16="http://schemas.microsoft.com/office/drawing/2014/main" id="{98090434-3C43-1C96-2E93-094F373EBECE}"/>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603244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69BCB8E-7EAB-55CB-5207-3D523A132B33}"/>
              </a:ext>
            </a:extLst>
          </p:cNvPr>
          <p:cNvSpPr txBox="1"/>
          <p:nvPr/>
        </p:nvSpPr>
        <p:spPr>
          <a:xfrm>
            <a:off x="2643808" y="457200"/>
            <a:ext cx="1530626" cy="369332"/>
          </a:xfrm>
          <a:prstGeom prst="rect">
            <a:avLst/>
          </a:prstGeom>
          <a:noFill/>
        </p:spPr>
        <p:txBody>
          <a:bodyPr wrap="square" rtlCol="0">
            <a:spAutoFit/>
          </a:bodyPr>
          <a:lstStyle/>
          <a:p>
            <a:r>
              <a:rPr kumimoji="1" lang="ja-JP" altLang="en-US" dirty="0"/>
              <a:t>ユーザー</a:t>
            </a:r>
          </a:p>
        </p:txBody>
      </p:sp>
      <p:sp>
        <p:nvSpPr>
          <p:cNvPr id="5" name="正方形/長方形 4">
            <a:extLst>
              <a:ext uri="{FF2B5EF4-FFF2-40B4-BE49-F238E27FC236}">
                <a16:creationId xmlns:a16="http://schemas.microsoft.com/office/drawing/2014/main" id="{C263B971-74D5-5AD6-A14C-F87C70D61626}"/>
              </a:ext>
            </a:extLst>
          </p:cNvPr>
          <p:cNvSpPr/>
          <p:nvPr/>
        </p:nvSpPr>
        <p:spPr>
          <a:xfrm>
            <a:off x="2504660" y="948395"/>
            <a:ext cx="1530626"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パスワード忘れを</a:t>
            </a:r>
            <a:endParaRPr kumimoji="1" lang="en-US" altLang="ja-JP" sz="1000" dirty="0">
              <a:solidFill>
                <a:schemeClr val="tx1"/>
              </a:solidFill>
            </a:endParaRPr>
          </a:p>
          <a:p>
            <a:pPr algn="ctr"/>
            <a:r>
              <a:rPr kumimoji="1" lang="ja-JP" altLang="en-US" sz="1000" dirty="0">
                <a:solidFill>
                  <a:schemeClr val="tx1"/>
                </a:solidFill>
              </a:rPr>
              <a:t>クリック</a:t>
            </a:r>
          </a:p>
        </p:txBody>
      </p:sp>
      <p:sp>
        <p:nvSpPr>
          <p:cNvPr id="7" name="正方形/長方形 6">
            <a:extLst>
              <a:ext uri="{FF2B5EF4-FFF2-40B4-BE49-F238E27FC236}">
                <a16:creationId xmlns:a16="http://schemas.microsoft.com/office/drawing/2014/main" id="{06585F00-781B-66BF-51EB-7CE3CC428582}"/>
              </a:ext>
            </a:extLst>
          </p:cNvPr>
          <p:cNvSpPr/>
          <p:nvPr/>
        </p:nvSpPr>
        <p:spPr>
          <a:xfrm>
            <a:off x="2504660" y="1736899"/>
            <a:ext cx="1530626"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メールアドレス入力</a:t>
            </a:r>
          </a:p>
        </p:txBody>
      </p:sp>
      <p:sp>
        <p:nvSpPr>
          <p:cNvPr id="9" name="テキスト ボックス 8">
            <a:extLst>
              <a:ext uri="{FF2B5EF4-FFF2-40B4-BE49-F238E27FC236}">
                <a16:creationId xmlns:a16="http://schemas.microsoft.com/office/drawing/2014/main" id="{81A27A30-D918-99FC-2110-9DA53A19639A}"/>
              </a:ext>
            </a:extLst>
          </p:cNvPr>
          <p:cNvSpPr txBox="1"/>
          <p:nvPr/>
        </p:nvSpPr>
        <p:spPr>
          <a:xfrm>
            <a:off x="1061001" y="1860010"/>
            <a:ext cx="1244876" cy="246221"/>
          </a:xfrm>
          <a:prstGeom prst="rect">
            <a:avLst/>
          </a:prstGeom>
          <a:noFill/>
        </p:spPr>
        <p:txBody>
          <a:bodyPr wrap="square">
            <a:spAutoFit/>
          </a:bodyPr>
          <a:lstStyle/>
          <a:p>
            <a:r>
              <a:rPr lang="en-US" altLang="ja-JP" sz="1000" dirty="0" err="1"/>
              <a:t>reissue.php</a:t>
            </a:r>
            <a:endParaRPr lang="ja-JP" altLang="en-US" sz="1000" dirty="0"/>
          </a:p>
        </p:txBody>
      </p:sp>
      <p:sp>
        <p:nvSpPr>
          <p:cNvPr id="10" name="テキスト ボックス 9">
            <a:extLst>
              <a:ext uri="{FF2B5EF4-FFF2-40B4-BE49-F238E27FC236}">
                <a16:creationId xmlns:a16="http://schemas.microsoft.com/office/drawing/2014/main" id="{0C33D1E8-5CB3-3624-75EC-23067D4740ED}"/>
              </a:ext>
            </a:extLst>
          </p:cNvPr>
          <p:cNvSpPr txBox="1"/>
          <p:nvPr/>
        </p:nvSpPr>
        <p:spPr>
          <a:xfrm>
            <a:off x="6486942" y="579063"/>
            <a:ext cx="1530626" cy="369332"/>
          </a:xfrm>
          <a:prstGeom prst="rect">
            <a:avLst/>
          </a:prstGeom>
          <a:noFill/>
        </p:spPr>
        <p:txBody>
          <a:bodyPr wrap="square" rtlCol="0">
            <a:spAutoFit/>
          </a:bodyPr>
          <a:lstStyle/>
          <a:p>
            <a:r>
              <a:rPr kumimoji="1" lang="ja-JP" altLang="en-US" dirty="0"/>
              <a:t>システム</a:t>
            </a:r>
          </a:p>
        </p:txBody>
      </p:sp>
      <p:cxnSp>
        <p:nvCxnSpPr>
          <p:cNvPr id="12" name="直線矢印コネクタ 11">
            <a:extLst>
              <a:ext uri="{FF2B5EF4-FFF2-40B4-BE49-F238E27FC236}">
                <a16:creationId xmlns:a16="http://schemas.microsoft.com/office/drawing/2014/main" id="{D4BFB551-550A-E781-B90C-A75E058C1E49}"/>
              </a:ext>
            </a:extLst>
          </p:cNvPr>
          <p:cNvCxnSpPr>
            <a:stCxn id="5" idx="2"/>
            <a:endCxn id="7" idx="0"/>
          </p:cNvCxnSpPr>
          <p:nvPr/>
        </p:nvCxnSpPr>
        <p:spPr>
          <a:xfrm>
            <a:off x="3269973" y="1317727"/>
            <a:ext cx="0" cy="419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FB9D6F45-902C-DEF9-9D84-A51AC6D13BE1}"/>
              </a:ext>
            </a:extLst>
          </p:cNvPr>
          <p:cNvSpPr/>
          <p:nvPr/>
        </p:nvSpPr>
        <p:spPr>
          <a:xfrm>
            <a:off x="6486942" y="1613788"/>
            <a:ext cx="1530626"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メールアドレス</a:t>
            </a:r>
            <a:endParaRPr kumimoji="1" lang="en-US" altLang="ja-JP" sz="1000" dirty="0">
              <a:solidFill>
                <a:schemeClr val="tx1"/>
              </a:solidFill>
            </a:endParaRPr>
          </a:p>
          <a:p>
            <a:pPr algn="ctr"/>
            <a:r>
              <a:rPr kumimoji="1" lang="ja-JP" altLang="en-US" sz="1000" dirty="0">
                <a:solidFill>
                  <a:schemeClr val="tx1"/>
                </a:solidFill>
              </a:rPr>
              <a:t>受け取り</a:t>
            </a:r>
          </a:p>
        </p:txBody>
      </p:sp>
      <p:sp>
        <p:nvSpPr>
          <p:cNvPr id="15" name="フローチャート: 磁気ディスク 14">
            <a:extLst>
              <a:ext uri="{FF2B5EF4-FFF2-40B4-BE49-F238E27FC236}">
                <a16:creationId xmlns:a16="http://schemas.microsoft.com/office/drawing/2014/main" id="{775CACF3-B5C3-D993-B9E5-768888F840AF}"/>
              </a:ext>
            </a:extLst>
          </p:cNvPr>
          <p:cNvSpPr/>
          <p:nvPr/>
        </p:nvSpPr>
        <p:spPr>
          <a:xfrm>
            <a:off x="8855765" y="1860009"/>
            <a:ext cx="1244876" cy="555199"/>
          </a:xfrm>
          <a:prstGeom prst="flowChartMagneticDisk">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rPr>
              <a:t>supervisors </a:t>
            </a:r>
          </a:p>
          <a:p>
            <a:pPr algn="ctr"/>
            <a:r>
              <a:rPr lang="ja-JP" altLang="en-US" sz="1000" dirty="0">
                <a:solidFill>
                  <a:schemeClr val="tx1"/>
                </a:solidFill>
              </a:rPr>
              <a:t>データベース</a:t>
            </a:r>
            <a:endParaRPr kumimoji="1" lang="ja-JP" altLang="en-US" sz="1000" dirty="0">
              <a:solidFill>
                <a:schemeClr val="tx1"/>
              </a:solidFill>
            </a:endParaRPr>
          </a:p>
        </p:txBody>
      </p:sp>
      <p:cxnSp>
        <p:nvCxnSpPr>
          <p:cNvPr id="17" name="コネクタ: 曲線 16">
            <a:extLst>
              <a:ext uri="{FF2B5EF4-FFF2-40B4-BE49-F238E27FC236}">
                <a16:creationId xmlns:a16="http://schemas.microsoft.com/office/drawing/2014/main" id="{044C1188-9FC1-0A26-BDB5-F8373B1E636C}"/>
              </a:ext>
            </a:extLst>
          </p:cNvPr>
          <p:cNvCxnSpPr>
            <a:cxnSpLocks/>
            <a:stCxn id="13" idx="3"/>
            <a:endCxn id="15" idx="2"/>
          </p:cNvCxnSpPr>
          <p:nvPr/>
        </p:nvCxnSpPr>
        <p:spPr>
          <a:xfrm>
            <a:off x="8017568" y="1798454"/>
            <a:ext cx="838197" cy="339155"/>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0A3BF99E-C5F9-EA9B-6807-EA8DB1F18477}"/>
              </a:ext>
            </a:extLst>
          </p:cNvPr>
          <p:cNvSpPr txBox="1"/>
          <p:nvPr/>
        </p:nvSpPr>
        <p:spPr>
          <a:xfrm>
            <a:off x="8058110" y="1568881"/>
            <a:ext cx="1595309" cy="246221"/>
          </a:xfrm>
          <a:prstGeom prst="rect">
            <a:avLst/>
          </a:prstGeom>
          <a:noFill/>
        </p:spPr>
        <p:txBody>
          <a:bodyPr wrap="none" rtlCol="0">
            <a:spAutoFit/>
          </a:bodyPr>
          <a:lstStyle/>
          <a:p>
            <a:r>
              <a:rPr kumimoji="1" lang="ja-JP" altLang="en-US" sz="1000" dirty="0"/>
              <a:t>メールアドレス存在確認</a:t>
            </a:r>
          </a:p>
        </p:txBody>
      </p:sp>
      <p:sp>
        <p:nvSpPr>
          <p:cNvPr id="20" name="正方形/長方形 19">
            <a:extLst>
              <a:ext uri="{FF2B5EF4-FFF2-40B4-BE49-F238E27FC236}">
                <a16:creationId xmlns:a16="http://schemas.microsoft.com/office/drawing/2014/main" id="{379846DF-672A-CD1D-1907-30931D7722A6}"/>
              </a:ext>
            </a:extLst>
          </p:cNvPr>
          <p:cNvSpPr/>
          <p:nvPr/>
        </p:nvSpPr>
        <p:spPr>
          <a:xfrm>
            <a:off x="6486942" y="2618336"/>
            <a:ext cx="1530626"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ワンタイムトークン</a:t>
            </a:r>
            <a:endParaRPr kumimoji="1" lang="en-US" altLang="ja-JP" sz="1000" dirty="0">
              <a:solidFill>
                <a:schemeClr val="tx1"/>
              </a:solidFill>
            </a:endParaRPr>
          </a:p>
          <a:p>
            <a:pPr algn="ctr"/>
            <a:r>
              <a:rPr kumimoji="1" lang="ja-JP" altLang="en-US" sz="1000" dirty="0">
                <a:solidFill>
                  <a:schemeClr val="tx1"/>
                </a:solidFill>
              </a:rPr>
              <a:t>作成</a:t>
            </a:r>
          </a:p>
        </p:txBody>
      </p:sp>
      <p:cxnSp>
        <p:nvCxnSpPr>
          <p:cNvPr id="22" name="直線矢印コネクタ 21">
            <a:extLst>
              <a:ext uri="{FF2B5EF4-FFF2-40B4-BE49-F238E27FC236}">
                <a16:creationId xmlns:a16="http://schemas.microsoft.com/office/drawing/2014/main" id="{E2CFA0F0-6205-8E26-6A4A-E98250740E41}"/>
              </a:ext>
            </a:extLst>
          </p:cNvPr>
          <p:cNvCxnSpPr>
            <a:stCxn id="13" idx="2"/>
            <a:endCxn id="20" idx="0"/>
          </p:cNvCxnSpPr>
          <p:nvPr/>
        </p:nvCxnSpPr>
        <p:spPr>
          <a:xfrm>
            <a:off x="7252255" y="1983120"/>
            <a:ext cx="0" cy="635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CA0139AD-A677-5D32-4B4D-683DC673AD9C}"/>
              </a:ext>
            </a:extLst>
          </p:cNvPr>
          <p:cNvSpPr txBox="1"/>
          <p:nvPr/>
        </p:nvSpPr>
        <p:spPr>
          <a:xfrm>
            <a:off x="7219913" y="2244071"/>
            <a:ext cx="1595309" cy="246221"/>
          </a:xfrm>
          <a:prstGeom prst="rect">
            <a:avLst/>
          </a:prstGeom>
          <a:noFill/>
        </p:spPr>
        <p:txBody>
          <a:bodyPr wrap="none" rtlCol="0">
            <a:spAutoFit/>
          </a:bodyPr>
          <a:lstStyle/>
          <a:p>
            <a:r>
              <a:rPr kumimoji="1" lang="ja-JP" altLang="en-US" sz="1000" dirty="0"/>
              <a:t>メールアドレスがあれば</a:t>
            </a:r>
          </a:p>
        </p:txBody>
      </p:sp>
      <p:sp>
        <p:nvSpPr>
          <p:cNvPr id="26" name="フローチャート: 書類 25">
            <a:extLst>
              <a:ext uri="{FF2B5EF4-FFF2-40B4-BE49-F238E27FC236}">
                <a16:creationId xmlns:a16="http://schemas.microsoft.com/office/drawing/2014/main" id="{3014D03F-18F3-34E8-EA61-ECCA2DB9F634}"/>
              </a:ext>
            </a:extLst>
          </p:cNvPr>
          <p:cNvSpPr/>
          <p:nvPr/>
        </p:nvSpPr>
        <p:spPr>
          <a:xfrm>
            <a:off x="8815222" y="2987668"/>
            <a:ext cx="1530626" cy="555198"/>
          </a:xfrm>
          <a:prstGeom prst="flowChart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ワンタイムトークンの保存</a:t>
            </a:r>
          </a:p>
        </p:txBody>
      </p:sp>
      <p:cxnSp>
        <p:nvCxnSpPr>
          <p:cNvPr id="28" name="コネクタ: 曲線 27">
            <a:extLst>
              <a:ext uri="{FF2B5EF4-FFF2-40B4-BE49-F238E27FC236}">
                <a16:creationId xmlns:a16="http://schemas.microsoft.com/office/drawing/2014/main" id="{EAE431CF-4F83-4E08-0926-AD40E888EEAB}"/>
              </a:ext>
            </a:extLst>
          </p:cNvPr>
          <p:cNvCxnSpPr>
            <a:stCxn id="20" idx="3"/>
            <a:endCxn id="26" idx="1"/>
          </p:cNvCxnSpPr>
          <p:nvPr/>
        </p:nvCxnSpPr>
        <p:spPr>
          <a:xfrm>
            <a:off x="8017568" y="2803002"/>
            <a:ext cx="797654" cy="462265"/>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直線矢印コネクタ 29">
            <a:extLst>
              <a:ext uri="{FF2B5EF4-FFF2-40B4-BE49-F238E27FC236}">
                <a16:creationId xmlns:a16="http://schemas.microsoft.com/office/drawing/2014/main" id="{D393C60F-B678-0807-4003-8A182BFF8D0F}"/>
              </a:ext>
            </a:extLst>
          </p:cNvPr>
          <p:cNvCxnSpPr>
            <a:cxnSpLocks/>
            <a:stCxn id="20" idx="1"/>
            <a:endCxn id="35" idx="3"/>
          </p:cNvCxnSpPr>
          <p:nvPr/>
        </p:nvCxnSpPr>
        <p:spPr>
          <a:xfrm flipH="1">
            <a:off x="2554354" y="2803002"/>
            <a:ext cx="3932588" cy="12045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3502BBFD-AFB7-6992-4637-138C06C0DE0E}"/>
              </a:ext>
            </a:extLst>
          </p:cNvPr>
          <p:cNvSpPr txBox="1"/>
          <p:nvPr/>
        </p:nvSpPr>
        <p:spPr>
          <a:xfrm>
            <a:off x="4951654" y="2255678"/>
            <a:ext cx="1467068" cy="400110"/>
          </a:xfrm>
          <a:prstGeom prst="rect">
            <a:avLst/>
          </a:prstGeom>
          <a:noFill/>
        </p:spPr>
        <p:txBody>
          <a:bodyPr wrap="none" rtlCol="0">
            <a:spAutoFit/>
          </a:bodyPr>
          <a:lstStyle/>
          <a:p>
            <a:r>
              <a:rPr kumimoji="1" lang="ja-JP" altLang="en-US" sz="1000" dirty="0"/>
              <a:t>ワンタイムトークンを</a:t>
            </a:r>
            <a:endParaRPr kumimoji="1" lang="en-US" altLang="ja-JP" sz="1000" dirty="0"/>
          </a:p>
          <a:p>
            <a:r>
              <a:rPr kumimoji="1" lang="ja-JP" altLang="en-US" sz="1000" dirty="0"/>
              <a:t>メールで通知</a:t>
            </a:r>
          </a:p>
        </p:txBody>
      </p:sp>
      <p:sp>
        <p:nvSpPr>
          <p:cNvPr id="32" name="四角形: 角を丸くする 31">
            <a:extLst>
              <a:ext uri="{FF2B5EF4-FFF2-40B4-BE49-F238E27FC236}">
                <a16:creationId xmlns:a16="http://schemas.microsoft.com/office/drawing/2014/main" id="{EF1D30F4-D246-CD84-4828-A53F488E02D2}"/>
              </a:ext>
            </a:extLst>
          </p:cNvPr>
          <p:cNvSpPr/>
          <p:nvPr/>
        </p:nvSpPr>
        <p:spPr>
          <a:xfrm>
            <a:off x="455543" y="1443215"/>
            <a:ext cx="10675456" cy="2254142"/>
          </a:xfrm>
          <a:prstGeom prst="round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endParaRPr>
          </a:p>
        </p:txBody>
      </p:sp>
      <p:sp>
        <p:nvSpPr>
          <p:cNvPr id="35" name="正方形/長方形 34">
            <a:extLst>
              <a:ext uri="{FF2B5EF4-FFF2-40B4-BE49-F238E27FC236}">
                <a16:creationId xmlns:a16="http://schemas.microsoft.com/office/drawing/2014/main" id="{BB0CB583-4511-4F42-2546-024A312D6702}"/>
              </a:ext>
            </a:extLst>
          </p:cNvPr>
          <p:cNvSpPr/>
          <p:nvPr/>
        </p:nvSpPr>
        <p:spPr>
          <a:xfrm>
            <a:off x="1023728" y="3822845"/>
            <a:ext cx="1530626"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メールクリック</a:t>
            </a:r>
          </a:p>
        </p:txBody>
      </p:sp>
      <p:sp>
        <p:nvSpPr>
          <p:cNvPr id="39" name="正方形/長方形 38">
            <a:extLst>
              <a:ext uri="{FF2B5EF4-FFF2-40B4-BE49-F238E27FC236}">
                <a16:creationId xmlns:a16="http://schemas.microsoft.com/office/drawing/2014/main" id="{2DD89959-6A3B-E233-0530-FF308B495DEB}"/>
              </a:ext>
            </a:extLst>
          </p:cNvPr>
          <p:cNvSpPr/>
          <p:nvPr/>
        </p:nvSpPr>
        <p:spPr>
          <a:xfrm>
            <a:off x="6771035" y="4147907"/>
            <a:ext cx="1530626"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トークン受け取り</a:t>
            </a:r>
          </a:p>
        </p:txBody>
      </p:sp>
      <p:cxnSp>
        <p:nvCxnSpPr>
          <p:cNvPr id="40" name="直線矢印コネクタ 39">
            <a:extLst>
              <a:ext uri="{FF2B5EF4-FFF2-40B4-BE49-F238E27FC236}">
                <a16:creationId xmlns:a16="http://schemas.microsoft.com/office/drawing/2014/main" id="{8CB8B77B-FBC6-8F43-F0F6-574481EBA333}"/>
              </a:ext>
            </a:extLst>
          </p:cNvPr>
          <p:cNvCxnSpPr>
            <a:cxnSpLocks/>
            <a:stCxn id="35" idx="3"/>
            <a:endCxn id="39" idx="1"/>
          </p:cNvCxnSpPr>
          <p:nvPr/>
        </p:nvCxnSpPr>
        <p:spPr>
          <a:xfrm>
            <a:off x="2554354" y="4007511"/>
            <a:ext cx="4216681" cy="3250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コネクタ: 曲線 43">
            <a:extLst>
              <a:ext uri="{FF2B5EF4-FFF2-40B4-BE49-F238E27FC236}">
                <a16:creationId xmlns:a16="http://schemas.microsoft.com/office/drawing/2014/main" id="{F39EC72D-FEF0-69B5-3644-3C7B1D5F4E8D}"/>
              </a:ext>
            </a:extLst>
          </p:cNvPr>
          <p:cNvCxnSpPr>
            <a:cxnSpLocks/>
            <a:stCxn id="39" idx="3"/>
            <a:endCxn id="26" idx="2"/>
          </p:cNvCxnSpPr>
          <p:nvPr/>
        </p:nvCxnSpPr>
        <p:spPr>
          <a:xfrm flipV="1">
            <a:off x="8301661" y="3506161"/>
            <a:ext cx="1278874" cy="82641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テキスト ボックス 46">
            <a:extLst>
              <a:ext uri="{FF2B5EF4-FFF2-40B4-BE49-F238E27FC236}">
                <a16:creationId xmlns:a16="http://schemas.microsoft.com/office/drawing/2014/main" id="{B8408029-3879-8C5A-7C92-323F566F5248}"/>
              </a:ext>
            </a:extLst>
          </p:cNvPr>
          <p:cNvSpPr txBox="1"/>
          <p:nvPr/>
        </p:nvSpPr>
        <p:spPr>
          <a:xfrm>
            <a:off x="9002330" y="4079798"/>
            <a:ext cx="697627" cy="246221"/>
          </a:xfrm>
          <a:prstGeom prst="rect">
            <a:avLst/>
          </a:prstGeom>
          <a:noFill/>
        </p:spPr>
        <p:txBody>
          <a:bodyPr wrap="none" rtlCol="0">
            <a:spAutoFit/>
          </a:bodyPr>
          <a:lstStyle/>
          <a:p>
            <a:r>
              <a:rPr kumimoji="1" lang="ja-JP" altLang="en-US" sz="1000" dirty="0"/>
              <a:t>チェック</a:t>
            </a:r>
          </a:p>
        </p:txBody>
      </p:sp>
      <p:sp>
        <p:nvSpPr>
          <p:cNvPr id="53" name="テキスト ボックス 52">
            <a:extLst>
              <a:ext uri="{FF2B5EF4-FFF2-40B4-BE49-F238E27FC236}">
                <a16:creationId xmlns:a16="http://schemas.microsoft.com/office/drawing/2014/main" id="{C771D891-052E-13BA-F95D-999903CAC8B0}"/>
              </a:ext>
            </a:extLst>
          </p:cNvPr>
          <p:cNvSpPr txBox="1"/>
          <p:nvPr/>
        </p:nvSpPr>
        <p:spPr>
          <a:xfrm>
            <a:off x="7639011" y="4708460"/>
            <a:ext cx="825867" cy="246221"/>
          </a:xfrm>
          <a:prstGeom prst="rect">
            <a:avLst/>
          </a:prstGeom>
          <a:noFill/>
        </p:spPr>
        <p:txBody>
          <a:bodyPr wrap="none" rtlCol="0">
            <a:spAutoFit/>
          </a:bodyPr>
          <a:lstStyle/>
          <a:p>
            <a:r>
              <a:rPr kumimoji="1" lang="ja-JP" altLang="en-US" sz="1000" dirty="0"/>
              <a:t>正しければ</a:t>
            </a:r>
          </a:p>
        </p:txBody>
      </p:sp>
      <p:cxnSp>
        <p:nvCxnSpPr>
          <p:cNvPr id="54" name="コネクタ: 曲線 53">
            <a:extLst>
              <a:ext uri="{FF2B5EF4-FFF2-40B4-BE49-F238E27FC236}">
                <a16:creationId xmlns:a16="http://schemas.microsoft.com/office/drawing/2014/main" id="{A325B43D-2D17-077B-B13C-56E63BF84DFF}"/>
              </a:ext>
            </a:extLst>
          </p:cNvPr>
          <p:cNvCxnSpPr>
            <a:cxnSpLocks/>
            <a:stCxn id="39" idx="2"/>
          </p:cNvCxnSpPr>
          <p:nvPr/>
        </p:nvCxnSpPr>
        <p:spPr>
          <a:xfrm rot="5400000">
            <a:off x="4309077" y="2061848"/>
            <a:ext cx="771880" cy="568266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テキスト ボックス 56">
            <a:extLst>
              <a:ext uri="{FF2B5EF4-FFF2-40B4-BE49-F238E27FC236}">
                <a16:creationId xmlns:a16="http://schemas.microsoft.com/office/drawing/2014/main" id="{1CF21CE7-AE9D-689F-B66A-16B570E6F74D}"/>
              </a:ext>
            </a:extLst>
          </p:cNvPr>
          <p:cNvSpPr txBox="1"/>
          <p:nvPr/>
        </p:nvSpPr>
        <p:spPr>
          <a:xfrm>
            <a:off x="1061001" y="5595730"/>
            <a:ext cx="1569660" cy="369332"/>
          </a:xfrm>
          <a:prstGeom prst="rect">
            <a:avLst/>
          </a:prstGeom>
          <a:noFill/>
        </p:spPr>
        <p:txBody>
          <a:bodyPr wrap="none" rtlCol="0">
            <a:spAutoFit/>
          </a:bodyPr>
          <a:lstStyle/>
          <a:p>
            <a:r>
              <a:rPr kumimoji="1" lang="ja-JP" altLang="en-US" dirty="0"/>
              <a:t>入力フォーム</a:t>
            </a:r>
          </a:p>
        </p:txBody>
      </p:sp>
    </p:spTree>
    <p:extLst>
      <p:ext uri="{BB962C8B-B14F-4D97-AF65-F5344CB8AC3E}">
        <p14:creationId xmlns:p14="http://schemas.microsoft.com/office/powerpoint/2010/main" val="2017894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4D4BDFF3-5DB8-EFCB-EED7-486B765A18F8}"/>
              </a:ext>
            </a:extLst>
          </p:cNvPr>
          <p:cNvSpPr txBox="1"/>
          <p:nvPr/>
        </p:nvSpPr>
        <p:spPr>
          <a:xfrm>
            <a:off x="516834" y="1079121"/>
            <a:ext cx="11579087" cy="4401205"/>
          </a:xfrm>
          <a:prstGeom prst="rect">
            <a:avLst/>
          </a:prstGeom>
          <a:noFill/>
        </p:spPr>
        <p:txBody>
          <a:bodyPr wrap="square">
            <a:spAutoFit/>
          </a:bodyPr>
          <a:lstStyle/>
          <a:p>
            <a:pPr>
              <a:buNone/>
            </a:pPr>
            <a:r>
              <a:rPr lang="ja-JP" altLang="en-US" sz="1400" b="1" dirty="0"/>
              <a:t>① ユーザー視点（何が起こっているように見えるか）</a:t>
            </a:r>
          </a:p>
          <a:p>
            <a:pPr>
              <a:buNone/>
            </a:pPr>
            <a:r>
              <a:rPr lang="ja-JP" altLang="en-US" sz="1400" dirty="0"/>
              <a:t>ユーザーにとっては、非常にシンプルで直感的な数ステップのプロセスです。</a:t>
            </a:r>
          </a:p>
          <a:p>
            <a:pPr>
              <a:buFont typeface="+mj-lt"/>
              <a:buAutoNum type="arabicPeriod"/>
            </a:pPr>
            <a:r>
              <a:rPr lang="ja-JP" altLang="en-US" sz="1400" b="1" dirty="0"/>
              <a:t>「パスワードを忘れた」をクリック</a:t>
            </a:r>
            <a:endParaRPr lang="ja-JP" altLang="en-US" sz="1400" dirty="0"/>
          </a:p>
          <a:p>
            <a:pPr marL="742950" lvl="1" indent="-285750">
              <a:buFont typeface="+mj-lt"/>
              <a:buAutoNum type="arabicPeriod"/>
            </a:pPr>
            <a:r>
              <a:rPr lang="ja-JP" altLang="en-US" sz="1400" dirty="0"/>
              <a:t>ログイン画面で、メールアドレスやパスワードを思い出せないため、「パスワードを忘れた方はこちら」のリンクをクリックします。</a:t>
            </a:r>
          </a:p>
          <a:p>
            <a:pPr>
              <a:buFont typeface="+mj-lt"/>
              <a:buAutoNum type="arabicPeriod"/>
            </a:pPr>
            <a:r>
              <a:rPr lang="ja-JP" altLang="en-US" sz="1400" b="1" dirty="0"/>
              <a:t>メールアドレスを入力</a:t>
            </a:r>
            <a:endParaRPr lang="ja-JP" altLang="en-US" sz="1400" dirty="0"/>
          </a:p>
          <a:p>
            <a:pPr marL="742950" lvl="1" indent="-285750">
              <a:buFont typeface="+mj-lt"/>
              <a:buAutoNum type="arabicPeriod"/>
            </a:pPr>
            <a:r>
              <a:rPr lang="ja-JP" altLang="en-US" sz="1400" dirty="0"/>
              <a:t>「パスワードの再設定」ページ </a:t>
            </a:r>
            <a:r>
              <a:rPr lang="en-US" altLang="ja-JP" sz="1400" dirty="0"/>
              <a:t>(</a:t>
            </a:r>
            <a:r>
              <a:rPr lang="en-US" altLang="ja-JP" sz="1400" dirty="0" err="1"/>
              <a:t>reissue.php</a:t>
            </a:r>
            <a:r>
              <a:rPr lang="en-US" altLang="ja-JP" sz="1400" dirty="0"/>
              <a:t>) </a:t>
            </a:r>
            <a:r>
              <a:rPr lang="ja-JP" altLang="en-US" sz="1400" dirty="0"/>
              <a:t>が表示されます。</a:t>
            </a:r>
          </a:p>
          <a:p>
            <a:pPr marL="742950" lvl="1" indent="-285750">
              <a:buFont typeface="+mj-lt"/>
              <a:buAutoNum type="arabicPeriod"/>
            </a:pPr>
            <a:r>
              <a:rPr lang="ja-JP" altLang="en-US" sz="1400" dirty="0"/>
              <a:t>自分が登録したはずのメールアドレスを入力し、「送信する」ボタンを押します。</a:t>
            </a:r>
          </a:p>
          <a:p>
            <a:pPr>
              <a:buFont typeface="+mj-lt"/>
              <a:buAutoNum type="arabicPeriod"/>
            </a:pPr>
            <a:r>
              <a:rPr lang="ja-JP" altLang="en-US" sz="1400" b="1" dirty="0"/>
              <a:t>完了メッセージを確認</a:t>
            </a:r>
            <a:endParaRPr lang="ja-JP" altLang="en-US" sz="1400" dirty="0"/>
          </a:p>
          <a:p>
            <a:pPr marL="742950" lvl="1" indent="-285750">
              <a:buFont typeface="+mj-lt"/>
              <a:buAutoNum type="arabicPeriod"/>
            </a:pPr>
            <a:r>
              <a:rPr lang="ja-JP" altLang="en-US" sz="1400" dirty="0"/>
              <a:t>画面に「ご案内を送信しました。メールをご確認ください。」といったメッセージが表示されます。</a:t>
            </a:r>
          </a:p>
          <a:p>
            <a:pPr>
              <a:buFont typeface="+mj-lt"/>
              <a:buAutoNum type="arabicPeriod"/>
            </a:pPr>
            <a:r>
              <a:rPr lang="ja-JP" altLang="en-US" sz="1400" b="1" dirty="0"/>
              <a:t>メールを確認し、リンクをクリック</a:t>
            </a:r>
            <a:endParaRPr lang="ja-JP" altLang="en-US" sz="1400" dirty="0"/>
          </a:p>
          <a:p>
            <a:pPr marL="742950" lvl="1" indent="-285750">
              <a:buFont typeface="+mj-lt"/>
              <a:buAutoNum type="arabicPeriod"/>
            </a:pPr>
            <a:r>
              <a:rPr lang="ja-JP" altLang="en-US" sz="1400" dirty="0"/>
              <a:t>自分のメール受信箱を開くと、「</a:t>
            </a:r>
            <a:r>
              <a:rPr lang="en-US" altLang="ja-JP" sz="1400" dirty="0"/>
              <a:t>【</a:t>
            </a:r>
            <a:r>
              <a:rPr lang="ja-JP" altLang="en-US" sz="1400" dirty="0"/>
              <a:t>博物館ガイド</a:t>
            </a:r>
            <a:r>
              <a:rPr lang="en-US" altLang="ja-JP" sz="1400" dirty="0"/>
              <a:t>】</a:t>
            </a:r>
            <a:r>
              <a:rPr lang="ja-JP" altLang="en-US" sz="1400" dirty="0"/>
              <a:t>パスワード再設定のご案内」という件名のメールが届いています。</a:t>
            </a:r>
          </a:p>
          <a:p>
            <a:pPr marL="742950" lvl="1" indent="-285750">
              <a:buFont typeface="+mj-lt"/>
              <a:buAutoNum type="arabicPeriod"/>
            </a:pPr>
            <a:r>
              <a:rPr lang="ja-JP" altLang="en-US" sz="1400" dirty="0"/>
              <a:t>メール本文に記載されている、長くてユニークな</a:t>
            </a:r>
            <a:r>
              <a:rPr lang="en-US" altLang="ja-JP" sz="1400" dirty="0"/>
              <a:t>URL</a:t>
            </a:r>
            <a:r>
              <a:rPr lang="ja-JP" altLang="en-US" sz="1400" dirty="0"/>
              <a:t>（再設定用リンク）をクリックします。</a:t>
            </a:r>
          </a:p>
          <a:p>
            <a:pPr>
              <a:buFont typeface="+mj-lt"/>
              <a:buAutoNum type="arabicPeriod"/>
            </a:pPr>
            <a:r>
              <a:rPr lang="ja-JP" altLang="en-US" sz="1400" b="1" dirty="0"/>
              <a:t>新しいパスワードを設定</a:t>
            </a:r>
            <a:endParaRPr lang="ja-JP" altLang="en-US" sz="1400" dirty="0"/>
          </a:p>
          <a:p>
            <a:pPr marL="742950" lvl="1" indent="-285750">
              <a:buFont typeface="+mj-lt"/>
              <a:buAutoNum type="arabicPeriod"/>
            </a:pPr>
            <a:r>
              <a:rPr lang="ja-JP" altLang="en-US" sz="1400" dirty="0"/>
              <a:t>ブラウザで「新しいパスワードの設定」ページ </a:t>
            </a:r>
            <a:r>
              <a:rPr lang="en-US" altLang="ja-JP" sz="1400" dirty="0"/>
              <a:t>(</a:t>
            </a:r>
            <a:r>
              <a:rPr lang="en-US" altLang="ja-JP" sz="1400" dirty="0" err="1"/>
              <a:t>reset_password.php</a:t>
            </a:r>
            <a:r>
              <a:rPr lang="en-US" altLang="ja-JP" sz="1400" dirty="0"/>
              <a:t>) </a:t>
            </a:r>
            <a:r>
              <a:rPr lang="ja-JP" altLang="en-US" sz="1400" dirty="0"/>
              <a:t>が開きます。</a:t>
            </a:r>
          </a:p>
          <a:p>
            <a:pPr marL="742950" lvl="1" indent="-285750">
              <a:buFont typeface="+mj-lt"/>
              <a:buAutoNum type="arabicPeriod"/>
            </a:pPr>
            <a:r>
              <a:rPr lang="ja-JP" altLang="en-US" sz="1400" dirty="0"/>
              <a:t>ここで、使いたい新しいパスワードを</a:t>
            </a:r>
            <a:r>
              <a:rPr lang="en-US" altLang="ja-JP" sz="1400" dirty="0"/>
              <a:t>2</a:t>
            </a:r>
            <a:r>
              <a:rPr lang="ja-JP" altLang="en-US" sz="1400" dirty="0"/>
              <a:t>回入力し、「パスワードを設定する」ボタンを押します。</a:t>
            </a:r>
          </a:p>
          <a:p>
            <a:pPr>
              <a:buFont typeface="+mj-lt"/>
              <a:buAutoNum type="arabicPeriod"/>
            </a:pPr>
            <a:r>
              <a:rPr lang="ja-JP" altLang="en-US" sz="1400" b="1" dirty="0"/>
              <a:t>ログインページに戻る</a:t>
            </a:r>
            <a:endParaRPr lang="ja-JP" altLang="en-US" sz="1400" dirty="0"/>
          </a:p>
          <a:p>
            <a:pPr marL="742950" lvl="1" indent="-285750">
              <a:buFont typeface="+mj-lt"/>
              <a:buAutoNum type="arabicPeriod"/>
            </a:pPr>
            <a:r>
              <a:rPr lang="ja-JP" altLang="en-US" sz="1400" dirty="0"/>
              <a:t>自動的にログインページに移動し、「パスワードが正常に更新されました。」というメッセージが表示されます。</a:t>
            </a:r>
          </a:p>
          <a:p>
            <a:pPr marL="742950" lvl="1" indent="-285750">
              <a:buFont typeface="+mj-lt"/>
              <a:buAutoNum type="arabicPeriod"/>
            </a:pPr>
            <a:r>
              <a:rPr lang="ja-JP" altLang="en-US" sz="1400" dirty="0"/>
              <a:t>これで、先ほど設定した</a:t>
            </a:r>
            <a:r>
              <a:rPr lang="ja-JP" altLang="en-US" sz="1400" b="1" dirty="0"/>
              <a:t>新しいパスワード</a:t>
            </a:r>
            <a:r>
              <a:rPr lang="ja-JP" altLang="en-US" sz="1400" dirty="0"/>
              <a:t>でログインできるようになります。</a:t>
            </a:r>
          </a:p>
          <a:p>
            <a:pPr>
              <a:buNone/>
            </a:pPr>
            <a:br>
              <a:rPr lang="ja-JP" altLang="en-US" sz="1400" dirty="0"/>
            </a:br>
            <a:endParaRPr lang="ja-JP" altLang="en-US" sz="1400" dirty="0"/>
          </a:p>
        </p:txBody>
      </p:sp>
    </p:spTree>
    <p:extLst>
      <p:ext uri="{BB962C8B-B14F-4D97-AF65-F5344CB8AC3E}">
        <p14:creationId xmlns:p14="http://schemas.microsoft.com/office/powerpoint/2010/main" val="3346392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2F6C136B-3F64-FBB0-6D12-748549D8F8AE}"/>
              </a:ext>
            </a:extLst>
          </p:cNvPr>
          <p:cNvSpPr txBox="1"/>
          <p:nvPr/>
        </p:nvSpPr>
        <p:spPr>
          <a:xfrm>
            <a:off x="177248" y="1171168"/>
            <a:ext cx="11837504" cy="4678204"/>
          </a:xfrm>
          <a:prstGeom prst="rect">
            <a:avLst/>
          </a:prstGeom>
          <a:noFill/>
        </p:spPr>
        <p:txBody>
          <a:bodyPr wrap="square">
            <a:spAutoFit/>
          </a:bodyPr>
          <a:lstStyle/>
          <a:p>
            <a:pPr>
              <a:buNone/>
            </a:pPr>
            <a:r>
              <a:rPr lang="ja-JP" altLang="en-US" sz="1400" b="1" dirty="0"/>
              <a:t>② システム視点（裏側で何が起こっているか）</a:t>
            </a:r>
          </a:p>
          <a:p>
            <a:pPr>
              <a:buNone/>
            </a:pPr>
            <a:r>
              <a:rPr lang="ja-JP" altLang="en-US" sz="1400" dirty="0"/>
              <a:t>ユーザーの簡単な操作の裏で、システムはセキュリティを確保するために以下のような処理を正確に行っています。</a:t>
            </a:r>
          </a:p>
          <a:p>
            <a:pPr>
              <a:buNone/>
            </a:pPr>
            <a:r>
              <a:rPr lang="en-US" altLang="ja-JP" sz="1400" b="1" dirty="0"/>
              <a:t>【</a:t>
            </a:r>
            <a:r>
              <a:rPr lang="ja-JP" altLang="en-US" sz="1400" b="1" dirty="0"/>
              <a:t>再設定申請のフェーズ</a:t>
            </a:r>
            <a:r>
              <a:rPr lang="en-US" altLang="ja-JP" sz="1400" b="1" dirty="0"/>
              <a:t>】 (</a:t>
            </a:r>
            <a:r>
              <a:rPr lang="en-US" altLang="ja-JP" sz="1400" b="1" dirty="0" err="1"/>
              <a:t>reissue.php</a:t>
            </a:r>
            <a:r>
              <a:rPr lang="en-US" altLang="ja-JP" sz="1400" b="1" dirty="0"/>
              <a:t>)</a:t>
            </a:r>
            <a:endParaRPr lang="ja-JP" altLang="en-US" sz="1400" dirty="0"/>
          </a:p>
          <a:p>
            <a:pPr>
              <a:buFont typeface="+mj-lt"/>
              <a:buAutoNum type="arabicPeriod"/>
            </a:pPr>
            <a:r>
              <a:rPr lang="ja-JP" altLang="en-US" sz="1400" b="1" dirty="0"/>
              <a:t>リクエスト受信</a:t>
            </a:r>
            <a:endParaRPr lang="ja-JP" altLang="en-US" sz="1400" dirty="0"/>
          </a:p>
          <a:p>
            <a:pPr marL="742950" lvl="1" indent="-285750">
              <a:buFont typeface="+mj-lt"/>
              <a:buAutoNum type="arabicPeriod"/>
            </a:pPr>
            <a:r>
              <a:rPr lang="ja-JP" altLang="en-US" sz="1400" dirty="0"/>
              <a:t>ユーザーがメールアドレスを入力して送信すると、システムは </a:t>
            </a:r>
            <a:r>
              <a:rPr lang="en-US" altLang="ja-JP" sz="1400" dirty="0" err="1"/>
              <a:t>reissue.php</a:t>
            </a:r>
            <a:r>
              <a:rPr lang="en-US" altLang="ja-JP" sz="1400" dirty="0"/>
              <a:t> </a:t>
            </a:r>
            <a:r>
              <a:rPr lang="ja-JP" altLang="en-US" sz="1400" dirty="0"/>
              <a:t>でそのアドレスを受け取ります。</a:t>
            </a:r>
          </a:p>
          <a:p>
            <a:pPr>
              <a:buFont typeface="+mj-lt"/>
              <a:buAutoNum type="arabicPeriod"/>
            </a:pPr>
            <a:r>
              <a:rPr lang="ja-JP" altLang="en-US" sz="1400" b="1" dirty="0"/>
              <a:t>メールアドレスの検索</a:t>
            </a:r>
            <a:endParaRPr lang="ja-JP" altLang="en-US" sz="1400" dirty="0"/>
          </a:p>
          <a:p>
            <a:pPr marL="742950" lvl="1" indent="-285750">
              <a:buFont typeface="+mj-lt"/>
              <a:buAutoNum type="arabicPeriod"/>
            </a:pPr>
            <a:r>
              <a:rPr lang="en-US" altLang="ja-JP" sz="1400" dirty="0"/>
              <a:t>supervisors </a:t>
            </a:r>
            <a:r>
              <a:rPr lang="ja-JP" altLang="en-US" sz="1400" dirty="0"/>
              <a:t>データベースを検索し、入力されたメールアドレスを持つユーザーが存在するかどうかを確認します </a:t>
            </a:r>
            <a:r>
              <a:rPr lang="en-US" altLang="ja-JP" sz="1400" dirty="0"/>
              <a:t>(SELECT)</a:t>
            </a:r>
            <a:r>
              <a:rPr lang="ja-JP" altLang="en-US" sz="1400" dirty="0"/>
              <a:t>。</a:t>
            </a:r>
          </a:p>
          <a:p>
            <a:pPr>
              <a:buFont typeface="+mj-lt"/>
              <a:buAutoNum type="arabicPeriod"/>
            </a:pPr>
            <a:r>
              <a:rPr lang="ja-JP" altLang="en-US" sz="1400" b="1" dirty="0"/>
              <a:t>トークン生成（ここが重要）</a:t>
            </a:r>
            <a:endParaRPr lang="ja-JP" altLang="en-US" sz="1400" dirty="0"/>
          </a:p>
          <a:p>
            <a:pPr marL="742950" lvl="1" indent="-285750">
              <a:buFont typeface="+mj-lt"/>
              <a:buAutoNum type="arabicPeriod"/>
            </a:pPr>
            <a:r>
              <a:rPr lang="ja-JP" altLang="en-US" sz="1400" dirty="0"/>
              <a:t>もしユーザーが存在したら、</a:t>
            </a:r>
          </a:p>
          <a:p>
            <a:pPr marL="1143000" lvl="2" indent="-228600">
              <a:buFont typeface="+mj-lt"/>
              <a:buAutoNum type="arabicPeriod"/>
            </a:pPr>
            <a:r>
              <a:rPr lang="ja-JP" altLang="en-US" sz="1400" b="1" dirty="0"/>
              <a:t>ワンタイムトークン </a:t>
            </a:r>
            <a:r>
              <a:rPr lang="en-US" altLang="ja-JP" sz="1400" b="1" dirty="0"/>
              <a:t>(One-Time Token):</a:t>
            </a:r>
            <a:r>
              <a:rPr lang="ja-JP" altLang="en-US" sz="1400" dirty="0"/>
              <a:t> </a:t>
            </a:r>
            <a:r>
              <a:rPr lang="en-US" altLang="ja-JP" sz="1400" dirty="0"/>
              <a:t>bin2hex(</a:t>
            </a:r>
            <a:r>
              <a:rPr lang="en-US" altLang="ja-JP" sz="1400" dirty="0" err="1"/>
              <a:t>random_bytes</a:t>
            </a:r>
            <a:r>
              <a:rPr lang="en-US" altLang="ja-JP" sz="1400" dirty="0"/>
              <a:t>(32)) </a:t>
            </a:r>
            <a:r>
              <a:rPr lang="ja-JP" altLang="en-US" sz="1400" dirty="0"/>
              <a:t>を使い、暗号学的に安全で、推測不可能な非常に長いランダムな文字列（例</a:t>
            </a:r>
            <a:r>
              <a:rPr lang="en-US" altLang="ja-JP" sz="1400" dirty="0"/>
              <a:t>: a3f9...9b2c</a:t>
            </a:r>
            <a:r>
              <a:rPr lang="ja-JP" altLang="en-US" sz="1400" dirty="0"/>
              <a:t>）を生成します。これが「合言葉」の役割を果たします。</a:t>
            </a:r>
          </a:p>
          <a:p>
            <a:pPr marL="1143000" lvl="2" indent="-228600">
              <a:buFont typeface="+mj-lt"/>
              <a:buAutoNum type="arabicPeriod"/>
            </a:pPr>
            <a:r>
              <a:rPr lang="ja-JP" altLang="en-US" sz="1400" b="1" dirty="0"/>
              <a:t>有効期限の設定</a:t>
            </a:r>
            <a:r>
              <a:rPr lang="en-US" altLang="ja-JP" sz="1400" b="1" dirty="0"/>
              <a:t>:</a:t>
            </a:r>
            <a:r>
              <a:rPr lang="ja-JP" altLang="en-US" sz="1400" dirty="0"/>
              <a:t> このトークンが使える時間を「現在時刻から</a:t>
            </a:r>
            <a:r>
              <a:rPr lang="en-US" altLang="ja-JP" sz="1400" dirty="0"/>
              <a:t>30</a:t>
            </a:r>
            <a:r>
              <a:rPr lang="ja-JP" altLang="en-US" sz="1400" dirty="0"/>
              <a:t>分後」などに設定します。</a:t>
            </a:r>
          </a:p>
          <a:p>
            <a:pPr>
              <a:buFont typeface="+mj-lt"/>
              <a:buAutoNum type="arabicPeriod"/>
            </a:pPr>
            <a:r>
              <a:rPr lang="ja-JP" altLang="en-US" sz="1400" b="1" dirty="0"/>
              <a:t>トークンと有効期限を</a:t>
            </a:r>
            <a:r>
              <a:rPr lang="en-US" altLang="ja-JP" sz="1400" b="1" dirty="0"/>
              <a:t>DB</a:t>
            </a:r>
            <a:r>
              <a:rPr lang="ja-JP" altLang="en-US" sz="1400" b="1" dirty="0"/>
              <a:t>に保存</a:t>
            </a:r>
            <a:endParaRPr lang="ja-JP" altLang="en-US" sz="1400" dirty="0"/>
          </a:p>
          <a:p>
            <a:pPr marL="742950" lvl="1" indent="-285750">
              <a:buFont typeface="+mj-lt"/>
              <a:buAutoNum type="arabicPeriod"/>
            </a:pPr>
            <a:r>
              <a:rPr lang="ja-JP" altLang="en-US" sz="1400" dirty="0"/>
              <a:t>生成したトークンと有効期限を、該当ユーザーの </a:t>
            </a:r>
            <a:r>
              <a:rPr lang="en-US" altLang="ja-JP" sz="1400" dirty="0" err="1"/>
              <a:t>reset_token</a:t>
            </a:r>
            <a:r>
              <a:rPr lang="en-US" altLang="ja-JP" sz="1400" dirty="0"/>
              <a:t> </a:t>
            </a:r>
            <a:r>
              <a:rPr lang="ja-JP" altLang="en-US" sz="1400" dirty="0"/>
              <a:t>と </a:t>
            </a:r>
            <a:r>
              <a:rPr lang="en-US" altLang="ja-JP" sz="1400" dirty="0" err="1"/>
              <a:t>reset_expiry</a:t>
            </a:r>
            <a:r>
              <a:rPr lang="en-US" altLang="ja-JP" sz="1400" dirty="0"/>
              <a:t> </a:t>
            </a:r>
            <a:r>
              <a:rPr lang="ja-JP" altLang="en-US" sz="1400" dirty="0"/>
              <a:t>カラムに保存します </a:t>
            </a:r>
            <a:r>
              <a:rPr lang="en-US" altLang="ja-JP" sz="1400" dirty="0"/>
              <a:t>(UPDATE)</a:t>
            </a:r>
            <a:r>
              <a:rPr lang="ja-JP" altLang="en-US" sz="1400" dirty="0"/>
              <a:t>。</a:t>
            </a:r>
          </a:p>
          <a:p>
            <a:pPr>
              <a:buFont typeface="+mj-lt"/>
              <a:buAutoNum type="arabicPeriod"/>
            </a:pPr>
            <a:r>
              <a:rPr lang="ja-JP" altLang="en-US" sz="1400" b="1" dirty="0"/>
              <a:t>メール送信</a:t>
            </a:r>
            <a:endParaRPr lang="ja-JP" altLang="en-US" sz="1400" dirty="0"/>
          </a:p>
          <a:p>
            <a:pPr marL="742950" lvl="1" indent="-285750">
              <a:buFont typeface="+mj-lt"/>
              <a:buAutoNum type="arabicPeriod"/>
            </a:pPr>
            <a:r>
              <a:rPr lang="ja-JP" altLang="en-US" sz="1400" dirty="0"/>
              <a:t>ステップ</a:t>
            </a:r>
            <a:r>
              <a:rPr lang="en-US" altLang="ja-JP" sz="1400" dirty="0"/>
              <a:t>3</a:t>
            </a:r>
            <a:r>
              <a:rPr lang="ja-JP" altLang="en-US" sz="1400" dirty="0"/>
              <a:t>で生成したトークンを含んだ</a:t>
            </a:r>
            <a:r>
              <a:rPr lang="en-US" altLang="ja-JP" sz="1400" dirty="0"/>
              <a:t>URL (.../</a:t>
            </a:r>
            <a:r>
              <a:rPr lang="en-US" altLang="ja-JP" sz="1400" dirty="0" err="1"/>
              <a:t>sv</a:t>
            </a:r>
            <a:r>
              <a:rPr lang="en-US" altLang="ja-JP" sz="1400" dirty="0"/>
              <a:t>/</a:t>
            </a:r>
            <a:r>
              <a:rPr lang="en-US" altLang="ja-JP" sz="1400" dirty="0" err="1"/>
              <a:t>reset_password.php?token</a:t>
            </a:r>
            <a:r>
              <a:rPr lang="en-US" altLang="ja-JP" sz="1400" dirty="0"/>
              <a:t>=a3f9...) </a:t>
            </a:r>
            <a:r>
              <a:rPr lang="ja-JP" altLang="en-US" sz="1400" dirty="0"/>
              <a:t>を作成し、ユーザーのメールアドレス宛に送信します。</a:t>
            </a:r>
          </a:p>
          <a:p>
            <a:pPr>
              <a:buFont typeface="+mj-lt"/>
              <a:buAutoNum type="arabicPeriod"/>
            </a:pPr>
            <a:r>
              <a:rPr lang="ja-JP" altLang="en-US" sz="1400" b="1" dirty="0"/>
              <a:t>一貫した応答</a:t>
            </a:r>
            <a:endParaRPr lang="ja-JP" altLang="en-US" sz="1400" dirty="0"/>
          </a:p>
          <a:p>
            <a:pPr marL="742950" lvl="1" indent="-285750">
              <a:buFont typeface="+mj-lt"/>
              <a:buAutoNum type="arabicPeriod"/>
            </a:pPr>
            <a:r>
              <a:rPr lang="en-US" altLang="ja-JP" sz="1400" b="1" dirty="0"/>
              <a:t>【</a:t>
            </a:r>
            <a:r>
              <a:rPr lang="ja-JP" altLang="en-US" sz="1400" b="1" dirty="0"/>
              <a:t>セキュリティポイント</a:t>
            </a:r>
            <a:r>
              <a:rPr lang="en-US" altLang="ja-JP" sz="1400" b="1" dirty="0"/>
              <a:t>】</a:t>
            </a:r>
            <a:r>
              <a:rPr lang="ja-JP" altLang="en-US" sz="1400" dirty="0"/>
              <a:t> ユーザーが入力したメールアドレスが</a:t>
            </a:r>
            <a:r>
              <a:rPr lang="ja-JP" altLang="en-US" sz="1400" b="1" dirty="0"/>
              <a:t>存在しなかった場合でも</a:t>
            </a:r>
            <a:r>
              <a:rPr lang="ja-JP" altLang="en-US" sz="1400" dirty="0"/>
              <a:t>、システムは何も処理をせず、存在した場合と全く同じ「メールを送信しました」というメッセージを表示します。これにより、悪意のある第三者が「どのアドレスが登録されているか」を推測するのを防ぎます（メールアドレス列挙攻撃の対策）</a:t>
            </a:r>
            <a:r>
              <a:rPr lang="ja-JP" altLang="en-US" dirty="0"/>
              <a:t>。</a:t>
            </a:r>
          </a:p>
        </p:txBody>
      </p:sp>
    </p:spTree>
    <p:extLst>
      <p:ext uri="{BB962C8B-B14F-4D97-AF65-F5344CB8AC3E}">
        <p14:creationId xmlns:p14="http://schemas.microsoft.com/office/powerpoint/2010/main" val="288107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8AB8601-20B0-CAF3-AD12-D044F837D81A}"/>
              </a:ext>
            </a:extLst>
          </p:cNvPr>
          <p:cNvSpPr txBox="1"/>
          <p:nvPr/>
        </p:nvSpPr>
        <p:spPr>
          <a:xfrm>
            <a:off x="394252" y="1743099"/>
            <a:ext cx="11797748" cy="3754874"/>
          </a:xfrm>
          <a:prstGeom prst="rect">
            <a:avLst/>
          </a:prstGeom>
          <a:noFill/>
        </p:spPr>
        <p:txBody>
          <a:bodyPr wrap="square">
            <a:spAutoFit/>
          </a:bodyPr>
          <a:lstStyle/>
          <a:p>
            <a:pPr>
              <a:buNone/>
            </a:pPr>
            <a:r>
              <a:rPr lang="ja-JP" altLang="en-US" sz="1400" b="1" dirty="0"/>
              <a:t>パスワード更新のフェーズ</a:t>
            </a:r>
            <a:r>
              <a:rPr lang="en-US" altLang="ja-JP" sz="1400" b="1" dirty="0"/>
              <a:t>】 (</a:t>
            </a:r>
            <a:r>
              <a:rPr lang="en-US" altLang="ja-JP" sz="1400" b="1" dirty="0" err="1"/>
              <a:t>reset_password.php</a:t>
            </a:r>
            <a:r>
              <a:rPr lang="en-US" altLang="ja-JP" sz="1400" b="1" dirty="0"/>
              <a:t>)</a:t>
            </a:r>
            <a:endParaRPr lang="ja-JP" altLang="en-US" sz="1400" dirty="0"/>
          </a:p>
          <a:p>
            <a:pPr>
              <a:buFont typeface="+mj-lt"/>
              <a:buAutoNum type="arabicPeriod"/>
            </a:pPr>
            <a:r>
              <a:rPr lang="ja-JP" altLang="en-US" sz="1400" b="1" dirty="0"/>
              <a:t>トークンの検証</a:t>
            </a:r>
            <a:endParaRPr lang="ja-JP" altLang="en-US" sz="1400" dirty="0"/>
          </a:p>
          <a:p>
            <a:pPr marL="742950" lvl="1" indent="-285750">
              <a:buFont typeface="+mj-lt"/>
              <a:buAutoNum type="arabicPeriod"/>
            </a:pPr>
            <a:r>
              <a:rPr lang="ja-JP" altLang="en-US" sz="1400" dirty="0"/>
              <a:t>ユーザーがメールのリンクをクリックすると、システムは </a:t>
            </a:r>
            <a:r>
              <a:rPr lang="en-US" altLang="ja-JP" sz="1400" dirty="0" err="1"/>
              <a:t>reset_password.php</a:t>
            </a:r>
            <a:r>
              <a:rPr lang="en-US" altLang="ja-JP" sz="1400" dirty="0"/>
              <a:t> </a:t>
            </a:r>
            <a:r>
              <a:rPr lang="ja-JP" altLang="en-US" sz="1400" dirty="0"/>
              <a:t>で</a:t>
            </a:r>
            <a:r>
              <a:rPr lang="en-US" altLang="ja-JP" sz="1400" dirty="0"/>
              <a:t>URL</a:t>
            </a:r>
            <a:r>
              <a:rPr lang="ja-JP" altLang="en-US" sz="1400" dirty="0"/>
              <a:t>に含まれるトークン </a:t>
            </a:r>
            <a:r>
              <a:rPr lang="en-US" altLang="ja-JP" sz="1400" dirty="0"/>
              <a:t>($_GET['token']) </a:t>
            </a:r>
            <a:r>
              <a:rPr lang="ja-JP" altLang="en-US" sz="1400" dirty="0"/>
              <a:t>を受け取ります。</a:t>
            </a:r>
          </a:p>
          <a:p>
            <a:pPr marL="742950" lvl="1" indent="-285750">
              <a:buFont typeface="+mj-lt"/>
              <a:buAutoNum type="arabicPeriod"/>
            </a:pPr>
            <a:r>
              <a:rPr lang="en-US" altLang="ja-JP" sz="1400" dirty="0"/>
              <a:t>supervisors </a:t>
            </a:r>
            <a:r>
              <a:rPr lang="ja-JP" altLang="en-US" sz="1400" dirty="0"/>
              <a:t>データベースを検索し、「受け取ったトークンを持ち、かつ有効期限 </a:t>
            </a:r>
            <a:r>
              <a:rPr lang="en-US" altLang="ja-JP" sz="1400" dirty="0"/>
              <a:t>(</a:t>
            </a:r>
            <a:r>
              <a:rPr lang="en-US" altLang="ja-JP" sz="1400" dirty="0" err="1"/>
              <a:t>reset_expiry</a:t>
            </a:r>
            <a:r>
              <a:rPr lang="en-US" altLang="ja-JP" sz="1400" dirty="0"/>
              <a:t>) </a:t>
            </a:r>
            <a:r>
              <a:rPr lang="ja-JP" altLang="en-US" sz="1400" dirty="0"/>
              <a:t>が切れていない」ユーザーがいるかを確認します </a:t>
            </a:r>
            <a:r>
              <a:rPr lang="en-US" altLang="ja-JP" sz="1400" dirty="0"/>
              <a:t>(SELECT ... WHERE </a:t>
            </a:r>
            <a:r>
              <a:rPr lang="en-US" altLang="ja-JP" sz="1400" dirty="0" err="1"/>
              <a:t>reset_token</a:t>
            </a:r>
            <a:r>
              <a:rPr lang="en-US" altLang="ja-JP" sz="1400" dirty="0"/>
              <a:t> = ? AND </a:t>
            </a:r>
            <a:r>
              <a:rPr lang="en-US" altLang="ja-JP" sz="1400" dirty="0" err="1"/>
              <a:t>reset_expiry</a:t>
            </a:r>
            <a:r>
              <a:rPr lang="en-US" altLang="ja-JP" sz="1400" dirty="0"/>
              <a:t> &gt; NOW())</a:t>
            </a:r>
            <a:r>
              <a:rPr lang="ja-JP" altLang="en-US" sz="1400" dirty="0"/>
              <a:t>。</a:t>
            </a:r>
          </a:p>
          <a:p>
            <a:pPr>
              <a:buFont typeface="+mj-lt"/>
              <a:buAutoNum type="arabicPeriod"/>
            </a:pPr>
            <a:r>
              <a:rPr lang="ja-JP" altLang="en-US" sz="1400" b="1" dirty="0"/>
              <a:t>正当性の判断</a:t>
            </a:r>
            <a:endParaRPr lang="ja-JP" altLang="en-US" sz="1400" dirty="0"/>
          </a:p>
          <a:p>
            <a:pPr marL="742950" lvl="1" indent="-285750">
              <a:buFont typeface="+mj-lt"/>
              <a:buAutoNum type="arabicPeriod"/>
            </a:pPr>
            <a:r>
              <a:rPr lang="ja-JP" altLang="en-US" sz="1400" dirty="0"/>
              <a:t>ユーザーが見つかれば、正当なリクエストだと判断し、新しいパスワードの入力フォームを表示します。</a:t>
            </a:r>
          </a:p>
          <a:p>
            <a:pPr marL="742950" lvl="1" indent="-285750">
              <a:buFont typeface="+mj-lt"/>
              <a:buAutoNum type="arabicPeriod"/>
            </a:pPr>
            <a:r>
              <a:rPr lang="ja-JP" altLang="en-US" sz="1400" dirty="0"/>
              <a:t>見つからなければ（トークンが違う、期限切れ、使用済みなど）、エラーメッセージを表示します。</a:t>
            </a:r>
          </a:p>
          <a:p>
            <a:pPr>
              <a:buFont typeface="+mj-lt"/>
              <a:buAutoNum type="arabicPeriod"/>
            </a:pPr>
            <a:r>
              <a:rPr lang="ja-JP" altLang="en-US" sz="1400" b="1" dirty="0"/>
              <a:t>パスワードの更新とトークンの無効化</a:t>
            </a:r>
            <a:endParaRPr lang="ja-JP" altLang="en-US" sz="1400" dirty="0"/>
          </a:p>
          <a:p>
            <a:pPr marL="742950" lvl="1" indent="-285750">
              <a:buFont typeface="+mj-lt"/>
              <a:buAutoNum type="arabicPeriod"/>
            </a:pPr>
            <a:r>
              <a:rPr lang="ja-JP" altLang="en-US" sz="1400" dirty="0"/>
              <a:t>ユーザーが新しいパスワードを送信すると、システムは以下の処理を</a:t>
            </a:r>
            <a:r>
              <a:rPr lang="ja-JP" altLang="en-US" sz="1400" b="1" dirty="0"/>
              <a:t>同時に</a:t>
            </a:r>
            <a:r>
              <a:rPr lang="ja-JP" altLang="en-US" sz="1400" dirty="0"/>
              <a:t>行います。</a:t>
            </a:r>
          </a:p>
          <a:p>
            <a:pPr marL="1143000" lvl="2" indent="-228600">
              <a:buFont typeface="+mj-lt"/>
              <a:buAutoNum type="arabicPeriod"/>
            </a:pPr>
            <a:r>
              <a:rPr lang="ja-JP" altLang="en-US" sz="1400" dirty="0"/>
              <a:t>新しいパスワードを安全にハッシュ化 </a:t>
            </a:r>
            <a:r>
              <a:rPr lang="en-US" altLang="ja-JP" sz="1400" dirty="0"/>
              <a:t>(</a:t>
            </a:r>
            <a:r>
              <a:rPr lang="en-US" altLang="ja-JP" sz="1400" dirty="0" err="1"/>
              <a:t>password_hash</a:t>
            </a:r>
            <a:r>
              <a:rPr lang="en-US" altLang="ja-JP" sz="1400" dirty="0"/>
              <a:t>) </a:t>
            </a:r>
            <a:r>
              <a:rPr lang="ja-JP" altLang="en-US" sz="1400" dirty="0"/>
              <a:t>します。</a:t>
            </a:r>
          </a:p>
          <a:p>
            <a:pPr marL="1143000" lvl="2" indent="-228600">
              <a:buFont typeface="+mj-lt"/>
              <a:buAutoNum type="arabicPeriod"/>
            </a:pPr>
            <a:r>
              <a:rPr lang="ja-JP" altLang="en-US" sz="1400" dirty="0"/>
              <a:t>データベースの </a:t>
            </a:r>
            <a:r>
              <a:rPr lang="en-US" altLang="ja-JP" sz="1400" dirty="0"/>
              <a:t>password </a:t>
            </a:r>
            <a:r>
              <a:rPr lang="ja-JP" altLang="en-US" sz="1400" dirty="0"/>
              <a:t>カラムを新しいハッシュ値で更新します </a:t>
            </a:r>
            <a:r>
              <a:rPr lang="en-US" altLang="ja-JP" sz="1400" dirty="0"/>
              <a:t>(UPDATE)</a:t>
            </a:r>
            <a:r>
              <a:rPr lang="ja-JP" altLang="en-US" sz="1400" dirty="0"/>
              <a:t>。</a:t>
            </a:r>
          </a:p>
          <a:p>
            <a:pPr marL="1143000" lvl="2" indent="-228600">
              <a:buFont typeface="+mj-lt"/>
              <a:buAutoNum type="arabicPeriod"/>
            </a:pPr>
            <a:r>
              <a:rPr lang="en-US" altLang="ja-JP" sz="1400" b="1" dirty="0"/>
              <a:t>【</a:t>
            </a:r>
            <a:r>
              <a:rPr lang="ja-JP" altLang="en-US" sz="1400" b="1" dirty="0"/>
              <a:t>セキュリティポイント</a:t>
            </a:r>
            <a:r>
              <a:rPr lang="en-US" altLang="ja-JP" sz="1400" b="1" dirty="0"/>
              <a:t>】</a:t>
            </a:r>
            <a:r>
              <a:rPr lang="ja-JP" altLang="en-US" sz="1400" dirty="0"/>
              <a:t> 同時に </a:t>
            </a:r>
            <a:r>
              <a:rPr lang="en-US" altLang="ja-JP" sz="1400" dirty="0" err="1"/>
              <a:t>reset_token</a:t>
            </a:r>
            <a:r>
              <a:rPr lang="en-US" altLang="ja-JP" sz="1400" dirty="0"/>
              <a:t> </a:t>
            </a:r>
            <a:r>
              <a:rPr lang="ja-JP" altLang="en-US" sz="1400" dirty="0"/>
              <a:t>と </a:t>
            </a:r>
            <a:r>
              <a:rPr lang="en-US" altLang="ja-JP" sz="1400" dirty="0" err="1"/>
              <a:t>reset_expiry</a:t>
            </a:r>
            <a:r>
              <a:rPr lang="en-US" altLang="ja-JP" sz="1400" dirty="0"/>
              <a:t> </a:t>
            </a:r>
            <a:r>
              <a:rPr lang="ja-JP" altLang="en-US" sz="1400" dirty="0"/>
              <a:t>のカラムを </a:t>
            </a:r>
            <a:r>
              <a:rPr lang="en-US" altLang="ja-JP" sz="1400" dirty="0"/>
              <a:t>NULL (</a:t>
            </a:r>
            <a:r>
              <a:rPr lang="ja-JP" altLang="en-US" sz="1400" dirty="0"/>
              <a:t>空</a:t>
            </a:r>
            <a:r>
              <a:rPr lang="en-US" altLang="ja-JP" sz="1400" dirty="0"/>
              <a:t>) </a:t>
            </a:r>
            <a:r>
              <a:rPr lang="ja-JP" altLang="en-US" sz="1400" dirty="0"/>
              <a:t>にして、使用済みのトークンが二度と使えないように</a:t>
            </a:r>
            <a:r>
              <a:rPr lang="ja-JP" altLang="en-US" sz="1400" b="1" dirty="0"/>
              <a:t>無効化</a:t>
            </a:r>
            <a:r>
              <a:rPr lang="ja-JP" altLang="en-US" sz="1400" dirty="0"/>
              <a:t>します。</a:t>
            </a:r>
          </a:p>
          <a:p>
            <a:pPr>
              <a:buFont typeface="+mj-lt"/>
              <a:buAutoNum type="arabicPeriod"/>
            </a:pPr>
            <a:r>
              <a:rPr lang="ja-JP" altLang="en-US" sz="1400" b="1" dirty="0"/>
              <a:t>完了とリダイレクト</a:t>
            </a:r>
            <a:endParaRPr lang="ja-JP" altLang="en-US" sz="1400" dirty="0"/>
          </a:p>
          <a:p>
            <a:pPr marL="742950" lvl="1" indent="-285750">
              <a:buFont typeface="+mj-lt"/>
              <a:buAutoNum type="arabicPeriod"/>
            </a:pPr>
            <a:r>
              <a:rPr lang="ja-JP" altLang="en-US" sz="1400" dirty="0"/>
              <a:t>すべての処理が完了したら、ユーザーをログインページにリダイレクトさせ、成功メッセージを表示します</a:t>
            </a:r>
          </a:p>
        </p:txBody>
      </p:sp>
    </p:spTree>
    <p:extLst>
      <p:ext uri="{BB962C8B-B14F-4D97-AF65-F5344CB8AC3E}">
        <p14:creationId xmlns:p14="http://schemas.microsoft.com/office/powerpoint/2010/main" val="2293750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spPr>
      <a:bodyPr rtlCol="0" anchor="ctr"/>
      <a:lstStyle>
        <a:defPPr algn="ctr">
          <a:defRPr sz="10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885</Words>
  <Application>Microsoft Office PowerPoint</Application>
  <PresentationFormat>ワイド画面</PresentationFormat>
  <Paragraphs>73</Paragraphs>
  <Slides>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vt:i4>
      </vt:variant>
    </vt:vector>
  </HeadingPairs>
  <TitlesOfParts>
    <vt:vector size="9" baseType="lpstr">
      <vt:lpstr>游ゴシック</vt:lpstr>
      <vt:lpstr>游ゴシック Light</vt:lpstr>
      <vt:lpstr>Arial</vt:lpstr>
      <vt:lpstr>Office テーマ</vt:lpstr>
      <vt:lpstr>パスワード再発行の流れ</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takayuki matsunaga</dc:creator>
  <cp:lastModifiedBy>takayuki matsunaga</cp:lastModifiedBy>
  <cp:revision>1</cp:revision>
  <dcterms:created xsi:type="dcterms:W3CDTF">2026-01-19T10:58:20Z</dcterms:created>
  <dcterms:modified xsi:type="dcterms:W3CDTF">2026-01-19T11:17:07Z</dcterms:modified>
</cp:coreProperties>
</file>